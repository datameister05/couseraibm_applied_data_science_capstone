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6858000" cx="12192000"/>
  <p:notesSz cx="6858000" cy="9144000"/>
  <p:embeddedFontLst>
    <p:embeddedFont>
      <p:font typeface="IBM Plex Mono SemiBold"/>
      <p:regular r:id="rId53"/>
      <p:bold r:id="rId54"/>
      <p:italic r:id="rId55"/>
      <p:boldItalic r:id="rId56"/>
    </p:embeddedFont>
    <p:embeddedFont>
      <p:font typeface="Helvetica Neue"/>
      <p:regular r:id="rId57"/>
      <p:bold r:id="rId58"/>
      <p:italic r:id="rId59"/>
      <p:boldItalic r:id="rId60"/>
    </p:embeddedFont>
    <p:embeddedFont>
      <p:font typeface="IBM Plex Mono"/>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F50091-2232-4A56-A8EF-4E2A4E5F5A4D}">
  <a:tblStyle styleId="{78F50091-2232-4A56-A8EF-4E2A4E5F5A4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BMPlexMono-bold.fntdata"/><Relationship Id="rId61" Type="http://schemas.openxmlformats.org/officeDocument/2006/relationships/font" Target="fonts/IBMPlexMono-regular.fntdata"/><Relationship Id="rId20" Type="http://schemas.openxmlformats.org/officeDocument/2006/relationships/slide" Target="slides/slide15.xml"/><Relationship Id="rId64" Type="http://schemas.openxmlformats.org/officeDocument/2006/relationships/font" Target="fonts/IBMPlexMono-boldItalic.fntdata"/><Relationship Id="rId63" Type="http://schemas.openxmlformats.org/officeDocument/2006/relationships/font" Target="fonts/IBMPlexMon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HelveticaNeue-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IBMPlexMonoSemiBold-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IBMPlexMonoSemiBold-italic.fntdata"/><Relationship Id="rId10" Type="http://schemas.openxmlformats.org/officeDocument/2006/relationships/slide" Target="slides/slide5.xml"/><Relationship Id="rId54" Type="http://schemas.openxmlformats.org/officeDocument/2006/relationships/font" Target="fonts/IBMPlexMonoSemiBold-bold.fntdata"/><Relationship Id="rId13" Type="http://schemas.openxmlformats.org/officeDocument/2006/relationships/slide" Target="slides/slide8.xml"/><Relationship Id="rId57" Type="http://schemas.openxmlformats.org/officeDocument/2006/relationships/font" Target="fonts/HelveticaNeue-regular.fntdata"/><Relationship Id="rId12" Type="http://schemas.openxmlformats.org/officeDocument/2006/relationships/slide" Target="slides/slide7.xml"/><Relationship Id="rId56" Type="http://schemas.openxmlformats.org/officeDocument/2006/relationships/font" Target="fonts/IBMPlexMonoSemiBold-boldItalic.fntdata"/><Relationship Id="rId15" Type="http://schemas.openxmlformats.org/officeDocument/2006/relationships/slide" Target="slides/slide10.xml"/><Relationship Id="rId59" Type="http://schemas.openxmlformats.org/officeDocument/2006/relationships/font" Target="fonts/HelveticaNeue-italic.fntdata"/><Relationship Id="rId14" Type="http://schemas.openxmlformats.org/officeDocument/2006/relationships/slide" Target="slides/slide9.xml"/><Relationship Id="rId58" Type="http://schemas.openxmlformats.org/officeDocument/2006/relationships/font" Target="fonts/HelveticaNeue-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tx">
  <p:cSld name="TITLE_AND_BODY">
    <p:spTree>
      <p:nvGrpSpPr>
        <p:cNvPr id="9" name="Shape 9"/>
        <p:cNvGrpSpPr/>
        <p:nvPr/>
      </p:nvGrpSpPr>
      <p:grpSpPr>
        <a:xfrm>
          <a:off x="0" y="0"/>
          <a:ext cx="0" cy="0"/>
          <a:chOff x="0" y="0"/>
          <a:chExt cx="0" cy="0"/>
        </a:xfrm>
      </p:grpSpPr>
      <p:sp>
        <p:nvSpPr>
          <p:cNvPr id="10" name="Google Shape;10;p2"/>
          <p:cNvSpPr txBox="1"/>
          <p:nvPr>
            <p:ph type="title"/>
          </p:nvPr>
        </p:nvSpPr>
        <p:spPr>
          <a:xfrm>
            <a:off x="1524000" y="1122362"/>
            <a:ext cx="9144000" cy="238760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005493"/>
              </a:buClr>
              <a:buSzPts val="4800"/>
              <a:buFont typeface="IBM Plex Mono SemiBold"/>
              <a:buNone/>
              <a:defRPr sz="4800">
                <a:solidFill>
                  <a:srgbClr val="005493"/>
                </a:solidFill>
                <a:latin typeface="IBM Plex Mono SemiBold"/>
                <a:ea typeface="IBM Plex Mono SemiBold"/>
                <a:cs typeface="IBM Plex Mono SemiBold"/>
                <a:sym typeface="IBM Plex Mono SemiBold"/>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2"/>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 name="Shape 12"/>
        <p:cNvGrpSpPr/>
        <p:nvPr/>
      </p:nvGrpSpPr>
      <p:grpSpPr>
        <a:xfrm>
          <a:off x="0" y="0"/>
          <a:ext cx="0" cy="0"/>
          <a:chOff x="0" y="0"/>
          <a:chExt cx="0" cy="0"/>
        </a:xfrm>
      </p:grpSpPr>
      <p:sp>
        <p:nvSpPr>
          <p:cNvPr id="13" name="Google Shape;13;p3"/>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831850" y="1709738"/>
            <a:ext cx="10515600" cy="2852737"/>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6" name="Google Shape;16;p4"/>
          <p:cNvSpPr txBox="1"/>
          <p:nvPr>
            <p:ph idx="1" type="body"/>
          </p:nvPr>
        </p:nvSpPr>
        <p:spPr>
          <a:xfrm>
            <a:off x="831850" y="4589462"/>
            <a:ext cx="10515600" cy="15001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7" name="Google Shape;17;p4"/>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Vertical Title and Text">
  <p:cSld name="1_Vertical Title and Text">
    <p:spTree>
      <p:nvGrpSpPr>
        <p:cNvPr id="18" name="Shape 18"/>
        <p:cNvGrpSpPr/>
        <p:nvPr/>
      </p:nvGrpSpPr>
      <p:grpSpPr>
        <a:xfrm>
          <a:off x="0" y="0"/>
          <a:ext cx="0" cy="0"/>
          <a:chOff x="0" y="0"/>
          <a:chExt cx="0" cy="0"/>
        </a:xfrm>
      </p:grpSpPr>
      <p:sp>
        <p:nvSpPr>
          <p:cNvPr id="19" name="Google Shape;19;p5"/>
          <p:cNvSpPr txBox="1"/>
          <p:nvPr>
            <p:ph idx="1" type="body"/>
          </p:nvPr>
        </p:nvSpPr>
        <p:spPr>
          <a:xfrm rot="5400000">
            <a:off x="1799431" y="-596106"/>
            <a:ext cx="5811838" cy="77343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0" name="Google Shape;20;p5"/>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6"/>
          <p:cNvSpPr txBox="1"/>
          <p:nvPr>
            <p:ph type="title"/>
          </p:nvPr>
        </p:nvSpPr>
        <p:spPr>
          <a:xfrm>
            <a:off x="838200" y="365125"/>
            <a:ext cx="10515600" cy="1325563"/>
          </a:xfrm>
          <a:prstGeom prst="rect">
            <a:avLst/>
          </a:prstGeom>
          <a:noFill/>
          <a:ln>
            <a:noFill/>
          </a:ln>
        </p:spPr>
        <p:txBody>
          <a:bodyPr anchorCtr="0" anchor="t"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3" name="Google Shape;23;p6"/>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4" name="Google Shape;24;p6"/>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5" name="Shape 25"/>
        <p:cNvGrpSpPr/>
        <p:nvPr/>
      </p:nvGrpSpPr>
      <p:grpSpPr>
        <a:xfrm>
          <a:off x="0" y="0"/>
          <a:ext cx="0" cy="0"/>
          <a:chOff x="0" y="0"/>
          <a:chExt cx="0" cy="0"/>
        </a:xfrm>
      </p:grpSpPr>
      <p:sp>
        <p:nvSpPr>
          <p:cNvPr id="26" name="Google Shape;26;p7"/>
          <p:cNvSpPr txBox="1"/>
          <p:nvPr>
            <p:ph type="title"/>
          </p:nvPr>
        </p:nvSpPr>
        <p:spPr>
          <a:xfrm>
            <a:off x="838200" y="365125"/>
            <a:ext cx="10515600" cy="1325563"/>
          </a:xfrm>
          <a:prstGeom prst="rect">
            <a:avLst/>
          </a:prstGeom>
          <a:noFill/>
          <a:ln>
            <a:noFill/>
          </a:ln>
        </p:spPr>
        <p:txBody>
          <a:bodyPr anchorCtr="0" anchor="t"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7" name="Google Shape;27;p7"/>
          <p:cNvSpPr txBox="1"/>
          <p:nvPr>
            <p:ph idx="1" type="body"/>
          </p:nvPr>
        </p:nvSpPr>
        <p:spPr>
          <a:xfrm>
            <a:off x="838200" y="1825625"/>
            <a:ext cx="5181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8" name="Google Shape;28;p7"/>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9" name="Shape 29"/>
        <p:cNvGrpSpPr/>
        <p:nvPr/>
      </p:nvGrpSpPr>
      <p:grpSpPr>
        <a:xfrm>
          <a:off x="0" y="0"/>
          <a:ext cx="0" cy="0"/>
          <a:chOff x="0" y="0"/>
          <a:chExt cx="0" cy="0"/>
        </a:xfrm>
      </p:grpSpPr>
      <p:sp>
        <p:nvSpPr>
          <p:cNvPr id="30" name="Google Shape;30;p8"/>
          <p:cNvSpPr txBox="1"/>
          <p:nvPr>
            <p:ph type="title"/>
          </p:nvPr>
        </p:nvSpPr>
        <p:spPr>
          <a:xfrm>
            <a:off x="839787" y="365125"/>
            <a:ext cx="10515601" cy="1325563"/>
          </a:xfrm>
          <a:prstGeom prst="rect">
            <a:avLst/>
          </a:prstGeom>
          <a:noFill/>
          <a:ln>
            <a:noFill/>
          </a:ln>
        </p:spPr>
        <p:txBody>
          <a:bodyPr anchorCtr="0" anchor="t"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1" name="Google Shape;31;p8"/>
          <p:cNvSpPr txBox="1"/>
          <p:nvPr>
            <p:ph idx="1" type="body"/>
          </p:nvPr>
        </p:nvSpPr>
        <p:spPr>
          <a:xfrm>
            <a:off x="839787" y="1681163"/>
            <a:ext cx="5157789" cy="823913"/>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2" name="Google Shape;32;p8"/>
          <p:cNvSpPr txBox="1"/>
          <p:nvPr>
            <p:ph idx="2" type="body"/>
          </p:nvPr>
        </p:nvSpPr>
        <p:spPr>
          <a:xfrm>
            <a:off x="6172200" y="1681163"/>
            <a:ext cx="5183188" cy="823913"/>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3" name="Google Shape;33;p8"/>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 name="Shape 34"/>
        <p:cNvGrpSpPr/>
        <p:nvPr/>
      </p:nvGrpSpPr>
      <p:grpSpPr>
        <a:xfrm>
          <a:off x="0" y="0"/>
          <a:ext cx="0" cy="0"/>
          <a:chOff x="0" y="0"/>
          <a:chExt cx="0" cy="0"/>
        </a:xfrm>
      </p:grpSpPr>
      <p:sp>
        <p:nvSpPr>
          <p:cNvPr id="35" name="Google Shape;35;p9"/>
          <p:cNvSpPr txBox="1"/>
          <p:nvPr>
            <p:ph type="title"/>
          </p:nvPr>
        </p:nvSpPr>
        <p:spPr>
          <a:xfrm>
            <a:off x="838200" y="365125"/>
            <a:ext cx="10515600" cy="1325563"/>
          </a:xfrm>
          <a:prstGeom prst="rect">
            <a:avLst/>
          </a:prstGeom>
          <a:noFill/>
          <a:ln>
            <a:noFill/>
          </a:ln>
        </p:spPr>
        <p:txBody>
          <a:bodyPr anchorCtr="0" anchor="t"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6" name="Google Shape;36;p9"/>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7" name="Shape 37"/>
        <p:cNvGrpSpPr/>
        <p:nvPr/>
      </p:nvGrpSpPr>
      <p:grpSpPr>
        <a:xfrm>
          <a:off x="0" y="0"/>
          <a:ext cx="0" cy="0"/>
          <a:chOff x="0" y="0"/>
          <a:chExt cx="0" cy="0"/>
        </a:xfrm>
      </p:grpSpPr>
      <p:sp>
        <p:nvSpPr>
          <p:cNvPr id="38" name="Google Shape;38;p10"/>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9" name="Shape 39"/>
        <p:cNvGrpSpPr/>
        <p:nvPr/>
      </p:nvGrpSpPr>
      <p:grpSpPr>
        <a:xfrm>
          <a:off x="0" y="0"/>
          <a:ext cx="0" cy="0"/>
          <a:chOff x="0" y="0"/>
          <a:chExt cx="0" cy="0"/>
        </a:xfrm>
      </p:grpSpPr>
      <p:sp>
        <p:nvSpPr>
          <p:cNvPr id="40" name="Google Shape;40;p11"/>
          <p:cNvSpPr txBox="1"/>
          <p:nvPr>
            <p:ph type="title"/>
          </p:nvPr>
        </p:nvSpPr>
        <p:spPr>
          <a:xfrm>
            <a:off x="839787" y="457200"/>
            <a:ext cx="3932239"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1" name="Google Shape;41;p11"/>
          <p:cNvSpPr txBox="1"/>
          <p:nvPr>
            <p:ph idx="1" type="body"/>
          </p:nvPr>
        </p:nvSpPr>
        <p:spPr>
          <a:xfrm>
            <a:off x="5183187" y="987425"/>
            <a:ext cx="6172201" cy="4873625"/>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2" name="Google Shape;42;p11"/>
          <p:cNvSpPr txBox="1"/>
          <p:nvPr>
            <p:ph idx="2" type="body"/>
          </p:nvPr>
        </p:nvSpPr>
        <p:spPr>
          <a:xfrm>
            <a:off x="839787" y="2057400"/>
            <a:ext cx="3932238" cy="381158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3" name="Google Shape;43;p11"/>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4" name="Shape 44"/>
        <p:cNvGrpSpPr/>
        <p:nvPr/>
      </p:nvGrpSpPr>
      <p:grpSpPr>
        <a:xfrm>
          <a:off x="0" y="0"/>
          <a:ext cx="0" cy="0"/>
          <a:chOff x="0" y="0"/>
          <a:chExt cx="0" cy="0"/>
        </a:xfrm>
      </p:grpSpPr>
      <p:sp>
        <p:nvSpPr>
          <p:cNvPr id="45" name="Google Shape;45;p12"/>
          <p:cNvSpPr txBox="1"/>
          <p:nvPr>
            <p:ph type="title"/>
          </p:nvPr>
        </p:nvSpPr>
        <p:spPr>
          <a:xfrm>
            <a:off x="839787" y="457200"/>
            <a:ext cx="3932239"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6" name="Google Shape;46;p12"/>
          <p:cNvSpPr/>
          <p:nvPr>
            <p:ph idx="2" type="pic"/>
          </p:nvPr>
        </p:nvSpPr>
        <p:spPr>
          <a:xfrm>
            <a:off x="5183187" y="987425"/>
            <a:ext cx="6172201" cy="4873625"/>
          </a:xfrm>
          <a:prstGeom prst="rect">
            <a:avLst/>
          </a:prstGeom>
          <a:noFill/>
          <a:ln>
            <a:noFill/>
          </a:ln>
        </p:spPr>
      </p:sp>
      <p:sp>
        <p:nvSpPr>
          <p:cNvPr id="47" name="Google Shape;47;p12"/>
          <p:cNvSpPr txBox="1"/>
          <p:nvPr>
            <p:ph idx="1" type="body"/>
          </p:nvPr>
        </p:nvSpPr>
        <p:spPr>
          <a:xfrm>
            <a:off x="839787" y="2057400"/>
            <a:ext cx="3932239" cy="38115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8" name="Google Shape;48;p12"/>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49" name="Shape 49"/>
        <p:cNvGrpSpPr/>
        <p:nvPr/>
      </p:nvGrpSpPr>
      <p:grpSpPr>
        <a:xfrm>
          <a:off x="0" y="0"/>
          <a:ext cx="0" cy="0"/>
          <a:chOff x="0" y="0"/>
          <a:chExt cx="0" cy="0"/>
        </a:xfrm>
      </p:grpSpPr>
      <p:sp>
        <p:nvSpPr>
          <p:cNvPr id="50" name="Google Shape;50;p13"/>
          <p:cNvSpPr txBox="1"/>
          <p:nvPr>
            <p:ph type="title"/>
          </p:nvPr>
        </p:nvSpPr>
        <p:spPr>
          <a:xfrm>
            <a:off x="838200" y="365125"/>
            <a:ext cx="10515600" cy="1325563"/>
          </a:xfrm>
          <a:prstGeom prst="rect">
            <a:avLst/>
          </a:prstGeom>
          <a:noFill/>
          <a:ln>
            <a:noFill/>
          </a:ln>
        </p:spPr>
        <p:txBody>
          <a:bodyPr anchorCtr="0" anchor="t"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1" name="Google Shape;51;p13"/>
          <p:cNvSpPr txBox="1"/>
          <p:nvPr>
            <p:ph idx="1" type="body"/>
          </p:nvPr>
        </p:nvSpPr>
        <p:spPr>
          <a:xfrm rot="5400000">
            <a:off x="3920331" y="-1256506"/>
            <a:ext cx="4351338" cy="105156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52" name="Google Shape;52;p13"/>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53" name="Shape 53"/>
        <p:cNvGrpSpPr/>
        <p:nvPr/>
      </p:nvGrpSpPr>
      <p:grpSpPr>
        <a:xfrm>
          <a:off x="0" y="0"/>
          <a:ext cx="0" cy="0"/>
          <a:chOff x="0" y="0"/>
          <a:chExt cx="0" cy="0"/>
        </a:xfrm>
      </p:grpSpPr>
      <p:sp>
        <p:nvSpPr>
          <p:cNvPr id="54" name="Google Shape;54;p14"/>
          <p:cNvSpPr txBox="1"/>
          <p:nvPr>
            <p:ph type="title"/>
          </p:nvPr>
        </p:nvSpPr>
        <p:spPr>
          <a:xfrm rot="5400000">
            <a:off x="7133431" y="1956594"/>
            <a:ext cx="5811838" cy="2628900"/>
          </a:xfrm>
          <a:prstGeom prst="rect">
            <a:avLst/>
          </a:prstGeom>
          <a:noFill/>
          <a:ln>
            <a:noFill/>
          </a:ln>
        </p:spPr>
        <p:txBody>
          <a:bodyPr anchorCtr="0" anchor="t"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5" name="Google Shape;55;p14"/>
          <p:cNvSpPr txBox="1"/>
          <p:nvPr>
            <p:ph idx="1" type="body"/>
          </p:nvPr>
        </p:nvSpPr>
        <p:spPr>
          <a:xfrm rot="5400000">
            <a:off x="1799431" y="-596106"/>
            <a:ext cx="5811838" cy="77343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56" name="Google Shape;56;p14"/>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1pPr>
            <a:lvl2pPr indent="0" lvl="1"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2pPr>
            <a:lvl3pPr indent="0" lvl="2"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3pPr>
            <a:lvl4pPr indent="0" lvl="3"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4pPr>
            <a:lvl5pPr indent="0" lvl="4"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5pPr>
            <a:lvl6pPr indent="0" lvl="5"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6pPr>
            <a:lvl7pPr indent="0" lvl="6"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7pPr>
            <a:lvl8pPr indent="0" lvl="7"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8pPr>
            <a:lvl9pPr indent="0" lvl="8" marL="0" algn="r">
              <a:lnSpc>
                <a:spcPct val="100000"/>
              </a:lnSpc>
              <a:spcBef>
                <a:spcPts val="0"/>
              </a:spcBef>
              <a:spcAft>
                <a:spcPts val="0"/>
              </a:spcAft>
              <a:buClr>
                <a:srgbClr val="1C7DDB"/>
              </a:buClr>
              <a:buSzPts val="1600"/>
              <a:buFont typeface="Arial"/>
              <a:buNone/>
              <a:defRPr sz="1600">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09600" y="92074"/>
            <a:ext cx="10972800" cy="1508126"/>
          </a:xfrm>
          <a:prstGeom prst="rect">
            <a:avLst/>
          </a:prstGeom>
          <a:noFill/>
          <a:ln>
            <a:noFill/>
          </a:ln>
        </p:spPr>
        <p:txBody>
          <a:bodyPr anchorCtr="0" anchor="ctr" bIns="45700" lIns="45700" spcFirstLastPara="1" rIns="45700" wrap="square" tIns="45700">
            <a:noAutofit/>
          </a:bodyPr>
          <a:lstStyle>
            <a:lvl1pPr lvl="0"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1"/>
          <p:cNvSpPr txBox="1"/>
          <p:nvPr>
            <p:ph idx="1" type="body"/>
          </p:nvPr>
        </p:nvSpPr>
        <p:spPr>
          <a:xfrm>
            <a:off x="609600" y="1600200"/>
            <a:ext cx="10972800" cy="5257800"/>
          </a:xfrm>
          <a:prstGeom prst="rect">
            <a:avLst/>
          </a:prstGeom>
          <a:noFill/>
          <a:ln>
            <a:noFill/>
          </a:ln>
        </p:spPr>
        <p:txBody>
          <a:bodyPr anchorCtr="0" anchor="t" bIns="45700" lIns="45700" spcFirstLastPara="1" rIns="45700" wrap="square" tIns="45700">
            <a:no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9pPr>
          </a:lstStyle>
          <a:p/>
        </p:txBody>
      </p:sp>
      <p:sp>
        <p:nvSpPr>
          <p:cNvPr id="8" name="Google Shape;8;p1"/>
          <p:cNvSpPr txBox="1"/>
          <p:nvPr>
            <p:ph idx="12"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1C7DDB"/>
              </a:buClr>
              <a:buSzPts val="1600"/>
              <a:buFont typeface="Arial"/>
              <a:buNone/>
              <a:defRPr b="0" i="0" sz="1600" u="none" cap="none" strike="noStrike">
                <a:solidFill>
                  <a:srgbClr val="1C7DDB"/>
                </a:solidFill>
                <a:latin typeface="Arial"/>
                <a:ea typeface="Arial"/>
                <a:cs typeface="Arial"/>
                <a:sym typeface="Arial"/>
              </a:defRPr>
            </a:lvl1pPr>
            <a:lvl2pPr indent="0" lvl="1" marL="0" marR="0" rtl="0" algn="r">
              <a:lnSpc>
                <a:spcPct val="100000"/>
              </a:lnSpc>
              <a:spcBef>
                <a:spcPts val="0"/>
              </a:spcBef>
              <a:spcAft>
                <a:spcPts val="0"/>
              </a:spcAft>
              <a:buClr>
                <a:srgbClr val="1C7DDB"/>
              </a:buClr>
              <a:buSzPts val="1600"/>
              <a:buFont typeface="Arial"/>
              <a:buNone/>
              <a:defRPr b="0" i="0" sz="1600" u="none" cap="none" strike="noStrike">
                <a:solidFill>
                  <a:srgbClr val="1C7DDB"/>
                </a:solidFill>
                <a:latin typeface="Arial"/>
                <a:ea typeface="Arial"/>
                <a:cs typeface="Arial"/>
                <a:sym typeface="Arial"/>
              </a:defRPr>
            </a:lvl2pPr>
            <a:lvl3pPr indent="0" lvl="2" marL="0" marR="0" rtl="0" algn="r">
              <a:lnSpc>
                <a:spcPct val="100000"/>
              </a:lnSpc>
              <a:spcBef>
                <a:spcPts val="0"/>
              </a:spcBef>
              <a:spcAft>
                <a:spcPts val="0"/>
              </a:spcAft>
              <a:buClr>
                <a:srgbClr val="1C7DDB"/>
              </a:buClr>
              <a:buSzPts val="1600"/>
              <a:buFont typeface="Arial"/>
              <a:buNone/>
              <a:defRPr b="0" i="0" sz="1600" u="none" cap="none" strike="noStrike">
                <a:solidFill>
                  <a:srgbClr val="1C7DDB"/>
                </a:solidFill>
                <a:latin typeface="Arial"/>
                <a:ea typeface="Arial"/>
                <a:cs typeface="Arial"/>
                <a:sym typeface="Arial"/>
              </a:defRPr>
            </a:lvl3pPr>
            <a:lvl4pPr indent="0" lvl="3" marL="0" marR="0" rtl="0" algn="r">
              <a:lnSpc>
                <a:spcPct val="100000"/>
              </a:lnSpc>
              <a:spcBef>
                <a:spcPts val="0"/>
              </a:spcBef>
              <a:spcAft>
                <a:spcPts val="0"/>
              </a:spcAft>
              <a:buClr>
                <a:srgbClr val="1C7DDB"/>
              </a:buClr>
              <a:buSzPts val="1600"/>
              <a:buFont typeface="Arial"/>
              <a:buNone/>
              <a:defRPr b="0" i="0" sz="1600" u="none" cap="none" strike="noStrike">
                <a:solidFill>
                  <a:srgbClr val="1C7DDB"/>
                </a:solidFill>
                <a:latin typeface="Arial"/>
                <a:ea typeface="Arial"/>
                <a:cs typeface="Arial"/>
                <a:sym typeface="Arial"/>
              </a:defRPr>
            </a:lvl4pPr>
            <a:lvl5pPr indent="0" lvl="4" marL="0" marR="0" rtl="0" algn="r">
              <a:lnSpc>
                <a:spcPct val="100000"/>
              </a:lnSpc>
              <a:spcBef>
                <a:spcPts val="0"/>
              </a:spcBef>
              <a:spcAft>
                <a:spcPts val="0"/>
              </a:spcAft>
              <a:buClr>
                <a:srgbClr val="1C7DDB"/>
              </a:buClr>
              <a:buSzPts val="1600"/>
              <a:buFont typeface="Arial"/>
              <a:buNone/>
              <a:defRPr b="0" i="0" sz="1600" u="none" cap="none" strike="noStrike">
                <a:solidFill>
                  <a:srgbClr val="1C7DDB"/>
                </a:solidFill>
                <a:latin typeface="Arial"/>
                <a:ea typeface="Arial"/>
                <a:cs typeface="Arial"/>
                <a:sym typeface="Arial"/>
              </a:defRPr>
            </a:lvl5pPr>
            <a:lvl6pPr indent="0" lvl="5" marL="0" marR="0" rtl="0" algn="r">
              <a:lnSpc>
                <a:spcPct val="100000"/>
              </a:lnSpc>
              <a:spcBef>
                <a:spcPts val="0"/>
              </a:spcBef>
              <a:spcAft>
                <a:spcPts val="0"/>
              </a:spcAft>
              <a:buClr>
                <a:srgbClr val="1C7DDB"/>
              </a:buClr>
              <a:buSzPts val="1600"/>
              <a:buFont typeface="Arial"/>
              <a:buNone/>
              <a:defRPr b="0" i="0" sz="1600" u="none" cap="none" strike="noStrike">
                <a:solidFill>
                  <a:srgbClr val="1C7DDB"/>
                </a:solidFill>
                <a:latin typeface="Arial"/>
                <a:ea typeface="Arial"/>
                <a:cs typeface="Arial"/>
                <a:sym typeface="Arial"/>
              </a:defRPr>
            </a:lvl6pPr>
            <a:lvl7pPr indent="0" lvl="6" marL="0" marR="0" rtl="0" algn="r">
              <a:lnSpc>
                <a:spcPct val="100000"/>
              </a:lnSpc>
              <a:spcBef>
                <a:spcPts val="0"/>
              </a:spcBef>
              <a:spcAft>
                <a:spcPts val="0"/>
              </a:spcAft>
              <a:buClr>
                <a:srgbClr val="1C7DDB"/>
              </a:buClr>
              <a:buSzPts val="1600"/>
              <a:buFont typeface="Arial"/>
              <a:buNone/>
              <a:defRPr b="0" i="0" sz="1600" u="none" cap="none" strike="noStrike">
                <a:solidFill>
                  <a:srgbClr val="1C7DDB"/>
                </a:solidFill>
                <a:latin typeface="Arial"/>
                <a:ea typeface="Arial"/>
                <a:cs typeface="Arial"/>
                <a:sym typeface="Arial"/>
              </a:defRPr>
            </a:lvl7pPr>
            <a:lvl8pPr indent="0" lvl="7" marL="0" marR="0" rtl="0" algn="r">
              <a:lnSpc>
                <a:spcPct val="100000"/>
              </a:lnSpc>
              <a:spcBef>
                <a:spcPts val="0"/>
              </a:spcBef>
              <a:spcAft>
                <a:spcPts val="0"/>
              </a:spcAft>
              <a:buClr>
                <a:srgbClr val="1C7DDB"/>
              </a:buClr>
              <a:buSzPts val="1600"/>
              <a:buFont typeface="Arial"/>
              <a:buNone/>
              <a:defRPr b="0" i="0" sz="1600" u="none" cap="none" strike="noStrike">
                <a:solidFill>
                  <a:srgbClr val="1C7DDB"/>
                </a:solidFill>
                <a:latin typeface="Arial"/>
                <a:ea typeface="Arial"/>
                <a:cs typeface="Arial"/>
                <a:sym typeface="Arial"/>
              </a:defRPr>
            </a:lvl8pPr>
            <a:lvl9pPr indent="0" lvl="8" marL="0" marR="0" rtl="0" algn="r">
              <a:lnSpc>
                <a:spcPct val="100000"/>
              </a:lnSpc>
              <a:spcBef>
                <a:spcPts val="0"/>
              </a:spcBef>
              <a:spcAft>
                <a:spcPts val="0"/>
              </a:spcAft>
              <a:buClr>
                <a:srgbClr val="1C7DDB"/>
              </a:buClr>
              <a:buSzPts val="1600"/>
              <a:buFont typeface="Arial"/>
              <a:buNone/>
              <a:defRPr b="0" i="0" sz="1600" u="none" cap="none" strike="noStrike">
                <a:solidFill>
                  <a:srgbClr val="1C7DDB"/>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hyperlink" Target="http://api.spacexdata.com/v4/" TargetMode="External"/><Relationship Id="rId5" Type="http://schemas.openxmlformats.org/officeDocument/2006/relationships/hyperlink" Target="http://api.spacexdata.com/v4/" TargetMode="External"/><Relationship Id="rId6" Type="http://schemas.openxmlformats.org/officeDocument/2006/relationships/hyperlink" Target="http://api.spacexdata.com/v4/" TargetMode="External"/><Relationship Id="rId7" Type="http://schemas.openxmlformats.org/officeDocument/2006/relationships/hyperlink" Target="https://en.wikipedia.org/w/index.php?title=List_of_Falcon_9_and_Falcon_Heavy_launches&amp;oldid=102768692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hyperlink" Target="https://github.com/DataMeister05/CouseraIBM_Applied_Data_Science_Capstone" TargetMode="External"/><Relationship Id="rId5" Type="http://schemas.openxmlformats.org/officeDocument/2006/relationships/hyperlink" Target="https://api.spacexdata.com/v4/launches/past" TargetMode="External"/><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hyperlink" Target="https://github.com/DataMeister05?tab=repositori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hyperlink" Target="https://github.com/DataMeister05?tab=repositorie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hyperlink" Target="https://github.com/DataMeister05?tab=repositorie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hyperlink" Target="https://github.com/DataMeister05?tab=repositorie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hyperlink" Target="https://github.com/DataMeister05/CouseraIBM_Applied_Data_Science_Capstone/blob/main/spacex-dash-app.p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hyperlink" Target="https://github.com/DataMeister05/CouseraIBM_Applied_Data_Science_Capstone/blob/main/labs-jupyter-spacex-Data%20wrangling.ipynb"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pn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2.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png"/><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png"/><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png"/><Relationship Id="rId4"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png"/><Relationship Id="rId4" Type="http://schemas.openxmlformats.org/officeDocument/2006/relationships/hyperlink" Target="https://docs.spacexdata.com/" TargetMode="External"/><Relationship Id="rId9" Type="http://schemas.openxmlformats.org/officeDocument/2006/relationships/hyperlink" Target="https://cf-courses-data.s3.us.cloud-object-storage.appdomain.cloud/IBM-DS0321EN-SkillsNetwork/datasets/dataset_part_2.csv" TargetMode="External"/><Relationship Id="rId5" Type="http://schemas.openxmlformats.org/officeDocument/2006/relationships/hyperlink" Target="https://cf-courses-data.s3.us.cloud-object-storage.appdomain.cloud/IBM-DS0321EN-SkillsNetwork/datasets/dataset_part_1.csv%22" TargetMode="External"/><Relationship Id="rId6" Type="http://schemas.openxmlformats.org/officeDocument/2006/relationships/hyperlink" Target="https://en.wikipedia.org/w/index.php?title=List_of_Falcon_9_and_Falcon_Heavy_launches&amp;oldid=1027686922" TargetMode="External"/><Relationship Id="rId7" Type="http://schemas.openxmlformats.org/officeDocument/2006/relationships/hyperlink" Target="https://cf-courses-data.s3.us.cloud-object-storage.appdomain.cloud/IBM-DS0321EN-SkillsNetwork/datasets/dataset_part_2.csv" TargetMode="External"/><Relationship Id="rId8" Type="http://schemas.openxmlformats.org/officeDocument/2006/relationships/hyperlink" Target="https://cf-courses-data.s3.us.cloud-object-storage.appdomain.cloud/IBM-DS0321EN-SkillsNetwork/datasets/spacex_launch_geo.csv"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 name="Shape 60"/>
        <p:cNvGrpSpPr/>
        <p:nvPr/>
      </p:nvGrpSpPr>
      <p:grpSpPr>
        <a:xfrm>
          <a:off x="0" y="0"/>
          <a:ext cx="0" cy="0"/>
          <a:chOff x="0" y="0"/>
          <a:chExt cx="0" cy="0"/>
        </a:xfrm>
      </p:grpSpPr>
      <p:sp>
        <p:nvSpPr>
          <p:cNvPr id="61" name="Google Shape;61;p15"/>
          <p:cNvSpPr txBox="1"/>
          <p:nvPr/>
        </p:nvSpPr>
        <p:spPr>
          <a:xfrm>
            <a:off x="934265" y="4568733"/>
            <a:ext cx="2423100" cy="6465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E7E6E6"/>
              </a:buClr>
              <a:buSzPts val="1800"/>
              <a:buFont typeface="Arial"/>
              <a:buNone/>
            </a:pPr>
            <a:r>
              <a:rPr b="0" i="0" lang="en-US" sz="1800" u="none" cap="none" strike="noStrike">
                <a:solidFill>
                  <a:srgbClr val="E7E6E6"/>
                </a:solidFill>
                <a:latin typeface="Arial"/>
                <a:ea typeface="Arial"/>
                <a:cs typeface="Arial"/>
                <a:sym typeface="Arial"/>
              </a:rPr>
              <a:t>Monika Pathak</a:t>
            </a:r>
            <a:endParaRPr/>
          </a:p>
          <a:p>
            <a:pPr indent="0" lvl="0" marL="0" marR="0" rtl="0" algn="l">
              <a:lnSpc>
                <a:spcPct val="100000"/>
              </a:lnSpc>
              <a:spcBef>
                <a:spcPts val="0"/>
              </a:spcBef>
              <a:spcAft>
                <a:spcPts val="0"/>
              </a:spcAft>
              <a:buClr>
                <a:srgbClr val="E7E6E6"/>
              </a:buClr>
              <a:buSzPts val="1800"/>
              <a:buFont typeface="Arial"/>
              <a:buNone/>
            </a:pPr>
            <a:r>
              <a:rPr lang="en-US" sz="1800">
                <a:solidFill>
                  <a:srgbClr val="E7E6E6"/>
                </a:solidFill>
              </a:rPr>
              <a:t>6</a:t>
            </a:r>
            <a:r>
              <a:rPr b="0" i="0" lang="en-US" sz="1800" u="none" cap="none" strike="noStrike">
                <a:solidFill>
                  <a:srgbClr val="E7E6E6"/>
                </a:solidFill>
                <a:latin typeface="Arial"/>
                <a:ea typeface="Arial"/>
                <a:cs typeface="Arial"/>
                <a:sym typeface="Arial"/>
              </a:rPr>
              <a:t>/</a:t>
            </a:r>
            <a:r>
              <a:rPr lang="en-US" sz="1800">
                <a:solidFill>
                  <a:srgbClr val="E7E6E6"/>
                </a:solidFill>
              </a:rPr>
              <a:t>08</a:t>
            </a:r>
            <a:r>
              <a:rPr b="0" i="0" lang="en-US" sz="1800" u="none" cap="none" strike="noStrike">
                <a:solidFill>
                  <a:srgbClr val="E7E6E6"/>
                </a:solidFill>
                <a:latin typeface="Arial"/>
                <a:ea typeface="Arial"/>
                <a:cs typeface="Arial"/>
                <a:sym typeface="Arial"/>
              </a:rPr>
              <a:t>/2026</a:t>
            </a:r>
            <a:endParaRPr/>
          </a:p>
        </p:txBody>
      </p:sp>
      <p:pic>
        <p:nvPicPr>
          <p:cNvPr descr="Picture 2" id="62" name="Google Shape;62;p15"/>
          <p:cNvPicPr preferRelativeResize="0"/>
          <p:nvPr/>
        </p:nvPicPr>
        <p:blipFill rotWithShape="1">
          <a:blip r:embed="rId4">
            <a:alphaModFix/>
          </a:blip>
          <a:srcRect b="0" l="0" r="0" t="0"/>
          <a:stretch/>
        </p:blipFill>
        <p:spPr>
          <a:xfrm>
            <a:off x="889820" y="676828"/>
            <a:ext cx="2104103" cy="62918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id="67" name="Google Shape;67;p16"/>
          <p:cNvSpPr txBox="1"/>
          <p:nvPr>
            <p:ph idx="4294967295" type="sldNum"/>
          </p:nvPr>
        </p:nvSpPr>
        <p:spPr>
          <a:xfrm>
            <a:off x="11240821" y="6060022"/>
            <a:ext cx="217151" cy="332741"/>
          </a:xfrm>
          <a:prstGeom prst="rect">
            <a:avLst/>
          </a:prstGeom>
          <a:noFill/>
          <a:ln>
            <a:noFill/>
          </a:ln>
        </p:spPr>
        <p:txBody>
          <a:bodyPr anchorCtr="0" anchor="ctr" bIns="45700" lIns="45700" spcFirstLastPara="1" rIns="45700" wrap="square" tIns="45700">
            <a:norm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68" name="Google Shape;68;p16"/>
          <p:cNvSpPr txBox="1"/>
          <p:nvPr/>
        </p:nvSpPr>
        <p:spPr>
          <a:xfrm>
            <a:off x="1004425" y="1502227"/>
            <a:ext cx="5075700" cy="3931800"/>
          </a:xfrm>
          <a:prstGeom prst="rect">
            <a:avLst/>
          </a:prstGeom>
          <a:noFill/>
          <a:ln>
            <a:noFill/>
          </a:ln>
        </p:spPr>
        <p:txBody>
          <a:bodyPr anchorCtr="0" anchor="t" bIns="45700" lIns="45700" spcFirstLastPara="1" rIns="45700"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Executive Summary</a:t>
            </a:r>
            <a:endParaRPr b="0" i="0" sz="2800" u="none" cap="none" strike="noStrike">
              <a:solidFill>
                <a:srgbClr val="0070C0"/>
              </a:solidFill>
              <a:latin typeface="IBM Plex Mono"/>
              <a:ea typeface="IBM Plex Mono"/>
              <a:cs typeface="IBM Plex Mono"/>
              <a:sym typeface="IBM Plex Mono"/>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Introduction</a:t>
            </a:r>
            <a:endParaRPr b="0" i="0" sz="2800" u="none" cap="none" strike="noStrike">
              <a:solidFill>
                <a:srgbClr val="0070C0"/>
              </a:solidFill>
              <a:latin typeface="IBM Plex Mono"/>
              <a:ea typeface="IBM Plex Mono"/>
              <a:cs typeface="IBM Plex Mono"/>
              <a:sym typeface="IBM Plex Mono"/>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Methodology</a:t>
            </a:r>
            <a:endParaRPr b="0" i="0" sz="2800" u="none" cap="none" strike="noStrike">
              <a:solidFill>
                <a:srgbClr val="0070C0"/>
              </a:solidFill>
              <a:latin typeface="IBM Plex Mono"/>
              <a:ea typeface="IBM Plex Mono"/>
              <a:cs typeface="IBM Plex Mono"/>
              <a:sym typeface="IBM Plex Mono"/>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Results</a:t>
            </a:r>
            <a:endParaRPr b="0" i="0" sz="2800" u="none" cap="none" strike="noStrike">
              <a:solidFill>
                <a:srgbClr val="0070C0"/>
              </a:solidFill>
              <a:latin typeface="IBM Plex Mono"/>
              <a:ea typeface="IBM Plex Mono"/>
              <a:cs typeface="IBM Plex Mono"/>
              <a:sym typeface="IBM Plex Mono"/>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Conclusion</a:t>
            </a:r>
            <a:endParaRPr b="0" i="0" sz="2800" u="none" cap="none" strike="noStrike">
              <a:solidFill>
                <a:srgbClr val="0070C0"/>
              </a:solidFill>
              <a:latin typeface="IBM Plex Mono"/>
              <a:ea typeface="IBM Plex Mono"/>
              <a:cs typeface="IBM Plex Mono"/>
              <a:sym typeface="IBM Plex Mono"/>
            </a:endParaRPr>
          </a:p>
          <a:p>
            <a:pPr indent="-228600" lvl="0" marL="228600" marR="0" rtl="0" algn="l">
              <a:lnSpc>
                <a:spcPct val="100000"/>
              </a:lnSpc>
              <a:spcBef>
                <a:spcPts val="140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Appendix</a:t>
            </a:r>
            <a:endParaRPr/>
          </a:p>
        </p:txBody>
      </p:sp>
      <p:sp>
        <p:nvSpPr>
          <p:cNvPr id="69" name="Google Shape;69;p16"/>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Outline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 name="Shape 73"/>
        <p:cNvGrpSpPr/>
        <p:nvPr/>
      </p:nvGrpSpPr>
      <p:grpSpPr>
        <a:xfrm>
          <a:off x="0" y="0"/>
          <a:ext cx="0" cy="0"/>
          <a:chOff x="0" y="0"/>
          <a:chExt cx="0" cy="0"/>
        </a:xfrm>
      </p:grpSpPr>
      <p:sp>
        <p:nvSpPr>
          <p:cNvPr id="74" name="Google Shape;74;p17"/>
          <p:cNvSpPr txBox="1"/>
          <p:nvPr>
            <p:ph idx="4294967295" type="sldNum"/>
          </p:nvPr>
        </p:nvSpPr>
        <p:spPr>
          <a:xfrm>
            <a:off x="11240821" y="6060022"/>
            <a:ext cx="217151" cy="332741"/>
          </a:xfrm>
          <a:prstGeom prst="rect">
            <a:avLst/>
          </a:prstGeom>
          <a:noFill/>
          <a:ln>
            <a:noFill/>
          </a:ln>
        </p:spPr>
        <p:txBody>
          <a:bodyPr anchorCtr="0" anchor="ctr" bIns="45700" lIns="45700" spcFirstLastPara="1" rIns="45700" wrap="square" tIns="45700">
            <a:normAutofit/>
          </a:bodyPr>
          <a:lstStyle/>
          <a:p>
            <a:pPr indent="0" lvl="0" marL="0" marR="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75" name="Google Shape;75;p17"/>
          <p:cNvSpPr txBox="1"/>
          <p:nvPr/>
        </p:nvSpPr>
        <p:spPr>
          <a:xfrm>
            <a:off x="794555" y="2046689"/>
            <a:ext cx="3926449" cy="549050"/>
          </a:xfrm>
          <a:prstGeom prst="rect">
            <a:avLst/>
          </a:prstGeom>
          <a:noFill/>
          <a:ln>
            <a:noFill/>
          </a:ln>
        </p:spPr>
        <p:txBody>
          <a:bodyPr anchorCtr="0" anchor="t" bIns="45700" lIns="45700" spcFirstLastPara="1" rIns="45700" wrap="square" tIns="45700">
            <a:normAutofit/>
          </a:bodyPr>
          <a:lstStyle/>
          <a:p>
            <a:pPr indent="0" lvl="0" marL="0" marR="0" rtl="0" algn="l">
              <a:lnSpc>
                <a:spcPct val="100000"/>
              </a:lnSpc>
              <a:spcBef>
                <a:spcPts val="0"/>
              </a:spcBef>
              <a:spcAft>
                <a:spcPts val="0"/>
              </a:spcAft>
              <a:buClr>
                <a:srgbClr val="292929"/>
              </a:buClr>
              <a:buSzPts val="2400"/>
              <a:buFont typeface="Arial"/>
              <a:buNone/>
            </a:pPr>
            <a:r>
              <a:rPr b="0" i="0" lang="en-US" sz="2400" u="none" cap="none" strike="noStrike">
                <a:solidFill>
                  <a:srgbClr val="292929"/>
                </a:solidFill>
                <a:latin typeface="Arial"/>
                <a:ea typeface="Arial"/>
                <a:cs typeface="Arial"/>
                <a:sym typeface="Arial"/>
              </a:rPr>
              <a:t>Summary of methodologies</a:t>
            </a:r>
            <a:endParaRPr/>
          </a:p>
        </p:txBody>
      </p:sp>
      <p:sp>
        <p:nvSpPr>
          <p:cNvPr id="76" name="Google Shape;76;p17"/>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Executive Summary</a:t>
            </a:r>
            <a:endParaRPr/>
          </a:p>
        </p:txBody>
      </p:sp>
      <p:sp>
        <p:nvSpPr>
          <p:cNvPr id="77" name="Google Shape;77;p17"/>
          <p:cNvSpPr txBox="1"/>
          <p:nvPr/>
        </p:nvSpPr>
        <p:spPr>
          <a:xfrm>
            <a:off x="700386" y="1313005"/>
            <a:ext cx="11986431" cy="650115"/>
          </a:xfrm>
          <a:prstGeom prst="rect">
            <a:avLst/>
          </a:prstGeom>
          <a:noFill/>
          <a:ln>
            <a:noFill/>
          </a:ln>
        </p:spPr>
        <p:txBody>
          <a:bodyPr anchorCtr="0" anchor="t" bIns="25400" lIns="25400" spcFirstLastPara="1" rIns="25400" wrap="square" tIns="25400">
            <a:normAutofit/>
          </a:bodyPr>
          <a:lstStyle/>
          <a:p>
            <a:pPr indent="0" lvl="0" marL="0" marR="150240" rtl="0" algn="l">
              <a:lnSpc>
                <a:spcPct val="90000"/>
              </a:lnSpc>
              <a:spcBef>
                <a:spcPts val="0"/>
              </a:spcBef>
              <a:spcAft>
                <a:spcPts val="0"/>
              </a:spcAft>
              <a:buClr>
                <a:srgbClr val="000000"/>
              </a:buClr>
              <a:buSzPts val="2184"/>
              <a:buFont typeface="Calibri"/>
              <a:buNone/>
            </a:pPr>
            <a:r>
              <a:rPr b="0" i="0" lang="en-US" sz="2184" u="none" cap="none" strike="noStrike">
                <a:solidFill>
                  <a:srgbClr val="000000"/>
                </a:solidFill>
                <a:latin typeface="Calibri"/>
                <a:ea typeface="Calibri"/>
                <a:cs typeface="Calibri"/>
                <a:sym typeface="Calibri"/>
              </a:rPr>
              <a:t>The commercial space age is here, for that reason our company Space Y was born. Space Y wants to make the space travels affordable for everyone.</a:t>
            </a:r>
            <a:endParaRPr/>
          </a:p>
        </p:txBody>
      </p:sp>
      <p:sp>
        <p:nvSpPr>
          <p:cNvPr id="78" name="Google Shape;78;p17"/>
          <p:cNvSpPr txBox="1"/>
          <p:nvPr/>
        </p:nvSpPr>
        <p:spPr>
          <a:xfrm>
            <a:off x="676148" y="2486822"/>
            <a:ext cx="4588523" cy="2646274"/>
          </a:xfrm>
          <a:prstGeom prst="rect">
            <a:avLst/>
          </a:prstGeom>
          <a:noFill/>
          <a:ln>
            <a:noFill/>
          </a:ln>
        </p:spPr>
        <p:txBody>
          <a:bodyPr anchorCtr="0" anchor="t" bIns="45700" lIns="45700" spcFirstLastPara="1" rIns="45700" wrap="square" tIns="45700">
            <a:spAutoFit/>
          </a:bodyPr>
          <a:lstStyle/>
          <a:p>
            <a:pPr indent="-180473" lvl="0" marL="180473"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Data Collection from API </a:t>
            </a:r>
            <a:endParaRPr/>
          </a:p>
          <a:p>
            <a:pPr indent="-180473" lvl="0" marL="180473"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Data Collection from Web scrapping</a:t>
            </a:r>
            <a:endParaRPr/>
          </a:p>
          <a:p>
            <a:pPr indent="-180473" lvl="0" marL="180473"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Data Wrangling</a:t>
            </a:r>
            <a:endParaRPr/>
          </a:p>
          <a:p>
            <a:pPr indent="-180473" lvl="0" marL="180473"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Exploratory Data Analysis(EDA) using SQL, Pandas and Matplotlib.</a:t>
            </a:r>
            <a:endParaRPr/>
          </a:p>
          <a:p>
            <a:pPr indent="-180473" lvl="0" marL="180473"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Interactive Visual Analytics and Dashboard with Folium </a:t>
            </a:r>
            <a:endParaRPr/>
          </a:p>
          <a:p>
            <a:pPr indent="-180473" lvl="0" marL="180473"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Interactive Dashboard with Plotly Dash</a:t>
            </a:r>
            <a:endParaRPr/>
          </a:p>
          <a:p>
            <a:pPr indent="-180473" lvl="0" marL="180473"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Machine Learning Prediction.</a:t>
            </a:r>
            <a:endParaRPr/>
          </a:p>
          <a:p>
            <a:pPr indent="0" lvl="0" marL="0" marR="0" rtl="0" algn="l">
              <a:lnSpc>
                <a:spcPct val="200000"/>
              </a:lnSpc>
              <a:spcBef>
                <a:spcPts val="0"/>
              </a:spcBef>
              <a:spcAft>
                <a:spcPts val="0"/>
              </a:spcAft>
              <a:buClr>
                <a:srgbClr val="000000"/>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79" name="Google Shape;79;p17"/>
          <p:cNvSpPr txBox="1"/>
          <p:nvPr/>
        </p:nvSpPr>
        <p:spPr>
          <a:xfrm>
            <a:off x="6105588" y="2018628"/>
            <a:ext cx="2729469" cy="45974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Summary of results</a:t>
            </a:r>
            <a:endParaRPr/>
          </a:p>
        </p:txBody>
      </p:sp>
      <p:sp>
        <p:nvSpPr>
          <p:cNvPr id="80" name="Google Shape;80;p17"/>
          <p:cNvSpPr txBox="1"/>
          <p:nvPr/>
        </p:nvSpPr>
        <p:spPr>
          <a:xfrm>
            <a:off x="6129826" y="2436922"/>
            <a:ext cx="5156327" cy="2937630"/>
          </a:xfrm>
          <a:prstGeom prst="rect">
            <a:avLst/>
          </a:prstGeom>
          <a:noFill/>
          <a:ln>
            <a:noFill/>
          </a:ln>
        </p:spPr>
        <p:txBody>
          <a:bodyPr anchorCtr="0" anchor="t" bIns="45700" lIns="45700" spcFirstLastPara="1" rIns="45700" wrap="square" tIns="45700">
            <a:spAutoFit/>
          </a:bodyPr>
          <a:lstStyle/>
          <a:p>
            <a:pPr indent="-120315" lvl="0" marL="120315"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Success Rate over Time: An improvement in success rate was observed over time.</a:t>
            </a:r>
            <a:endParaRPr/>
          </a:p>
          <a:p>
            <a:pPr indent="-120315" lvl="0" marL="120315"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Success Rate by Launch Site: KSC LC-39A shows the highest success rate of all launch sites.</a:t>
            </a:r>
            <a:endParaRPr/>
          </a:p>
          <a:p>
            <a:pPr indent="-120315" lvl="0" marL="120315"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Success Rate by Orbit: ES-L1, SSO, HEO and GCO  were observed to have the highest success rate.</a:t>
            </a:r>
            <a:endParaRPr/>
          </a:p>
          <a:p>
            <a:pPr indent="-120315" lvl="0" marL="120315"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Payload: Heavier payloads have a high failure rate early on with significant improvement over time.</a:t>
            </a:r>
            <a:endParaRPr/>
          </a:p>
          <a:p>
            <a:pPr indent="-120315" lvl="0" marL="120315" marR="0" rtl="0" algn="l">
              <a:lnSpc>
                <a:spcPct val="150000"/>
              </a:lnSpc>
              <a:spcBef>
                <a:spcPts val="0"/>
              </a:spcBef>
              <a:spcAft>
                <a:spcPts val="0"/>
              </a:spcAft>
              <a:buClr>
                <a:srgbClr val="000000"/>
              </a:buClr>
              <a:buSzPts val="1200"/>
              <a:buFont typeface="Calibri"/>
              <a:buChar char="•"/>
            </a:pPr>
            <a:r>
              <a:rPr b="0" i="0" lang="en-US" sz="1200" u="none" cap="none" strike="noStrike">
                <a:solidFill>
                  <a:srgbClr val="000000"/>
                </a:solidFill>
                <a:latin typeface="Calibri"/>
                <a:ea typeface="Calibri"/>
                <a:cs typeface="Calibri"/>
                <a:sym typeface="Calibri"/>
              </a:rPr>
              <a:t>Predictive Analysis: The Decision Tree Classifier algorithm has proven highly accurate in predicting landing outcomes.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sp>
        <p:nvSpPr>
          <p:cNvPr id="85" name="Google Shape;85;p18"/>
          <p:cNvSpPr txBox="1"/>
          <p:nvPr>
            <p:ph idx="4294967295" type="sldNum"/>
          </p:nvPr>
        </p:nvSpPr>
        <p:spPr>
          <a:xfrm>
            <a:off x="11240821" y="6060022"/>
            <a:ext cx="217151" cy="332741"/>
          </a:xfrm>
          <a:prstGeom prst="rect">
            <a:avLst/>
          </a:prstGeom>
          <a:noFill/>
          <a:ln>
            <a:noFill/>
          </a:ln>
        </p:spPr>
        <p:txBody>
          <a:bodyPr anchorCtr="0" anchor="ctr" bIns="45700" lIns="45700" spcFirstLastPara="1" rIns="45700" wrap="square" tIns="45700">
            <a:normAutofit/>
          </a:bodyPr>
          <a:lstStyle/>
          <a:p>
            <a:pPr indent="0" lvl="0" marL="0" marR="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86" name="Google Shape;86;p18"/>
          <p:cNvSpPr txBox="1"/>
          <p:nvPr/>
        </p:nvSpPr>
        <p:spPr>
          <a:xfrm>
            <a:off x="873788" y="538650"/>
            <a:ext cx="10438674"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Introduction</a:t>
            </a:r>
            <a:endParaRPr/>
          </a:p>
        </p:txBody>
      </p:sp>
      <p:sp>
        <p:nvSpPr>
          <p:cNvPr id="87" name="Google Shape;87;p18"/>
          <p:cNvSpPr txBox="1"/>
          <p:nvPr/>
        </p:nvSpPr>
        <p:spPr>
          <a:xfrm>
            <a:off x="883224" y="1333713"/>
            <a:ext cx="10425553" cy="1935508"/>
          </a:xfrm>
          <a:prstGeom prst="rect">
            <a:avLst/>
          </a:prstGeom>
          <a:noFill/>
          <a:ln>
            <a:noFill/>
          </a:ln>
        </p:spPr>
        <p:txBody>
          <a:bodyPr anchorCtr="0" anchor="t" bIns="45700" lIns="45700" spcFirstLastPara="1" rIns="45700" wrap="square" tIns="45700">
            <a:normAutofit/>
          </a:bodyPr>
          <a:lstStyle/>
          <a:p>
            <a:pPr indent="-137561" lvl="0" marL="137561" marR="0" rtl="0" algn="l">
              <a:lnSpc>
                <a:spcPct val="90000"/>
              </a:lnSpc>
              <a:spcBef>
                <a:spcPts val="0"/>
              </a:spcBef>
              <a:spcAft>
                <a:spcPts val="0"/>
              </a:spcAft>
              <a:buClr>
                <a:srgbClr val="292929"/>
              </a:buClr>
              <a:buSzPts val="1568"/>
              <a:buFont typeface="Arial"/>
              <a:buChar char="•"/>
            </a:pPr>
            <a:r>
              <a:rPr b="0" i="0" lang="en-US" sz="1568" u="none" cap="none" strike="noStrike">
                <a:solidFill>
                  <a:srgbClr val="292929"/>
                </a:solidFill>
                <a:latin typeface="Arial"/>
                <a:ea typeface="Arial"/>
                <a:cs typeface="Arial"/>
                <a:sym typeface="Arial"/>
              </a:rPr>
              <a:t>The objective is to evaluate the viability of the new company Space Y to compete with Space Y to compete with Space X.</a:t>
            </a:r>
            <a:endParaRPr/>
          </a:p>
          <a:p>
            <a:pPr indent="-157212" lvl="0" marL="157212" marR="0" rtl="0" algn="l">
              <a:lnSpc>
                <a:spcPct val="90000"/>
              </a:lnSpc>
              <a:spcBef>
                <a:spcPts val="1300"/>
              </a:spcBef>
              <a:spcAft>
                <a:spcPts val="0"/>
              </a:spcAft>
              <a:buClr>
                <a:srgbClr val="292929"/>
              </a:buClr>
              <a:buSzPts val="1568"/>
              <a:buFont typeface="Arial"/>
              <a:buChar char="•"/>
            </a:pPr>
            <a:r>
              <a:rPr b="0" i="0" lang="en-US" sz="1568" u="none" cap="none" strike="noStrike">
                <a:solidFill>
                  <a:srgbClr val="292929"/>
                </a:solidFill>
                <a:latin typeface="Arial"/>
                <a:ea typeface="Arial"/>
                <a:cs typeface="Arial"/>
                <a:sym typeface="Arial"/>
              </a:rPr>
              <a:t>Desirable answers:</a:t>
            </a:r>
            <a:endParaRPr/>
          </a:p>
          <a:p>
            <a:pPr indent="-117909" lvl="2" marL="864669" marR="0" rtl="0" algn="l">
              <a:lnSpc>
                <a:spcPct val="90000"/>
              </a:lnSpc>
              <a:spcBef>
                <a:spcPts val="1300"/>
              </a:spcBef>
              <a:spcAft>
                <a:spcPts val="0"/>
              </a:spcAft>
              <a:buClr>
                <a:srgbClr val="292929"/>
              </a:buClr>
              <a:buSzPts val="1176"/>
              <a:buFont typeface="Arial"/>
              <a:buChar char="•"/>
            </a:pPr>
            <a:r>
              <a:rPr b="0" i="0" lang="en-US" sz="1176" u="none" cap="none" strike="noStrike">
                <a:solidFill>
                  <a:srgbClr val="292929"/>
                </a:solidFill>
                <a:latin typeface="Arial"/>
                <a:ea typeface="Arial"/>
                <a:cs typeface="Arial"/>
                <a:sym typeface="Arial"/>
              </a:rPr>
              <a:t>The best way to estimate  the total cost for launches, by predicting successful landings of the first of rockets;</a:t>
            </a:r>
            <a:endParaRPr/>
          </a:p>
          <a:p>
            <a:pPr indent="-117909" lvl="2" marL="864669" marR="0" rtl="0" algn="l">
              <a:lnSpc>
                <a:spcPct val="90000"/>
              </a:lnSpc>
              <a:spcBef>
                <a:spcPts val="1300"/>
              </a:spcBef>
              <a:spcAft>
                <a:spcPts val="0"/>
              </a:spcAft>
              <a:buClr>
                <a:srgbClr val="292929"/>
              </a:buClr>
              <a:buSzPts val="1176"/>
              <a:buFont typeface="Arial"/>
              <a:buChar char="•"/>
            </a:pPr>
            <a:r>
              <a:rPr b="0" i="0" lang="en-US" sz="1176" u="none" cap="none" strike="noStrike">
                <a:solidFill>
                  <a:srgbClr val="292929"/>
                </a:solidFill>
                <a:latin typeface="Arial"/>
                <a:ea typeface="Arial"/>
                <a:cs typeface="Arial"/>
                <a:sym typeface="Arial"/>
              </a:rPr>
              <a:t>Where is the best place to make launches.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19"/>
          <p:cNvSpPr txBox="1"/>
          <p:nvPr>
            <p:ph idx="4294967295" type="sldNum"/>
          </p:nvPr>
        </p:nvSpPr>
        <p:spPr>
          <a:xfrm>
            <a:off x="11974849" y="6372542"/>
            <a:ext cx="217152"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93" name="Google Shape;93;p19"/>
          <p:cNvSpPr txBox="1"/>
          <p:nvPr/>
        </p:nvSpPr>
        <p:spPr>
          <a:xfrm>
            <a:off x="765312" y="2812774"/>
            <a:ext cx="956815" cy="333088"/>
          </a:xfrm>
          <a:prstGeom prst="rect">
            <a:avLst/>
          </a:prstGeom>
          <a:solidFill>
            <a:srgbClr val="0948CB"/>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Section 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 name="Shape 97"/>
        <p:cNvGrpSpPr/>
        <p:nvPr/>
      </p:nvGrpSpPr>
      <p:grpSpPr>
        <a:xfrm>
          <a:off x="0" y="0"/>
          <a:ext cx="0" cy="0"/>
          <a:chOff x="0" y="0"/>
          <a:chExt cx="0" cy="0"/>
        </a:xfrm>
      </p:grpSpPr>
      <p:sp>
        <p:nvSpPr>
          <p:cNvPr id="98" name="Google Shape;98;p20"/>
          <p:cNvSpPr txBox="1"/>
          <p:nvPr>
            <p:ph idx="4294967295" type="sldNum"/>
          </p:nvPr>
        </p:nvSpPr>
        <p:spPr>
          <a:xfrm>
            <a:off x="11240821" y="6060022"/>
            <a:ext cx="21715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99" name="Google Shape;99;p20"/>
          <p:cNvSpPr txBox="1"/>
          <p:nvPr/>
        </p:nvSpPr>
        <p:spPr>
          <a:xfrm>
            <a:off x="867750" y="1371600"/>
            <a:ext cx="10166700" cy="5189100"/>
          </a:xfrm>
          <a:prstGeom prst="rect">
            <a:avLst/>
          </a:prstGeom>
          <a:noFill/>
          <a:ln>
            <a:noFill/>
          </a:ln>
        </p:spPr>
        <p:txBody>
          <a:bodyPr anchorCtr="0" anchor="t" bIns="45700" lIns="45700" spcFirstLastPara="1" rIns="45700" wrap="square" tIns="45700">
            <a:normAutofit/>
          </a:bodyPr>
          <a:lstStyle/>
          <a:p>
            <a:pPr indent="0" lvl="0" marL="0" marR="0" rtl="0" algn="l">
              <a:lnSpc>
                <a:spcPct val="96000"/>
              </a:lnSpc>
              <a:spcBef>
                <a:spcPts val="0"/>
              </a:spcBef>
              <a:spcAft>
                <a:spcPts val="0"/>
              </a:spcAft>
              <a:buClr>
                <a:srgbClr val="0B49CB"/>
              </a:buClr>
              <a:buSzPts val="968"/>
              <a:buFont typeface="Arial"/>
              <a:buNone/>
            </a:pPr>
            <a:r>
              <a:rPr b="0" i="0" lang="en-US" sz="1200" u="none" cap="none" strike="noStrike">
                <a:solidFill>
                  <a:srgbClr val="0B49CB"/>
                </a:solidFill>
                <a:latin typeface="Arial"/>
                <a:ea typeface="Arial"/>
                <a:cs typeface="Arial"/>
                <a:sym typeface="Arial"/>
              </a:rPr>
              <a:t>Executive Summary</a:t>
            </a:r>
            <a:endParaRPr b="0" i="0" sz="1200" u="none" cap="none" strike="noStrike">
              <a:solidFill>
                <a:srgbClr val="0070C0"/>
              </a:solidFill>
              <a:latin typeface="IBM Plex Mono"/>
              <a:ea typeface="IBM Plex Mono"/>
              <a:cs typeface="IBM Plex Mono"/>
              <a:sym typeface="IBM Plex Mono"/>
            </a:endParaRPr>
          </a:p>
          <a:p>
            <a:pPr indent="-115316" lvl="0" marL="100584" marR="0" rtl="0" algn="l">
              <a:lnSpc>
                <a:spcPct val="96000"/>
              </a:lnSpc>
              <a:spcBef>
                <a:spcPts val="600"/>
              </a:spcBef>
              <a:spcAft>
                <a:spcPts val="0"/>
              </a:spcAft>
              <a:buClr>
                <a:srgbClr val="292929"/>
              </a:buClr>
              <a:buSzPts val="1200"/>
              <a:buFont typeface="Arial"/>
              <a:buChar char="•"/>
            </a:pPr>
            <a:r>
              <a:rPr b="0" i="0" lang="en-US" sz="1200" u="none" cap="none" strike="noStrike">
                <a:solidFill>
                  <a:srgbClr val="292929"/>
                </a:solidFill>
                <a:latin typeface="Arial"/>
                <a:ea typeface="Arial"/>
                <a:cs typeface="Arial"/>
                <a:sym typeface="Arial"/>
              </a:rPr>
              <a:t>Data collection methodology:</a:t>
            </a:r>
            <a:endParaRPr sz="1200"/>
          </a:p>
          <a:p>
            <a:pPr indent="-111062" lvl="1" marL="301752" marR="0" rtl="0" algn="l">
              <a:lnSpc>
                <a:spcPct val="96000"/>
              </a:lnSpc>
              <a:spcBef>
                <a:spcPts val="600"/>
              </a:spcBef>
              <a:spcAft>
                <a:spcPts val="0"/>
              </a:spcAft>
              <a:buClr>
                <a:srgbClr val="212121"/>
              </a:buClr>
              <a:buSzPts val="1000"/>
              <a:buFont typeface="Arial"/>
              <a:buChar char="•"/>
            </a:pPr>
            <a:r>
              <a:rPr b="0" i="0" lang="en-US" sz="1000" u="none" cap="none" strike="noStrike">
                <a:solidFill>
                  <a:srgbClr val="212121"/>
                </a:solidFill>
                <a:latin typeface="Arial"/>
                <a:ea typeface="Arial"/>
                <a:cs typeface="Arial"/>
                <a:sym typeface="Arial"/>
              </a:rPr>
              <a:t>Data from SpaceX was obtained from two sources:</a:t>
            </a:r>
            <a:endParaRPr sz="1000">
              <a:solidFill>
                <a:srgbClr val="212121"/>
              </a:solidFill>
            </a:endParaRPr>
          </a:p>
          <a:p>
            <a:pPr indent="-94297" lvl="2" marL="419100" marR="0" rtl="0" algn="l">
              <a:lnSpc>
                <a:spcPct val="96000"/>
              </a:lnSpc>
              <a:spcBef>
                <a:spcPts val="600"/>
              </a:spcBef>
              <a:spcAft>
                <a:spcPts val="0"/>
              </a:spcAft>
              <a:buClr>
                <a:srgbClr val="212121"/>
              </a:buClr>
              <a:buSzPts val="1000"/>
              <a:buFont typeface="Arial"/>
              <a:buChar char="•"/>
            </a:pPr>
            <a:r>
              <a:rPr b="0" i="0" lang="en-US" sz="1000" u="none" cap="none" strike="noStrike">
                <a:solidFill>
                  <a:srgbClr val="212121"/>
                </a:solidFill>
                <a:latin typeface="Arial"/>
                <a:ea typeface="Arial"/>
                <a:cs typeface="Arial"/>
                <a:sym typeface="Arial"/>
              </a:rPr>
              <a:t>SpaceX Api: https://api.spacexdata.com/v4/rockets/</a:t>
            </a:r>
            <a:endParaRPr sz="1000">
              <a:solidFill>
                <a:srgbClr val="212121"/>
              </a:solidFill>
            </a:endParaRPr>
          </a:p>
          <a:p>
            <a:pPr indent="-94297" lvl="2" marL="419100" marR="0" rtl="0" algn="l">
              <a:lnSpc>
                <a:spcPct val="96000"/>
              </a:lnSpc>
              <a:spcBef>
                <a:spcPts val="600"/>
              </a:spcBef>
              <a:spcAft>
                <a:spcPts val="0"/>
              </a:spcAft>
              <a:buClr>
                <a:srgbClr val="212121"/>
              </a:buClr>
              <a:buSzPts val="1000"/>
              <a:buFont typeface="Arial"/>
              <a:buChar char="•"/>
            </a:pPr>
            <a:r>
              <a:rPr b="0" i="0" lang="en-US" sz="1000" u="none" cap="none" strike="noStrike">
                <a:solidFill>
                  <a:srgbClr val="212121"/>
                </a:solidFill>
                <a:latin typeface="Arial"/>
                <a:ea typeface="Arial"/>
                <a:cs typeface="Arial"/>
                <a:sym typeface="Arial"/>
              </a:rPr>
              <a:t>Web Scraping data from wiki: "https://en.wikipedia.org/w/index.php?title=List_of_Falcon_9_and_Falcon_Heavy_launches&amp;oldid=1027686922"</a:t>
            </a:r>
            <a:endParaRPr b="0" i="0" sz="1000" u="none" cap="none" strike="noStrike">
              <a:solidFill>
                <a:srgbClr val="212121"/>
              </a:solidFill>
              <a:latin typeface="Calibri"/>
              <a:ea typeface="Calibri"/>
              <a:cs typeface="Calibri"/>
              <a:sym typeface="Calibri"/>
            </a:endParaRPr>
          </a:p>
          <a:p>
            <a:pPr indent="-64261" lvl="2" marL="419100" marR="0" rtl="0" algn="l">
              <a:lnSpc>
                <a:spcPct val="96000"/>
              </a:lnSpc>
              <a:spcBef>
                <a:spcPts val="600"/>
              </a:spcBef>
              <a:spcAft>
                <a:spcPts val="0"/>
              </a:spcAft>
              <a:buClr>
                <a:srgbClr val="767171"/>
              </a:buClr>
              <a:buSzPts val="308"/>
              <a:buFont typeface="Arial"/>
              <a:buNone/>
            </a:pPr>
            <a:r>
              <a:t/>
            </a:r>
            <a:endParaRPr b="0" i="0" sz="308" u="none" cap="none" strike="noStrike">
              <a:solidFill>
                <a:srgbClr val="0070C0"/>
              </a:solidFill>
              <a:latin typeface="IBM Plex Mono"/>
              <a:ea typeface="IBM Plex Mono"/>
              <a:cs typeface="IBM Plex Mono"/>
              <a:sym typeface="IBM Plex Mono"/>
            </a:endParaRPr>
          </a:p>
          <a:p>
            <a:pPr indent="-115316" lvl="0" marL="100584" marR="0" rtl="0" algn="l">
              <a:lnSpc>
                <a:spcPct val="96000"/>
              </a:lnSpc>
              <a:spcBef>
                <a:spcPts val="60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Perform data wrangling</a:t>
            </a:r>
            <a:endParaRPr b="0" i="0" sz="1200" u="none" cap="none" strike="noStrike">
              <a:solidFill>
                <a:schemeClr val="dk1"/>
              </a:solidFill>
              <a:latin typeface="IBM Plex Mono"/>
              <a:ea typeface="IBM Plex Mono"/>
              <a:cs typeface="IBM Plex Mono"/>
              <a:sym typeface="IBM Plex Mono"/>
            </a:endParaRPr>
          </a:p>
          <a:p>
            <a:pPr indent="-113284" lvl="1" marL="301752" marR="0" rtl="0" algn="l">
              <a:lnSpc>
                <a:spcPct val="96000"/>
              </a:lnSpc>
              <a:spcBef>
                <a:spcPts val="600"/>
              </a:spcBef>
              <a:spcAft>
                <a:spcPts val="0"/>
              </a:spcAft>
              <a:buClr>
                <a:schemeClr val="dk1"/>
              </a:buClr>
              <a:buSzPts val="1035"/>
              <a:buFont typeface="Arial"/>
              <a:buChar char="•"/>
            </a:pPr>
            <a:r>
              <a:rPr b="0" i="0" lang="en-US" sz="1035" u="none" cap="none" strike="noStrike">
                <a:solidFill>
                  <a:schemeClr val="dk1"/>
                </a:solidFill>
                <a:latin typeface="Arial"/>
                <a:ea typeface="Arial"/>
                <a:cs typeface="Arial"/>
                <a:sym typeface="Arial"/>
              </a:rPr>
              <a:t>Collected data was enriched by creating a landing outcome label based on outcome data after summarizing and analyzing features.</a:t>
            </a:r>
            <a:endParaRPr b="0" i="0" sz="464" u="none" cap="none" strike="noStrike">
              <a:solidFill>
                <a:schemeClr val="dk1"/>
              </a:solidFill>
              <a:latin typeface="IBM Plex Mono"/>
              <a:ea typeface="IBM Plex Mono"/>
              <a:cs typeface="IBM Plex Mono"/>
              <a:sym typeface="IBM Plex Mono"/>
            </a:endParaRPr>
          </a:p>
          <a:p>
            <a:pPr indent="-115316" lvl="0" marL="100584" marR="0" rtl="0" algn="l">
              <a:lnSpc>
                <a:spcPct val="96000"/>
              </a:lnSpc>
              <a:spcBef>
                <a:spcPts val="60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Perform exploratory data analysis (EDA) using visualization and SQL</a:t>
            </a:r>
            <a:endParaRPr sz="1200">
              <a:solidFill>
                <a:schemeClr val="dk1"/>
              </a:solidFill>
            </a:endParaRPr>
          </a:p>
          <a:p>
            <a:pPr indent="-111062" lvl="1" marL="301752" marR="0" rtl="0" algn="l">
              <a:lnSpc>
                <a:spcPct val="96000"/>
              </a:lnSpc>
              <a:spcBef>
                <a:spcPts val="60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Visualize variable relationships</a:t>
            </a:r>
            <a:endParaRPr sz="1000">
              <a:solidFill>
                <a:schemeClr val="dk1"/>
              </a:solidFill>
            </a:endParaRPr>
          </a:p>
          <a:p>
            <a:pPr indent="-111062" lvl="1" marL="301752" marR="0" rtl="0" algn="l">
              <a:lnSpc>
                <a:spcPct val="96000"/>
              </a:lnSpc>
              <a:spcBef>
                <a:spcPts val="60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Look at the data in aggregate.</a:t>
            </a:r>
            <a:endParaRPr b="0" i="0" sz="1000" u="none" cap="none" strike="noStrike">
              <a:solidFill>
                <a:schemeClr val="dk1"/>
              </a:solidFill>
              <a:latin typeface="IBM Plex Mono"/>
              <a:ea typeface="IBM Plex Mono"/>
              <a:cs typeface="IBM Plex Mono"/>
              <a:sym typeface="IBM Plex Mono"/>
            </a:endParaRPr>
          </a:p>
          <a:p>
            <a:pPr indent="-115316" lvl="0" marL="100584" marR="0" rtl="0" algn="l">
              <a:lnSpc>
                <a:spcPct val="96000"/>
              </a:lnSpc>
              <a:spcBef>
                <a:spcPts val="60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Perform interactive visual analytics using Folium and Plotly Dash</a:t>
            </a:r>
            <a:endParaRPr sz="1200">
              <a:solidFill>
                <a:schemeClr val="dk1"/>
              </a:solidFill>
            </a:endParaRPr>
          </a:p>
          <a:p>
            <a:pPr indent="-111062" lvl="1" marL="301752" marR="0" rtl="0" algn="l">
              <a:lnSpc>
                <a:spcPct val="96000"/>
              </a:lnSpc>
              <a:spcBef>
                <a:spcPts val="60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Mark all launch sites on a map</a:t>
            </a:r>
            <a:endParaRPr sz="1000">
              <a:solidFill>
                <a:schemeClr val="dk1"/>
              </a:solidFill>
            </a:endParaRPr>
          </a:p>
          <a:p>
            <a:pPr indent="-111062" lvl="1" marL="301752" marR="0" rtl="0" algn="l">
              <a:lnSpc>
                <a:spcPct val="96000"/>
              </a:lnSpc>
              <a:spcBef>
                <a:spcPts val="60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Mark successful and failed launches</a:t>
            </a:r>
            <a:endParaRPr sz="1000">
              <a:solidFill>
                <a:schemeClr val="dk1"/>
              </a:solidFill>
            </a:endParaRPr>
          </a:p>
          <a:p>
            <a:pPr indent="-111062" lvl="1" marL="301752" marR="0" rtl="0" algn="l">
              <a:lnSpc>
                <a:spcPct val="96000"/>
              </a:lnSpc>
              <a:spcBef>
                <a:spcPts val="60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Calculate distance to proximate locations</a:t>
            </a:r>
            <a:endParaRPr sz="1000">
              <a:solidFill>
                <a:schemeClr val="dk1"/>
              </a:solidFill>
            </a:endParaRPr>
          </a:p>
          <a:p>
            <a:pPr indent="-111062" lvl="1" marL="301752" marR="0" rtl="0" algn="l">
              <a:lnSpc>
                <a:spcPct val="96000"/>
              </a:lnSpc>
              <a:spcBef>
                <a:spcPts val="60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Provide for interactive exploration of the data</a:t>
            </a:r>
            <a:endParaRPr b="0" i="0" sz="1000" u="none" cap="none" strike="noStrike">
              <a:solidFill>
                <a:schemeClr val="dk1"/>
              </a:solidFill>
              <a:latin typeface="IBM Plex Mono"/>
              <a:ea typeface="IBM Plex Mono"/>
              <a:cs typeface="IBM Plex Mono"/>
              <a:sym typeface="IBM Plex Mono"/>
            </a:endParaRPr>
          </a:p>
          <a:p>
            <a:pPr indent="-115316" lvl="0" marL="100584" marR="0" rtl="0" algn="l">
              <a:lnSpc>
                <a:spcPct val="96000"/>
              </a:lnSpc>
              <a:spcBef>
                <a:spcPts val="60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Perform predictive analysis using classification models</a:t>
            </a:r>
            <a:endParaRPr b="0" i="0" sz="1200" u="none" cap="none" strike="noStrike">
              <a:solidFill>
                <a:schemeClr val="dk1"/>
              </a:solidFill>
              <a:latin typeface="IBM Plex Mono"/>
              <a:ea typeface="IBM Plex Mono"/>
              <a:cs typeface="IBM Plex Mono"/>
              <a:sym typeface="IBM Plex Mono"/>
            </a:endParaRPr>
          </a:p>
          <a:p>
            <a:pPr indent="-111062" lvl="1" marL="301752" marR="0" rtl="0" algn="l">
              <a:lnSpc>
                <a:spcPct val="96000"/>
              </a:lnSpc>
              <a:spcBef>
                <a:spcPts val="600"/>
              </a:spcBef>
              <a:spcAft>
                <a:spcPts val="0"/>
              </a:spcAft>
              <a:buClr>
                <a:schemeClr val="dk1"/>
              </a:buClr>
              <a:buSzPts val="1000"/>
              <a:buFont typeface="Arial"/>
              <a:buChar char="•"/>
            </a:pPr>
            <a:r>
              <a:rPr b="0" i="0" lang="en-US" sz="1000" u="none" cap="none" strike="noStrike">
                <a:solidFill>
                  <a:schemeClr val="dk1"/>
                </a:solidFill>
                <a:latin typeface="Arial"/>
                <a:ea typeface="Arial"/>
                <a:cs typeface="Arial"/>
                <a:sym typeface="Arial"/>
              </a:rPr>
              <a:t>Data that was collected this step were normalized, divided in training and test data sets and evaluated by four different classification models, being the accuracy of each model evaluated using different combination of parameters.</a:t>
            </a:r>
            <a:endParaRPr b="0" i="0" sz="1000" u="none" cap="none" strike="noStrike">
              <a:solidFill>
                <a:schemeClr val="dk1"/>
              </a:solidFill>
              <a:latin typeface="IBM Plex Mono"/>
              <a:ea typeface="IBM Plex Mono"/>
              <a:cs typeface="IBM Plex Mono"/>
              <a:sym typeface="IBM Plex Mono"/>
            </a:endParaRPr>
          </a:p>
          <a:p>
            <a:pPr indent="-83820" lvl="0" marL="100584" marR="0" rtl="0" algn="l">
              <a:lnSpc>
                <a:spcPct val="96000"/>
              </a:lnSpc>
              <a:spcBef>
                <a:spcPts val="600"/>
              </a:spcBef>
              <a:spcAft>
                <a:spcPts val="0"/>
              </a:spcAft>
              <a:buClr>
                <a:srgbClr val="292929"/>
              </a:buClr>
              <a:buSzPts val="264"/>
              <a:buFont typeface="Arial"/>
              <a:buNone/>
            </a:pPr>
            <a:r>
              <a:t/>
            </a:r>
            <a:endParaRPr b="0" i="0" sz="264" u="none" cap="none" strike="noStrike">
              <a:solidFill>
                <a:schemeClr val="dk1"/>
              </a:solidFill>
              <a:latin typeface="IBM Plex Mono"/>
              <a:ea typeface="IBM Plex Mono"/>
              <a:cs typeface="IBM Plex Mono"/>
              <a:sym typeface="IBM Plex Mono"/>
            </a:endParaRPr>
          </a:p>
          <a:p>
            <a:pPr indent="-83820" lvl="0" marL="100584" marR="0" rtl="0" algn="l">
              <a:lnSpc>
                <a:spcPct val="80000"/>
              </a:lnSpc>
              <a:spcBef>
                <a:spcPts val="600"/>
              </a:spcBef>
              <a:spcAft>
                <a:spcPts val="0"/>
              </a:spcAft>
              <a:buClr>
                <a:srgbClr val="292929"/>
              </a:buClr>
              <a:buSzPts val="264"/>
              <a:buFont typeface="Arial"/>
              <a:buNone/>
            </a:pPr>
            <a:r>
              <a:t/>
            </a:r>
            <a:endParaRPr b="0" i="0" sz="264" u="none" cap="none" strike="noStrike">
              <a:solidFill>
                <a:schemeClr val="dk1"/>
              </a:solidFill>
              <a:latin typeface="IBM Plex Mono"/>
              <a:ea typeface="IBM Plex Mono"/>
              <a:cs typeface="IBM Plex Mono"/>
              <a:sym typeface="IBM Plex Mono"/>
            </a:endParaRPr>
          </a:p>
          <a:p>
            <a:pPr indent="-83820" lvl="0" marL="100584" marR="0" rtl="0" algn="l">
              <a:lnSpc>
                <a:spcPct val="80000"/>
              </a:lnSpc>
              <a:spcBef>
                <a:spcPts val="600"/>
              </a:spcBef>
              <a:spcAft>
                <a:spcPts val="0"/>
              </a:spcAft>
              <a:buClr>
                <a:srgbClr val="292929"/>
              </a:buClr>
              <a:buSzPts val="264"/>
              <a:buFont typeface="Arial"/>
              <a:buNone/>
            </a:pPr>
            <a:r>
              <a:t/>
            </a:r>
            <a:endParaRPr b="0" i="0" sz="264" u="none" cap="none" strike="noStrike">
              <a:solidFill>
                <a:schemeClr val="dk1"/>
              </a:solidFill>
              <a:latin typeface="IBM Plex Mono"/>
              <a:ea typeface="IBM Plex Mono"/>
              <a:cs typeface="IBM Plex Mono"/>
              <a:sym typeface="IBM Plex Mono"/>
            </a:endParaRPr>
          </a:p>
          <a:p>
            <a:pPr indent="-83820" lvl="0" marL="100584" marR="0" rtl="0" algn="l">
              <a:lnSpc>
                <a:spcPct val="80000"/>
              </a:lnSpc>
              <a:spcBef>
                <a:spcPts val="600"/>
              </a:spcBef>
              <a:spcAft>
                <a:spcPts val="0"/>
              </a:spcAft>
              <a:buClr>
                <a:srgbClr val="292929"/>
              </a:buClr>
              <a:buSzPts val="264"/>
              <a:buFont typeface="Arial"/>
              <a:buNone/>
            </a:pPr>
            <a:r>
              <a:t/>
            </a:r>
            <a:endParaRPr b="0" i="0" sz="264" u="none" cap="none" strike="noStrike">
              <a:solidFill>
                <a:schemeClr val="dk1"/>
              </a:solidFill>
              <a:latin typeface="IBM Plex Mono"/>
              <a:ea typeface="IBM Plex Mono"/>
              <a:cs typeface="IBM Plex Mono"/>
              <a:sym typeface="IBM Plex Mono"/>
            </a:endParaRPr>
          </a:p>
        </p:txBody>
      </p:sp>
      <p:sp>
        <p:nvSpPr>
          <p:cNvPr id="100" name="Google Shape;100;p20"/>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Methodology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 name="Shape 104"/>
        <p:cNvGrpSpPr/>
        <p:nvPr/>
      </p:nvGrpSpPr>
      <p:grpSpPr>
        <a:xfrm>
          <a:off x="0" y="0"/>
          <a:ext cx="0" cy="0"/>
          <a:chOff x="0" y="0"/>
          <a:chExt cx="0" cy="0"/>
        </a:xfrm>
      </p:grpSpPr>
      <p:sp>
        <p:nvSpPr>
          <p:cNvPr id="105" name="Google Shape;105;p21"/>
          <p:cNvSpPr txBox="1"/>
          <p:nvPr>
            <p:ph idx="4294967295" type="sldNum"/>
          </p:nvPr>
        </p:nvSpPr>
        <p:spPr>
          <a:xfrm>
            <a:off x="11240821" y="6060022"/>
            <a:ext cx="21715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106" name="Google Shape;106;p21"/>
          <p:cNvSpPr txBox="1"/>
          <p:nvPr>
            <p:ph idx="4294967295" type="body"/>
          </p:nvPr>
        </p:nvSpPr>
        <p:spPr>
          <a:xfrm>
            <a:off x="767475" y="1529776"/>
            <a:ext cx="11026200" cy="4562700"/>
          </a:xfrm>
          <a:prstGeom prst="rect">
            <a:avLst/>
          </a:prstGeom>
          <a:noFill/>
          <a:ln>
            <a:noFill/>
          </a:ln>
        </p:spPr>
        <p:txBody>
          <a:bodyPr anchorCtr="0" anchor="t" bIns="47925" lIns="47925" spcFirstLastPara="1" rIns="47925" wrap="square" tIns="47925">
            <a:normAutofit/>
          </a:bodyPr>
          <a:lstStyle/>
          <a:p>
            <a:pPr indent="-232507" lvl="0" marL="232508" rtl="0" algn="l">
              <a:lnSpc>
                <a:spcPct val="100000"/>
              </a:lnSpc>
              <a:spcBef>
                <a:spcPts val="0"/>
              </a:spcBef>
              <a:spcAft>
                <a:spcPts val="0"/>
              </a:spcAft>
              <a:buClr>
                <a:srgbClr val="292929"/>
              </a:buClr>
              <a:buSzPts val="2238"/>
              <a:buChar char="●"/>
            </a:pPr>
            <a:r>
              <a:rPr b="1" lang="en-US" sz="2238">
                <a:solidFill>
                  <a:srgbClr val="292929"/>
                </a:solidFill>
                <a:latin typeface="Arial"/>
                <a:ea typeface="Arial"/>
                <a:cs typeface="Arial"/>
                <a:sym typeface="Arial"/>
              </a:rPr>
              <a:t>Data sets collected from SpaceX API and web </a:t>
            </a:r>
            <a:r>
              <a:rPr b="1" lang="en-US" sz="2238">
                <a:solidFill>
                  <a:srgbClr val="292929"/>
                </a:solidFill>
                <a:latin typeface="Arial"/>
                <a:ea typeface="Arial"/>
                <a:cs typeface="Arial"/>
                <a:sym typeface="Arial"/>
              </a:rPr>
              <a:t>scraping</a:t>
            </a:r>
            <a:r>
              <a:rPr b="1" lang="en-US" sz="2238">
                <a:solidFill>
                  <a:srgbClr val="292929"/>
                </a:solidFill>
                <a:latin typeface="Arial"/>
                <a:ea typeface="Arial"/>
                <a:cs typeface="Arial"/>
                <a:sym typeface="Arial"/>
              </a:rPr>
              <a:t> Wikipedia</a:t>
            </a:r>
            <a:endParaRPr sz="2936">
              <a:solidFill>
                <a:srgbClr val="212121"/>
              </a:solidFill>
            </a:endParaRPr>
          </a:p>
          <a:p>
            <a:pPr indent="-209798" lvl="1" marL="759047" rtl="0" algn="l">
              <a:lnSpc>
                <a:spcPct val="100000"/>
              </a:lnSpc>
              <a:spcBef>
                <a:spcPts val="0"/>
              </a:spcBef>
              <a:spcAft>
                <a:spcPts val="0"/>
              </a:spcAft>
              <a:buClr>
                <a:srgbClr val="212121"/>
              </a:buClr>
              <a:buSzPts val="1836"/>
              <a:buChar char="○"/>
            </a:pPr>
            <a:r>
              <a:rPr lang="en-US" sz="1836">
                <a:solidFill>
                  <a:srgbClr val="212121"/>
                </a:solidFill>
              </a:rPr>
              <a:t>The information obtained by the API and rocket, launches, payload information.</a:t>
            </a:r>
            <a:endParaRPr sz="1836">
              <a:solidFill>
                <a:srgbClr val="212121"/>
              </a:solidFill>
            </a:endParaRPr>
          </a:p>
          <a:p>
            <a:pPr indent="-250745" lvl="2" marL="1294375" rtl="0" algn="l">
              <a:lnSpc>
                <a:spcPct val="100000"/>
              </a:lnSpc>
              <a:spcBef>
                <a:spcPts val="0"/>
              </a:spcBef>
              <a:spcAft>
                <a:spcPts val="0"/>
              </a:spcAft>
              <a:buSzPts val="1600"/>
              <a:buChar char="■"/>
            </a:pPr>
            <a:r>
              <a:rPr lang="en-US" sz="1600">
                <a:solidFill>
                  <a:srgbClr val="212121"/>
                </a:solidFill>
              </a:rPr>
              <a:t>The Space X API URL is </a:t>
            </a:r>
            <a:r>
              <a:rPr lang="en-US" sz="1600" u="sng">
                <a:solidFill>
                  <a:schemeClr val="hlink"/>
                </a:solidFill>
                <a:hlinkClick r:id="rId4"/>
              </a:rPr>
              <a:t>api.spacexdata.com/v4/</a:t>
            </a:r>
            <a:endParaRPr sz="1600"/>
          </a:p>
          <a:p>
            <a:pPr indent="-129172" lvl="2" marL="1162541" rtl="0" algn="l">
              <a:lnSpc>
                <a:spcPct val="100000"/>
              </a:lnSpc>
              <a:spcBef>
                <a:spcPts val="1363"/>
              </a:spcBef>
              <a:spcAft>
                <a:spcPts val="0"/>
              </a:spcAft>
              <a:buClr>
                <a:srgbClr val="292929"/>
              </a:buClr>
              <a:buSzPts val="1627"/>
              <a:buNone/>
            </a:pPr>
            <a:r>
              <a:t/>
            </a:r>
            <a:endParaRPr sz="2936" u="sng">
              <a:solidFill>
                <a:schemeClr val="hlink"/>
              </a:solidFill>
              <a:hlinkClick r:id="rId5"/>
            </a:endParaRPr>
          </a:p>
          <a:p>
            <a:pPr indent="465017" lvl="2" marL="0" rtl="0" algn="l">
              <a:lnSpc>
                <a:spcPct val="100000"/>
              </a:lnSpc>
              <a:spcBef>
                <a:spcPts val="1363"/>
              </a:spcBef>
              <a:spcAft>
                <a:spcPts val="0"/>
              </a:spcAft>
              <a:buClr>
                <a:srgbClr val="292929"/>
              </a:buClr>
              <a:buSzPts val="1627"/>
              <a:buFont typeface="Arial"/>
              <a:buNone/>
            </a:pPr>
            <a:r>
              <a:t/>
            </a:r>
            <a:endParaRPr sz="2936" u="sng">
              <a:solidFill>
                <a:schemeClr val="hlink"/>
              </a:solidFill>
              <a:hlinkClick r:id="rId6"/>
            </a:endParaRPr>
          </a:p>
          <a:p>
            <a:pPr indent="-232508" lvl="1" marL="697525" rtl="0" algn="l">
              <a:lnSpc>
                <a:spcPct val="100000"/>
              </a:lnSpc>
              <a:spcBef>
                <a:spcPts val="1363"/>
              </a:spcBef>
              <a:spcAft>
                <a:spcPts val="0"/>
              </a:spcAft>
              <a:buClr>
                <a:srgbClr val="292929"/>
              </a:buClr>
              <a:buSzPts val="1627"/>
              <a:buChar char="○"/>
            </a:pPr>
            <a:r>
              <a:rPr lang="en-US" sz="1627">
                <a:solidFill>
                  <a:srgbClr val="292929"/>
                </a:solidFill>
                <a:latin typeface="Arial"/>
                <a:ea typeface="Arial"/>
                <a:cs typeface="Arial"/>
                <a:sym typeface="Arial"/>
              </a:rPr>
              <a:t>The information obtained by the webscrapping of Wikipedia and launches, landing, payload information</a:t>
            </a:r>
            <a:endParaRPr sz="2936"/>
          </a:p>
          <a:p>
            <a:pPr indent="-219808" lvl="2" marL="1162541" rtl="0" algn="l">
              <a:lnSpc>
                <a:spcPct val="100000"/>
              </a:lnSpc>
              <a:spcBef>
                <a:spcPts val="1363"/>
              </a:spcBef>
              <a:spcAft>
                <a:spcPts val="0"/>
              </a:spcAft>
              <a:buClr>
                <a:srgbClr val="292929"/>
              </a:buClr>
              <a:buSzPts val="1427"/>
              <a:buChar char="■"/>
            </a:pPr>
            <a:r>
              <a:rPr lang="en-US" sz="1427">
                <a:solidFill>
                  <a:srgbClr val="292929"/>
                </a:solidFill>
                <a:latin typeface="Arial"/>
                <a:ea typeface="Arial"/>
                <a:cs typeface="Arial"/>
                <a:sym typeface="Arial"/>
              </a:rPr>
              <a:t>URL: </a:t>
            </a:r>
            <a:r>
              <a:rPr lang="en-US" sz="1427" u="sng">
                <a:solidFill>
                  <a:schemeClr val="hlink"/>
                </a:solidFill>
                <a:latin typeface="Arial"/>
                <a:ea typeface="Arial"/>
                <a:cs typeface="Arial"/>
                <a:sym typeface="Arial"/>
                <a:hlinkClick r:id="rId7"/>
              </a:rPr>
              <a:t>https://en.wikipedia.org/w/index.php?title=List_of_Falcon_9_and_Falcon_Heavy_launches&amp;oldid=1027686922</a:t>
            </a:r>
            <a:endParaRPr sz="1427">
              <a:solidFill>
                <a:srgbClr val="292929"/>
              </a:solidFill>
              <a:latin typeface="Arial"/>
              <a:ea typeface="Arial"/>
              <a:cs typeface="Arial"/>
              <a:sym typeface="Arial"/>
            </a:endParaRPr>
          </a:p>
          <a:p>
            <a:pPr indent="0" lvl="0" marL="0" rtl="0" algn="l">
              <a:lnSpc>
                <a:spcPct val="100000"/>
              </a:lnSpc>
              <a:spcBef>
                <a:spcPts val="1363"/>
              </a:spcBef>
              <a:spcAft>
                <a:spcPts val="0"/>
              </a:spcAft>
              <a:buNone/>
            </a:pPr>
            <a:r>
              <a:t/>
            </a:r>
            <a:endParaRPr sz="1627">
              <a:solidFill>
                <a:srgbClr val="292929"/>
              </a:solidFill>
              <a:latin typeface="Arial"/>
              <a:ea typeface="Arial"/>
              <a:cs typeface="Arial"/>
              <a:sym typeface="Arial"/>
            </a:endParaRPr>
          </a:p>
          <a:p>
            <a:pPr indent="1162541" lvl="5" marL="0" rtl="0" algn="l">
              <a:lnSpc>
                <a:spcPct val="100000"/>
              </a:lnSpc>
              <a:spcBef>
                <a:spcPts val="1363"/>
              </a:spcBef>
              <a:spcAft>
                <a:spcPts val="0"/>
              </a:spcAft>
              <a:buClr>
                <a:srgbClr val="292929"/>
              </a:buClr>
              <a:buSzPts val="1627"/>
              <a:buFont typeface="Arial"/>
              <a:buNone/>
            </a:pPr>
            <a:r>
              <a:t/>
            </a:r>
            <a:endParaRPr b="1" sz="1627">
              <a:solidFill>
                <a:srgbClr val="292929"/>
              </a:solidFill>
              <a:latin typeface="Arial"/>
              <a:ea typeface="Arial"/>
              <a:cs typeface="Arial"/>
              <a:sym typeface="Arial"/>
            </a:endParaRPr>
          </a:p>
        </p:txBody>
      </p:sp>
      <p:sp>
        <p:nvSpPr>
          <p:cNvPr id="107" name="Google Shape;107;p21"/>
          <p:cNvSpPr/>
          <p:nvPr/>
        </p:nvSpPr>
        <p:spPr>
          <a:xfrm>
            <a:off x="1971650" y="5154975"/>
            <a:ext cx="1458900" cy="1017300"/>
          </a:xfrm>
          <a:prstGeom prst="roundRect">
            <a:avLst>
              <a:gd fmla="val 17493" name="adj"/>
            </a:avLst>
          </a:prstGeom>
          <a:solidFill>
            <a:srgbClr val="FFFFFF"/>
          </a:solidFill>
          <a:ln cap="flat" cmpd="sng" w="13325">
            <a:solidFill>
              <a:schemeClr val="accent1"/>
            </a:solidFill>
            <a:prstDash val="solid"/>
            <a:miter lim="8000"/>
            <a:headEnd len="sm" w="sm" type="none"/>
            <a:tailEnd len="sm" w="sm" type="none"/>
          </a:ln>
        </p:spPr>
        <p:txBody>
          <a:bodyPr anchorCtr="0" anchor="ctr" bIns="47925" lIns="47925" spcFirstLastPara="1" rIns="47925" wrap="square" tIns="47925">
            <a:noAutofit/>
          </a:bodyPr>
          <a:lstStyle/>
          <a:p>
            <a:pPr indent="0" lvl="0" marL="0" marR="0" rtl="0" algn="ctr">
              <a:lnSpc>
                <a:spcPct val="100000"/>
              </a:lnSpc>
              <a:spcBef>
                <a:spcPts val="0"/>
              </a:spcBef>
              <a:spcAft>
                <a:spcPts val="0"/>
              </a:spcAft>
              <a:buClr>
                <a:srgbClr val="000000"/>
              </a:buClr>
              <a:buSzPts val="1678"/>
              <a:buFont typeface="Calibri"/>
              <a:buNone/>
            </a:pPr>
            <a:r>
              <a:rPr b="0" i="0" lang="en-US" sz="1678" u="none" cap="none" strike="noStrike">
                <a:solidFill>
                  <a:srgbClr val="000000"/>
                </a:solidFill>
                <a:latin typeface="Calibri"/>
                <a:ea typeface="Calibri"/>
                <a:cs typeface="Calibri"/>
                <a:sym typeface="Calibri"/>
              </a:rPr>
              <a:t>Get HTML response from wikipedia</a:t>
            </a:r>
            <a:endParaRPr sz="1468"/>
          </a:p>
        </p:txBody>
      </p:sp>
      <p:sp>
        <p:nvSpPr>
          <p:cNvPr id="108" name="Google Shape;108;p21"/>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Data Collection</a:t>
            </a:r>
            <a:endParaRPr/>
          </a:p>
        </p:txBody>
      </p:sp>
      <p:sp>
        <p:nvSpPr>
          <p:cNvPr id="109" name="Google Shape;109;p21"/>
          <p:cNvSpPr/>
          <p:nvPr/>
        </p:nvSpPr>
        <p:spPr>
          <a:xfrm>
            <a:off x="2198425" y="2968950"/>
            <a:ext cx="1425000" cy="920100"/>
          </a:xfrm>
          <a:prstGeom prst="roundRect">
            <a:avLst>
              <a:gd fmla="val 20282" name="adj"/>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SpaceX Rest API call</a:t>
            </a:r>
            <a:endParaRPr/>
          </a:p>
        </p:txBody>
      </p:sp>
      <p:sp>
        <p:nvSpPr>
          <p:cNvPr id="110" name="Google Shape;110;p21"/>
          <p:cNvSpPr/>
          <p:nvPr/>
        </p:nvSpPr>
        <p:spPr>
          <a:xfrm>
            <a:off x="3667713" y="3073496"/>
            <a:ext cx="900600" cy="711000"/>
          </a:xfrm>
          <a:prstGeom prst="rightArrow">
            <a:avLst>
              <a:gd fmla="val 29171" name="adj1"/>
              <a:gd fmla="val 48949" name="adj2"/>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 name="Google Shape;111;p21"/>
          <p:cNvSpPr/>
          <p:nvPr/>
        </p:nvSpPr>
        <p:spPr>
          <a:xfrm>
            <a:off x="4612625" y="2968948"/>
            <a:ext cx="1458900" cy="920100"/>
          </a:xfrm>
          <a:prstGeom prst="roundRect">
            <a:avLst>
              <a:gd fmla="val 21645" name="adj"/>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API returns JSON file</a:t>
            </a:r>
            <a:endParaRPr/>
          </a:p>
        </p:txBody>
      </p:sp>
      <p:sp>
        <p:nvSpPr>
          <p:cNvPr id="112" name="Google Shape;112;p21"/>
          <p:cNvSpPr/>
          <p:nvPr/>
        </p:nvSpPr>
        <p:spPr>
          <a:xfrm>
            <a:off x="7286400" y="2888650"/>
            <a:ext cx="1183500" cy="920100"/>
          </a:xfrm>
          <a:prstGeom prst="roundRect">
            <a:avLst>
              <a:gd fmla="val 20706" name="adj"/>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Make Dataframe from</a:t>
            </a:r>
            <a:r>
              <a:rPr b="0" i="0" lang="en-US" sz="1800" u="none" cap="none" strike="noStrike">
                <a:solidFill>
                  <a:srgbClr val="000000"/>
                </a:solidFill>
                <a:latin typeface="Calibri"/>
                <a:ea typeface="Calibri"/>
                <a:cs typeface="Calibri"/>
                <a:sym typeface="Calibri"/>
              </a:rPr>
              <a:t> </a:t>
            </a:r>
            <a:r>
              <a:rPr b="0" i="0" lang="en-US" sz="1600" u="none" cap="none" strike="noStrike">
                <a:solidFill>
                  <a:srgbClr val="000000"/>
                </a:solidFill>
                <a:latin typeface="Calibri"/>
                <a:ea typeface="Calibri"/>
                <a:cs typeface="Calibri"/>
                <a:sym typeface="Calibri"/>
              </a:rPr>
              <a:t>JSON</a:t>
            </a:r>
            <a:endParaRPr/>
          </a:p>
        </p:txBody>
      </p:sp>
      <p:sp>
        <p:nvSpPr>
          <p:cNvPr id="113" name="Google Shape;113;p21"/>
          <p:cNvSpPr/>
          <p:nvPr/>
        </p:nvSpPr>
        <p:spPr>
          <a:xfrm>
            <a:off x="6187695" y="3073496"/>
            <a:ext cx="900600" cy="711000"/>
          </a:xfrm>
          <a:prstGeom prst="rightArrow">
            <a:avLst>
              <a:gd fmla="val 29171" name="adj1"/>
              <a:gd fmla="val 48949" name="adj2"/>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 name="Google Shape;114;p21"/>
          <p:cNvSpPr/>
          <p:nvPr/>
        </p:nvSpPr>
        <p:spPr>
          <a:xfrm>
            <a:off x="8601013" y="3074101"/>
            <a:ext cx="900900" cy="709800"/>
          </a:xfrm>
          <a:prstGeom prst="rightArrow">
            <a:avLst>
              <a:gd fmla="val 21852" name="adj1"/>
              <a:gd fmla="val 55061" name="adj2"/>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 name="Google Shape;115;p21"/>
          <p:cNvSpPr/>
          <p:nvPr/>
        </p:nvSpPr>
        <p:spPr>
          <a:xfrm>
            <a:off x="9633050" y="3009850"/>
            <a:ext cx="1183500" cy="857700"/>
          </a:xfrm>
          <a:prstGeom prst="roundRect">
            <a:avLst>
              <a:gd fmla="val 0" name="adj"/>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Clean Data and export it</a:t>
            </a:r>
            <a:endParaRPr/>
          </a:p>
        </p:txBody>
      </p:sp>
      <p:sp>
        <p:nvSpPr>
          <p:cNvPr id="116" name="Google Shape;116;p21"/>
          <p:cNvSpPr/>
          <p:nvPr/>
        </p:nvSpPr>
        <p:spPr>
          <a:xfrm>
            <a:off x="3509460" y="5306771"/>
            <a:ext cx="900600" cy="713700"/>
          </a:xfrm>
          <a:prstGeom prst="rightArrow">
            <a:avLst>
              <a:gd fmla="val 30491" name="adj1"/>
              <a:gd fmla="val 51287" name="adj2"/>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 name="Google Shape;117;p21"/>
          <p:cNvSpPr/>
          <p:nvPr/>
        </p:nvSpPr>
        <p:spPr>
          <a:xfrm>
            <a:off x="4488950" y="5155125"/>
            <a:ext cx="1582500" cy="1017300"/>
          </a:xfrm>
          <a:prstGeom prst="roundRect">
            <a:avLst>
              <a:gd fmla="val 17405" name="adj"/>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Extract data with </a:t>
            </a:r>
            <a:r>
              <a:rPr lang="en-US" sz="1800">
                <a:latin typeface="Calibri"/>
                <a:ea typeface="Calibri"/>
                <a:cs typeface="Calibri"/>
                <a:sym typeface="Calibri"/>
              </a:rPr>
              <a:t>Beautifulsoup</a:t>
            </a:r>
            <a:endParaRPr/>
          </a:p>
        </p:txBody>
      </p:sp>
      <p:sp>
        <p:nvSpPr>
          <p:cNvPr id="118" name="Google Shape;118;p21"/>
          <p:cNvSpPr/>
          <p:nvPr/>
        </p:nvSpPr>
        <p:spPr>
          <a:xfrm>
            <a:off x="7181925" y="5242875"/>
            <a:ext cx="1183500" cy="920100"/>
          </a:xfrm>
          <a:prstGeom prst="roundRect">
            <a:avLst>
              <a:gd fmla="val 15296" name="adj"/>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Make Dataframe</a:t>
            </a:r>
            <a:endParaRPr/>
          </a:p>
        </p:txBody>
      </p:sp>
      <p:sp>
        <p:nvSpPr>
          <p:cNvPr id="119" name="Google Shape;119;p21"/>
          <p:cNvSpPr/>
          <p:nvPr/>
        </p:nvSpPr>
        <p:spPr>
          <a:xfrm>
            <a:off x="6093946" y="5274223"/>
            <a:ext cx="1088100" cy="778800"/>
          </a:xfrm>
          <a:prstGeom prst="rightArrow">
            <a:avLst>
              <a:gd fmla="val 25685" name="adj1"/>
              <a:gd fmla="val 61339" name="adj2"/>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 name="Google Shape;120;p21"/>
          <p:cNvSpPr/>
          <p:nvPr/>
        </p:nvSpPr>
        <p:spPr>
          <a:xfrm>
            <a:off x="8455195" y="5344121"/>
            <a:ext cx="1048800" cy="717600"/>
          </a:xfrm>
          <a:prstGeom prst="rightArrow">
            <a:avLst>
              <a:gd fmla="val 31470" name="adj1"/>
              <a:gd fmla="val 70717" name="adj2"/>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1" name="Google Shape;121;p21"/>
          <p:cNvSpPr/>
          <p:nvPr/>
        </p:nvSpPr>
        <p:spPr>
          <a:xfrm>
            <a:off x="9593775" y="5234775"/>
            <a:ext cx="1304400" cy="857700"/>
          </a:xfrm>
          <a:prstGeom prst="roundRect">
            <a:avLst>
              <a:gd fmla="val 15000" name="adj"/>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Export Data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
        <p:nvSpPr>
          <p:cNvPr id="126" name="Google Shape;126;p22"/>
          <p:cNvSpPr txBox="1"/>
          <p:nvPr>
            <p:ph idx="4294967295" type="sldNum"/>
          </p:nvPr>
        </p:nvSpPr>
        <p:spPr>
          <a:xfrm>
            <a:off x="11240821" y="6060022"/>
            <a:ext cx="21715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127" name="Google Shape;127;p22">
            <a:hlinkClick r:id="rId4"/>
          </p:cNvPr>
          <p:cNvSpPr txBox="1"/>
          <p:nvPr>
            <p:ph idx="4294967295" type="body"/>
          </p:nvPr>
        </p:nvSpPr>
        <p:spPr>
          <a:xfrm>
            <a:off x="781050" y="1371600"/>
            <a:ext cx="10677000" cy="5021100"/>
          </a:xfrm>
          <a:prstGeom prst="rect">
            <a:avLst/>
          </a:prstGeom>
          <a:noFill/>
          <a:ln>
            <a:noFill/>
          </a:ln>
        </p:spPr>
        <p:txBody>
          <a:bodyPr anchorCtr="0" anchor="t" bIns="45700" lIns="45700" spcFirstLastPara="1" rIns="45700" wrap="square" tIns="45700">
            <a:normAutofit fontScale="92500" lnSpcReduction="20000"/>
          </a:bodyPr>
          <a:lstStyle/>
          <a:p>
            <a:pPr indent="-220980" lvl="0" marL="228600" rtl="0" algn="l">
              <a:lnSpc>
                <a:spcPct val="100000"/>
              </a:lnSpc>
              <a:spcBef>
                <a:spcPts val="0"/>
              </a:spcBef>
              <a:spcAft>
                <a:spcPts val="0"/>
              </a:spcAft>
              <a:buClr>
                <a:srgbClr val="292929"/>
              </a:buClr>
              <a:buSzPct val="100000"/>
              <a:buAutoNum type="arabicPeriod"/>
            </a:pPr>
            <a:r>
              <a:rPr lang="en-US" sz="1600">
                <a:solidFill>
                  <a:srgbClr val="292929"/>
                </a:solidFill>
                <a:latin typeface="Arial"/>
                <a:ea typeface="Arial"/>
                <a:cs typeface="Arial"/>
                <a:sym typeface="Arial"/>
              </a:rPr>
              <a:t>Getting Response from API												 5. Create Dataframe</a:t>
            </a:r>
            <a:endParaRPr sz="1600">
              <a:solidFill>
                <a:srgbClr val="292929"/>
              </a:solidFill>
              <a:latin typeface="Arial"/>
              <a:ea typeface="Arial"/>
              <a:cs typeface="Arial"/>
              <a:sym typeface="Arial"/>
            </a:endParaRPr>
          </a:p>
          <a:p>
            <a:pPr indent="0" lvl="0" marL="0" rtl="0" algn="l">
              <a:lnSpc>
                <a:spcPct val="100000"/>
              </a:lnSpc>
              <a:spcBef>
                <a:spcPts val="0"/>
              </a:spcBef>
              <a:spcAft>
                <a:spcPts val="0"/>
              </a:spcAft>
              <a:buClr>
                <a:srgbClr val="212121"/>
              </a:buClr>
              <a:buSzPct val="98547"/>
              <a:buFont typeface="Helvetica Neue"/>
              <a:buNone/>
            </a:pPr>
            <a:r>
              <a:rPr i="1" lang="en-US" sz="1116">
                <a:solidFill>
                  <a:srgbClr val="212121"/>
                </a:solidFill>
              </a:rPr>
              <a:t>spacex_url</a:t>
            </a:r>
            <a:r>
              <a:rPr b="1" i="1" lang="en-US" sz="1116">
                <a:solidFill>
                  <a:srgbClr val="8250DF"/>
                </a:solidFill>
              </a:rPr>
              <a:t>=</a:t>
            </a:r>
            <a:r>
              <a:rPr i="1" lang="en-US" sz="1116">
                <a:solidFill>
                  <a:srgbClr val="BA2121"/>
                </a:solidFill>
                <a:latin typeface="Helvetica Neue"/>
                <a:ea typeface="Helvetica Neue"/>
                <a:cs typeface="Helvetica Neue"/>
                <a:sym typeface="Helvetica Neue"/>
              </a:rPr>
              <a:t>“</a:t>
            </a:r>
            <a:r>
              <a:rPr i="1" lang="en-US" sz="1116" u="sng">
                <a:solidFill>
                  <a:schemeClr val="hlink"/>
                </a:solidFill>
                <a:latin typeface="Helvetica Neue"/>
                <a:ea typeface="Helvetica Neue"/>
                <a:cs typeface="Helvetica Neue"/>
                <a:sym typeface="Helvetica Neue"/>
                <a:hlinkClick r:id="rId5"/>
              </a:rPr>
              <a:t>https://api.spacexdata.com/v4/launches/past</a:t>
            </a:r>
            <a:r>
              <a:rPr i="1" lang="en-US" sz="1116">
                <a:solidFill>
                  <a:srgbClr val="BA2121"/>
                </a:solidFill>
                <a:latin typeface="Helvetica Neue"/>
                <a:ea typeface="Helvetica Neue"/>
                <a:cs typeface="Helvetica Neue"/>
                <a:sym typeface="Helvetica Neue"/>
              </a:rPr>
              <a:t>"											</a:t>
            </a:r>
            <a:r>
              <a:rPr i="1" lang="en-US" sz="1000">
                <a:solidFill>
                  <a:schemeClr val="dk1"/>
                </a:solidFill>
                <a:latin typeface="Helvetica Neue"/>
                <a:ea typeface="Helvetica Neue"/>
                <a:cs typeface="Helvetica Neue"/>
                <a:sym typeface="Helvetica Neue"/>
              </a:rPr>
              <a:t>data=pd.DataFrame.from_dict(laucnh_dicy)</a:t>
            </a:r>
            <a:endParaRPr i="1" sz="1000">
              <a:solidFill>
                <a:schemeClr val="dk1"/>
              </a:solidFill>
            </a:endParaRPr>
          </a:p>
          <a:p>
            <a:pPr indent="0" lvl="0" marL="0" rtl="0" algn="l">
              <a:lnSpc>
                <a:spcPct val="100000"/>
              </a:lnSpc>
              <a:spcBef>
                <a:spcPts val="0"/>
              </a:spcBef>
              <a:spcAft>
                <a:spcPts val="0"/>
              </a:spcAft>
              <a:buClr>
                <a:srgbClr val="212121"/>
              </a:buClr>
              <a:buSzPct val="98547"/>
              <a:buFont typeface="Helvetica Neue"/>
              <a:buNone/>
            </a:pPr>
            <a:r>
              <a:rPr i="1" lang="en-US" sz="1116">
                <a:solidFill>
                  <a:srgbClr val="212121"/>
                </a:solidFill>
                <a:latin typeface="Helvetica Neue"/>
                <a:ea typeface="Helvetica Neue"/>
                <a:cs typeface="Helvetica Neue"/>
                <a:sym typeface="Helvetica Neue"/>
              </a:rPr>
              <a:t>response </a:t>
            </a:r>
            <a:r>
              <a:rPr b="1" i="1" lang="en-US" sz="1116">
                <a:solidFill>
                  <a:srgbClr val="8250DF"/>
                </a:solidFill>
              </a:rPr>
              <a:t>=</a:t>
            </a:r>
            <a:r>
              <a:rPr i="1" lang="en-US" sz="1116">
                <a:solidFill>
                  <a:srgbClr val="212121"/>
                </a:solidFill>
                <a:latin typeface="Helvetica Neue"/>
                <a:ea typeface="Helvetica Neue"/>
                <a:cs typeface="Helvetica Neue"/>
                <a:sym typeface="Helvetica Neue"/>
              </a:rPr>
              <a:t> requests</a:t>
            </a:r>
            <a:r>
              <a:rPr b="1" i="1" lang="en-US" sz="1116">
                <a:solidFill>
                  <a:srgbClr val="8250DF"/>
                </a:solidFill>
              </a:rPr>
              <a:t>.</a:t>
            </a:r>
            <a:r>
              <a:rPr i="1" lang="en-US" sz="1116">
                <a:solidFill>
                  <a:srgbClr val="212121"/>
                </a:solidFill>
                <a:latin typeface="Helvetica Neue"/>
                <a:ea typeface="Helvetica Neue"/>
                <a:cs typeface="Helvetica Neue"/>
                <a:sym typeface="Helvetica Neue"/>
              </a:rPr>
              <a:t>get</a:t>
            </a:r>
            <a:r>
              <a:rPr i="1" lang="en-US" sz="1116">
                <a:solidFill>
                  <a:srgbClr val="0055AA"/>
                </a:solidFill>
              </a:rPr>
              <a:t>(</a:t>
            </a:r>
            <a:r>
              <a:rPr i="1" lang="en-US" sz="1116">
                <a:solidFill>
                  <a:srgbClr val="212121"/>
                </a:solidFill>
                <a:latin typeface="Helvetica Neue"/>
                <a:ea typeface="Helvetica Neue"/>
                <a:cs typeface="Helvetica Neue"/>
                <a:sym typeface="Helvetica Neue"/>
              </a:rPr>
              <a:t>spacex_url</a:t>
            </a:r>
            <a:r>
              <a:rPr i="1" lang="en-US" sz="1116">
                <a:solidFill>
                  <a:srgbClr val="0055AA"/>
                </a:solidFill>
              </a:rPr>
              <a:t>)</a:t>
            </a:r>
            <a:endParaRPr i="1" sz="1116">
              <a:solidFill>
                <a:srgbClr val="0055AA"/>
              </a:solidFill>
            </a:endParaRPr>
          </a:p>
          <a:p>
            <a:pPr indent="0" lvl="0" marL="0" rtl="0" algn="l">
              <a:lnSpc>
                <a:spcPct val="100000"/>
              </a:lnSpc>
              <a:spcBef>
                <a:spcPts val="0"/>
              </a:spcBef>
              <a:spcAft>
                <a:spcPts val="0"/>
              </a:spcAft>
              <a:buClr>
                <a:srgbClr val="212121"/>
              </a:buClr>
              <a:buSzPct val="100000"/>
              <a:buFont typeface="Helvetica Neue"/>
              <a:buNone/>
            </a:pPr>
            <a:r>
              <a:t/>
            </a:r>
            <a:endParaRPr>
              <a:solidFill>
                <a:srgbClr val="0055AA"/>
              </a:solidFill>
            </a:endParaRPr>
          </a:p>
          <a:p>
            <a:pPr indent="0" lvl="0" marL="0" rtl="0" algn="l">
              <a:lnSpc>
                <a:spcPct val="100000"/>
              </a:lnSpc>
              <a:spcBef>
                <a:spcPts val="0"/>
              </a:spcBef>
              <a:spcAft>
                <a:spcPts val="0"/>
              </a:spcAft>
              <a:buClr>
                <a:srgbClr val="212121"/>
              </a:buClr>
              <a:buSzPct val="100000"/>
              <a:buFont typeface="Helvetica Neue"/>
              <a:buNone/>
            </a:pPr>
            <a:r>
              <a:t/>
            </a:r>
            <a:endParaRPr>
              <a:solidFill>
                <a:srgbClr val="0055AA"/>
              </a:solidFill>
            </a:endParaRPr>
          </a:p>
          <a:p>
            <a:pPr indent="-50799" lvl="0" marL="228599" rtl="0" algn="l">
              <a:lnSpc>
                <a:spcPct val="100000"/>
              </a:lnSpc>
              <a:spcBef>
                <a:spcPts val="0"/>
              </a:spcBef>
              <a:spcAft>
                <a:spcPts val="0"/>
              </a:spcAft>
              <a:buClr>
                <a:srgbClr val="212121"/>
              </a:buClr>
              <a:buSzPct val="100000"/>
              <a:buFont typeface="Helvetica Neue"/>
              <a:buNone/>
            </a:pPr>
            <a:r>
              <a:t/>
            </a:r>
            <a:endParaRPr>
              <a:solidFill>
                <a:srgbClr val="0055AA"/>
              </a:solidFill>
            </a:endParaRPr>
          </a:p>
          <a:p>
            <a:pPr indent="-220979" lvl="0" marL="228599" rtl="0" algn="l">
              <a:lnSpc>
                <a:spcPct val="100000"/>
              </a:lnSpc>
              <a:spcBef>
                <a:spcPts val="0"/>
              </a:spcBef>
              <a:spcAft>
                <a:spcPts val="0"/>
              </a:spcAft>
              <a:buClr>
                <a:srgbClr val="000000"/>
              </a:buClr>
              <a:buSzPct val="100000"/>
              <a:buFont typeface="Arial"/>
              <a:buAutoNum type="arabicPeriod" startAt="2"/>
            </a:pPr>
            <a:r>
              <a:rPr lang="en-US" sz="1600">
                <a:latin typeface="Arial"/>
                <a:ea typeface="Arial"/>
                <a:cs typeface="Arial"/>
                <a:sym typeface="Arial"/>
              </a:rPr>
              <a:t>Convert Response to JSON file</a:t>
            </a:r>
            <a:endParaRPr/>
          </a:p>
          <a:p>
            <a:pPr indent="0" lvl="0" marL="0" rtl="0" algn="l">
              <a:lnSpc>
                <a:spcPct val="100000"/>
              </a:lnSpc>
              <a:spcBef>
                <a:spcPts val="0"/>
              </a:spcBef>
              <a:spcAft>
                <a:spcPts val="0"/>
              </a:spcAft>
              <a:buClr>
                <a:srgbClr val="212121"/>
              </a:buClr>
              <a:buSzPct val="104762"/>
              <a:buFont typeface="Helvetica Neue"/>
              <a:buNone/>
            </a:pPr>
            <a:r>
              <a:rPr i="1" lang="en-US" sz="1050">
                <a:solidFill>
                  <a:srgbClr val="212121"/>
                </a:solidFill>
                <a:latin typeface="Helvetica Neue"/>
                <a:ea typeface="Helvetica Neue"/>
                <a:cs typeface="Helvetica Neue"/>
                <a:sym typeface="Helvetica Neue"/>
              </a:rPr>
              <a:t>response </a:t>
            </a:r>
            <a:r>
              <a:rPr b="1" i="1" lang="en-US" sz="1050">
                <a:solidFill>
                  <a:srgbClr val="8250DF"/>
                </a:solidFill>
              </a:rPr>
              <a:t>=</a:t>
            </a:r>
            <a:r>
              <a:rPr i="1" lang="en-US" sz="1050">
                <a:solidFill>
                  <a:srgbClr val="212121"/>
                </a:solidFill>
                <a:latin typeface="Helvetica Neue"/>
                <a:ea typeface="Helvetica Neue"/>
                <a:cs typeface="Helvetica Neue"/>
                <a:sym typeface="Helvetica Neue"/>
              </a:rPr>
              <a:t> requests</a:t>
            </a:r>
            <a:r>
              <a:rPr b="1" i="1" lang="en-US" sz="1050">
                <a:solidFill>
                  <a:srgbClr val="8250DF"/>
                </a:solidFill>
              </a:rPr>
              <a:t>.</a:t>
            </a:r>
            <a:r>
              <a:rPr i="1" lang="en-US" sz="1050">
                <a:solidFill>
                  <a:srgbClr val="212121"/>
                </a:solidFill>
                <a:latin typeface="Helvetica Neue"/>
                <a:ea typeface="Helvetica Neue"/>
                <a:cs typeface="Helvetica Neue"/>
                <a:sym typeface="Helvetica Neue"/>
              </a:rPr>
              <a:t>get</a:t>
            </a:r>
            <a:r>
              <a:rPr i="1" lang="en-US" sz="1050">
                <a:solidFill>
                  <a:srgbClr val="0055AA"/>
                </a:solidFill>
              </a:rPr>
              <a:t>(</a:t>
            </a:r>
            <a:r>
              <a:rPr i="1" lang="en-US" sz="1050">
                <a:solidFill>
                  <a:srgbClr val="212121"/>
                </a:solidFill>
                <a:latin typeface="Helvetica Neue"/>
                <a:ea typeface="Helvetica Neue"/>
                <a:cs typeface="Helvetica Neue"/>
                <a:sym typeface="Helvetica Neue"/>
              </a:rPr>
              <a:t>static_json_url</a:t>
            </a:r>
            <a:r>
              <a:rPr i="1" lang="en-US" sz="1050">
                <a:solidFill>
                  <a:srgbClr val="0055AA"/>
                </a:solidFill>
              </a:rPr>
              <a:t>)</a:t>
            </a:r>
            <a:r>
              <a:rPr b="1" i="1" lang="en-US" sz="1050">
                <a:solidFill>
                  <a:srgbClr val="8250DF"/>
                </a:solidFill>
              </a:rPr>
              <a:t>.</a:t>
            </a:r>
            <a:r>
              <a:rPr i="1" lang="en-US" sz="1050">
                <a:solidFill>
                  <a:srgbClr val="212121"/>
                </a:solidFill>
                <a:latin typeface="Helvetica Neue"/>
                <a:ea typeface="Helvetica Neue"/>
                <a:cs typeface="Helvetica Neue"/>
                <a:sym typeface="Helvetica Neue"/>
              </a:rPr>
              <a:t>json</a:t>
            </a:r>
            <a:r>
              <a:rPr i="1" lang="en-US" sz="1050">
                <a:solidFill>
                  <a:srgbClr val="0055AA"/>
                </a:solidFill>
              </a:rPr>
              <a:t>()</a:t>
            </a:r>
            <a:endParaRPr i="1" sz="1050"/>
          </a:p>
          <a:p>
            <a:pPr indent="0" lvl="0" marL="0" rtl="0" algn="l">
              <a:lnSpc>
                <a:spcPct val="100000"/>
              </a:lnSpc>
              <a:spcBef>
                <a:spcPts val="0"/>
              </a:spcBef>
              <a:spcAft>
                <a:spcPts val="0"/>
              </a:spcAft>
              <a:buClr>
                <a:srgbClr val="212121"/>
              </a:buClr>
              <a:buSzPct val="104762"/>
              <a:buFont typeface="Helvetica Neue"/>
              <a:buNone/>
            </a:pPr>
            <a:r>
              <a:rPr i="1" lang="en-US" sz="1050">
                <a:solidFill>
                  <a:srgbClr val="212121"/>
                </a:solidFill>
                <a:latin typeface="Helvetica Neue"/>
                <a:ea typeface="Helvetica Neue"/>
                <a:cs typeface="Helvetica Neue"/>
                <a:sym typeface="Helvetica Neue"/>
              </a:rPr>
              <a:t>data </a:t>
            </a:r>
            <a:r>
              <a:rPr b="1" i="1" lang="en-US" sz="1050">
                <a:solidFill>
                  <a:srgbClr val="8250DF"/>
                </a:solidFill>
              </a:rPr>
              <a:t>=</a:t>
            </a:r>
            <a:r>
              <a:rPr i="1" lang="en-US" sz="1050">
                <a:solidFill>
                  <a:srgbClr val="212121"/>
                </a:solidFill>
                <a:latin typeface="Helvetica Neue"/>
                <a:ea typeface="Helvetica Neue"/>
                <a:cs typeface="Helvetica Neue"/>
                <a:sym typeface="Helvetica Neue"/>
              </a:rPr>
              <a:t> pd</a:t>
            </a:r>
            <a:r>
              <a:rPr b="1" i="1" lang="en-US" sz="1050">
                <a:solidFill>
                  <a:srgbClr val="8250DF"/>
                </a:solidFill>
              </a:rPr>
              <a:t>.</a:t>
            </a:r>
            <a:r>
              <a:rPr i="1" lang="en-US" sz="1050">
                <a:solidFill>
                  <a:srgbClr val="212121"/>
                </a:solidFill>
                <a:latin typeface="Helvetica Neue"/>
                <a:ea typeface="Helvetica Neue"/>
                <a:cs typeface="Helvetica Neue"/>
                <a:sym typeface="Helvetica Neue"/>
              </a:rPr>
              <a:t>json_normalize</a:t>
            </a:r>
            <a:r>
              <a:rPr i="1" lang="en-US" sz="1050">
                <a:solidFill>
                  <a:srgbClr val="0055AA"/>
                </a:solidFill>
              </a:rPr>
              <a:t>(</a:t>
            </a:r>
            <a:r>
              <a:rPr i="1" lang="en-US" sz="1050">
                <a:solidFill>
                  <a:srgbClr val="212121"/>
                </a:solidFill>
                <a:latin typeface="Helvetica Neue"/>
                <a:ea typeface="Helvetica Neue"/>
                <a:cs typeface="Helvetica Neue"/>
                <a:sym typeface="Helvetica Neue"/>
              </a:rPr>
              <a:t>response</a:t>
            </a:r>
            <a:r>
              <a:rPr i="1" lang="en-US" sz="1050">
                <a:solidFill>
                  <a:srgbClr val="0055AA"/>
                </a:solidFill>
              </a:rPr>
              <a:t>) </a:t>
            </a:r>
            <a:r>
              <a:rPr lang="en-US" sz="1050">
                <a:solidFill>
                  <a:srgbClr val="0055AA"/>
                </a:solidFill>
              </a:rPr>
              <a:t> </a:t>
            </a:r>
            <a:r>
              <a:rPr lang="en-US">
                <a:solidFill>
                  <a:srgbClr val="0055AA"/>
                </a:solidFill>
              </a:rPr>
              <a:t>            </a:t>
            </a:r>
            <a:r>
              <a:rPr lang="en-US" sz="1600">
                <a:solidFill>
                  <a:srgbClr val="000000"/>
                </a:solidFill>
              </a:rPr>
              <a:t>4. Create dictionary with data						6.Filter dataframe</a:t>
            </a:r>
            <a:endParaRPr sz="1600"/>
          </a:p>
          <a:p>
            <a:pPr indent="0" lvl="0" marL="0" rtl="0" algn="l">
              <a:lnSpc>
                <a:spcPct val="100000"/>
              </a:lnSpc>
              <a:spcBef>
                <a:spcPts val="0"/>
              </a:spcBef>
              <a:spcAft>
                <a:spcPts val="0"/>
              </a:spcAft>
              <a:buClr>
                <a:srgbClr val="212121"/>
              </a:buClr>
              <a:buSzPct val="266667"/>
              <a:buFont typeface="Helvetica Neue"/>
              <a:buNone/>
            </a:pPr>
            <a:r>
              <a:rPr lang="en-US">
                <a:solidFill>
                  <a:srgbClr val="0055AA"/>
                </a:solidFill>
              </a:rPr>
              <a:t>																	</a:t>
            </a:r>
            <a:r>
              <a:rPr i="1" lang="en-US" sz="1050">
                <a:solidFill>
                  <a:schemeClr val="dk1"/>
                </a:solidFill>
              </a:rPr>
              <a:t>data_falcon9 = data[dara[‘RoosterVersion’]!=’Falcon1’]</a:t>
            </a:r>
            <a:endParaRPr i="1" sz="1050">
              <a:solidFill>
                <a:schemeClr val="dk1"/>
              </a:solidFill>
            </a:endParaRPr>
          </a:p>
          <a:p>
            <a:pPr indent="0" lvl="0" marL="0" rtl="0" algn="l">
              <a:lnSpc>
                <a:spcPct val="100000"/>
              </a:lnSpc>
              <a:spcBef>
                <a:spcPts val="0"/>
              </a:spcBef>
              <a:spcAft>
                <a:spcPts val="0"/>
              </a:spcAft>
              <a:buClr>
                <a:srgbClr val="0055AA"/>
              </a:buClr>
              <a:buSzPct val="100000"/>
              <a:buFont typeface="Helvetica Neue"/>
              <a:buNone/>
            </a:pPr>
            <a:r>
              <a:t/>
            </a:r>
            <a:endParaRPr i="1">
              <a:solidFill>
                <a:srgbClr val="0055AA"/>
              </a:solidFill>
            </a:endParaRPr>
          </a:p>
          <a:p>
            <a:pPr indent="0" lvl="0" marL="0" rtl="0" algn="l">
              <a:lnSpc>
                <a:spcPct val="100000"/>
              </a:lnSpc>
              <a:spcBef>
                <a:spcPts val="0"/>
              </a:spcBef>
              <a:spcAft>
                <a:spcPts val="0"/>
              </a:spcAft>
              <a:buClr>
                <a:srgbClr val="0055AA"/>
              </a:buClr>
              <a:buSzPct val="100000"/>
              <a:buFont typeface="Helvetica Neue"/>
              <a:buNone/>
            </a:pPr>
            <a:r>
              <a:t/>
            </a:r>
            <a:endParaRPr>
              <a:solidFill>
                <a:srgbClr val="0055AA"/>
              </a:solidFill>
            </a:endParaRPr>
          </a:p>
          <a:p>
            <a:pPr indent="0" lvl="0" marL="0" rtl="0" algn="l">
              <a:lnSpc>
                <a:spcPct val="100000"/>
              </a:lnSpc>
              <a:spcBef>
                <a:spcPts val="0"/>
              </a:spcBef>
              <a:spcAft>
                <a:spcPts val="0"/>
              </a:spcAft>
              <a:buClr>
                <a:srgbClr val="0055AA"/>
              </a:buClr>
              <a:buSzPct val="100000"/>
              <a:buFont typeface="Helvetica Neue"/>
              <a:buNone/>
            </a:pPr>
            <a:r>
              <a:t/>
            </a:r>
            <a:endParaRPr>
              <a:solidFill>
                <a:srgbClr val="0055AA"/>
              </a:solidFill>
            </a:endParaRPr>
          </a:p>
          <a:p>
            <a:pPr indent="-220980" lvl="0" marL="228600" rtl="0" algn="l">
              <a:lnSpc>
                <a:spcPct val="100000"/>
              </a:lnSpc>
              <a:spcBef>
                <a:spcPts val="0"/>
              </a:spcBef>
              <a:spcAft>
                <a:spcPts val="0"/>
              </a:spcAft>
              <a:buClr>
                <a:srgbClr val="000000"/>
              </a:buClr>
              <a:buSzPct val="100000"/>
              <a:buFont typeface="Helvetica Neue"/>
              <a:buAutoNum type="arabicPeriod" startAt="3"/>
            </a:pPr>
            <a:r>
              <a:rPr lang="en-US" sz="1600">
                <a:latin typeface="Helvetica Neue"/>
                <a:ea typeface="Helvetica Neue"/>
                <a:cs typeface="Helvetica Neue"/>
                <a:sym typeface="Helvetica Neue"/>
              </a:rPr>
              <a:t>Transform data														</a:t>
            </a:r>
            <a:endParaRPr sz="1600">
              <a:latin typeface="Helvetica Neue"/>
              <a:ea typeface="Helvetica Neue"/>
              <a:cs typeface="Helvetica Neue"/>
              <a:sym typeface="Helvetica Neue"/>
            </a:endParaRPr>
          </a:p>
          <a:p>
            <a:pPr indent="0" lvl="0" marL="0" rtl="0" algn="l">
              <a:lnSpc>
                <a:spcPct val="100000"/>
              </a:lnSpc>
              <a:spcBef>
                <a:spcPts val="0"/>
              </a:spcBef>
              <a:spcAft>
                <a:spcPts val="0"/>
              </a:spcAft>
              <a:buClr>
                <a:srgbClr val="212121"/>
              </a:buClr>
              <a:buSzPct val="110000"/>
              <a:buFont typeface="Courier"/>
              <a:buNone/>
            </a:pPr>
            <a:r>
              <a:rPr i="1" lang="en-US" sz="1000">
                <a:solidFill>
                  <a:srgbClr val="212121"/>
                </a:solidFill>
                <a:latin typeface="Courier"/>
                <a:ea typeface="Courier"/>
                <a:cs typeface="Courier"/>
                <a:sym typeface="Courier"/>
              </a:rPr>
              <a:t>getBoosterVersion</a:t>
            </a:r>
            <a:r>
              <a:rPr i="1" lang="en-US" sz="1000">
                <a:solidFill>
                  <a:srgbClr val="0055AA"/>
                </a:solidFill>
              </a:rPr>
              <a:t>(</a:t>
            </a:r>
            <a:r>
              <a:rPr i="1" lang="en-US" sz="1000">
                <a:solidFill>
                  <a:srgbClr val="212121"/>
                </a:solidFill>
                <a:latin typeface="Courier"/>
                <a:ea typeface="Courier"/>
                <a:cs typeface="Courier"/>
                <a:sym typeface="Courier"/>
              </a:rPr>
              <a:t>data</a:t>
            </a:r>
            <a:r>
              <a:rPr i="1" lang="en-US" sz="1000">
                <a:solidFill>
                  <a:srgbClr val="0055AA"/>
                </a:solidFill>
              </a:rPr>
              <a:t>)</a:t>
            </a:r>
            <a:endParaRPr i="1" sz="1000">
              <a:solidFill>
                <a:srgbClr val="0055AA"/>
              </a:solidFill>
            </a:endParaRPr>
          </a:p>
          <a:p>
            <a:pPr indent="0" lvl="0" marL="0" rtl="0" algn="l">
              <a:lnSpc>
                <a:spcPct val="100000"/>
              </a:lnSpc>
              <a:spcBef>
                <a:spcPts val="0"/>
              </a:spcBef>
              <a:spcAft>
                <a:spcPts val="0"/>
              </a:spcAft>
              <a:buClr>
                <a:srgbClr val="212121"/>
              </a:buClr>
              <a:buSzPct val="110000"/>
              <a:buFont typeface="Courier"/>
              <a:buNone/>
            </a:pPr>
            <a:r>
              <a:rPr i="1" lang="en-US" sz="1000">
                <a:solidFill>
                  <a:srgbClr val="212121"/>
                </a:solidFill>
                <a:latin typeface="Courier"/>
                <a:ea typeface="Courier"/>
                <a:cs typeface="Courier"/>
                <a:sym typeface="Courier"/>
              </a:rPr>
              <a:t>getLaunchSite</a:t>
            </a:r>
            <a:r>
              <a:rPr i="1" lang="en-US" sz="1000">
                <a:solidFill>
                  <a:srgbClr val="0055AA"/>
                </a:solidFill>
              </a:rPr>
              <a:t>(</a:t>
            </a:r>
            <a:r>
              <a:rPr i="1" lang="en-US" sz="1000">
                <a:solidFill>
                  <a:srgbClr val="212121"/>
                </a:solidFill>
                <a:latin typeface="Courier"/>
                <a:ea typeface="Courier"/>
                <a:cs typeface="Courier"/>
                <a:sym typeface="Courier"/>
              </a:rPr>
              <a:t>data</a:t>
            </a:r>
            <a:r>
              <a:rPr i="1" lang="en-US" sz="1000">
                <a:solidFill>
                  <a:srgbClr val="0055AA"/>
                </a:solidFill>
              </a:rPr>
              <a:t>)															</a:t>
            </a:r>
            <a:r>
              <a:rPr lang="en-US" sz="1541">
                <a:solidFill>
                  <a:schemeClr val="dk1"/>
                </a:solidFill>
              </a:rPr>
              <a:t>7. Export to file</a:t>
            </a:r>
            <a:endParaRPr i="1" sz="1050">
              <a:solidFill>
                <a:schemeClr val="dk1"/>
              </a:solidFill>
            </a:endParaRPr>
          </a:p>
          <a:p>
            <a:pPr indent="0" lvl="0" marL="0" rtl="0" algn="l">
              <a:lnSpc>
                <a:spcPct val="100000"/>
              </a:lnSpc>
              <a:spcBef>
                <a:spcPts val="0"/>
              </a:spcBef>
              <a:spcAft>
                <a:spcPts val="0"/>
              </a:spcAft>
              <a:buClr>
                <a:srgbClr val="212121"/>
              </a:buClr>
              <a:buSzPct val="110000"/>
              <a:buFont typeface="Courier"/>
              <a:buNone/>
            </a:pPr>
            <a:r>
              <a:rPr i="1" lang="en-US" sz="1000">
                <a:solidFill>
                  <a:srgbClr val="212121"/>
                </a:solidFill>
                <a:latin typeface="Courier"/>
                <a:ea typeface="Courier"/>
                <a:cs typeface="Courier"/>
                <a:sym typeface="Courier"/>
              </a:rPr>
              <a:t>getPayloadData</a:t>
            </a:r>
            <a:r>
              <a:rPr i="1" lang="en-US" sz="1000">
                <a:solidFill>
                  <a:srgbClr val="0055AA"/>
                </a:solidFill>
              </a:rPr>
              <a:t>(</a:t>
            </a:r>
            <a:r>
              <a:rPr i="1" lang="en-US" sz="1000">
                <a:solidFill>
                  <a:srgbClr val="212121"/>
                </a:solidFill>
                <a:latin typeface="Courier"/>
                <a:ea typeface="Courier"/>
                <a:cs typeface="Courier"/>
                <a:sym typeface="Courier"/>
              </a:rPr>
              <a:t>data</a:t>
            </a:r>
            <a:r>
              <a:rPr i="1" lang="en-US" sz="1000">
                <a:solidFill>
                  <a:srgbClr val="0055AA"/>
                </a:solidFill>
              </a:rPr>
              <a:t>)															</a:t>
            </a:r>
            <a:r>
              <a:rPr i="1" lang="en-US" sz="1000">
                <a:solidFill>
                  <a:srgbClr val="212121"/>
                </a:solidFill>
              </a:rPr>
              <a:t>data_falcon9.to_csv(‘dataset_part_1.csv’, index=False)</a:t>
            </a:r>
            <a:endParaRPr i="1" sz="1000">
              <a:solidFill>
                <a:srgbClr val="212121"/>
              </a:solidFill>
            </a:endParaRPr>
          </a:p>
          <a:p>
            <a:pPr indent="0" lvl="0" marL="0" rtl="0" algn="l">
              <a:lnSpc>
                <a:spcPct val="100000"/>
              </a:lnSpc>
              <a:spcBef>
                <a:spcPts val="0"/>
              </a:spcBef>
              <a:spcAft>
                <a:spcPts val="0"/>
              </a:spcAft>
              <a:buClr>
                <a:srgbClr val="212121"/>
              </a:buClr>
              <a:buSzPct val="110000"/>
              <a:buFont typeface="Courier"/>
              <a:buNone/>
            </a:pPr>
            <a:r>
              <a:rPr i="1" lang="en-US" sz="1000">
                <a:solidFill>
                  <a:srgbClr val="212121"/>
                </a:solidFill>
                <a:latin typeface="Courier"/>
                <a:ea typeface="Courier"/>
                <a:cs typeface="Courier"/>
                <a:sym typeface="Courier"/>
              </a:rPr>
              <a:t>getCoreData</a:t>
            </a:r>
            <a:r>
              <a:rPr i="1" lang="en-US" sz="1000">
                <a:solidFill>
                  <a:srgbClr val="0055AA"/>
                </a:solidFill>
              </a:rPr>
              <a:t>(</a:t>
            </a:r>
            <a:r>
              <a:rPr i="1" lang="en-US" sz="1000">
                <a:solidFill>
                  <a:srgbClr val="212121"/>
                </a:solidFill>
                <a:latin typeface="Courier"/>
                <a:ea typeface="Courier"/>
                <a:cs typeface="Courier"/>
                <a:sym typeface="Courier"/>
              </a:rPr>
              <a:t>data</a:t>
            </a:r>
            <a:r>
              <a:rPr i="1" lang="en-US" sz="1000">
                <a:solidFill>
                  <a:srgbClr val="0055AA"/>
                </a:solidFill>
              </a:rPr>
              <a:t>)</a:t>
            </a:r>
            <a:endParaRPr i="1" sz="1000"/>
          </a:p>
          <a:p>
            <a:pPr indent="0" lvl="0" marL="0" rtl="0" algn="l">
              <a:lnSpc>
                <a:spcPct val="100000"/>
              </a:lnSpc>
              <a:spcBef>
                <a:spcPts val="0"/>
              </a:spcBef>
              <a:spcAft>
                <a:spcPts val="0"/>
              </a:spcAft>
              <a:buClr>
                <a:srgbClr val="212121"/>
              </a:buClr>
              <a:buSzPct val="39286"/>
              <a:buFont typeface="Courier"/>
              <a:buNone/>
            </a:pPr>
            <a:r>
              <a:t/>
            </a:r>
            <a:endParaRPr>
              <a:solidFill>
                <a:srgbClr val="0055AA"/>
              </a:solidFill>
            </a:endParaRPr>
          </a:p>
          <a:p>
            <a:pPr indent="0" lvl="0" marL="0" rtl="0" algn="l">
              <a:lnSpc>
                <a:spcPct val="100000"/>
              </a:lnSpc>
              <a:spcBef>
                <a:spcPts val="0"/>
              </a:spcBef>
              <a:spcAft>
                <a:spcPts val="0"/>
              </a:spcAft>
              <a:buClr>
                <a:srgbClr val="212121"/>
              </a:buClr>
              <a:buSzPct val="39286"/>
              <a:buFont typeface="Courier"/>
              <a:buNone/>
            </a:pPr>
            <a:r>
              <a:t/>
            </a:r>
            <a:endParaRPr>
              <a:solidFill>
                <a:srgbClr val="0055AA"/>
              </a:solidFill>
            </a:endParaRPr>
          </a:p>
        </p:txBody>
      </p:sp>
      <p:sp>
        <p:nvSpPr>
          <p:cNvPr id="128" name="Google Shape;128;p22"/>
          <p:cNvSpPr txBox="1"/>
          <p:nvPr/>
        </p:nvSpPr>
        <p:spPr>
          <a:xfrm>
            <a:off x="883920" y="63009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Data Collection - SpaceX API</a:t>
            </a:r>
            <a:endParaRPr/>
          </a:p>
        </p:txBody>
      </p:sp>
      <p:cxnSp>
        <p:nvCxnSpPr>
          <p:cNvPr id="129" name="Google Shape;129;p22"/>
          <p:cNvCxnSpPr/>
          <p:nvPr/>
        </p:nvCxnSpPr>
        <p:spPr>
          <a:xfrm flipH="1">
            <a:off x="1696920" y="2019921"/>
            <a:ext cx="18000" cy="727200"/>
          </a:xfrm>
          <a:prstGeom prst="straightConnector1">
            <a:avLst/>
          </a:prstGeom>
          <a:noFill/>
          <a:ln cap="flat" cmpd="sng" w="12700">
            <a:solidFill>
              <a:schemeClr val="accent1"/>
            </a:solidFill>
            <a:prstDash val="solid"/>
            <a:miter lim="8000"/>
            <a:headEnd len="sm" w="sm" type="none"/>
            <a:tailEnd len="med" w="med" type="triangle"/>
          </a:ln>
        </p:spPr>
      </p:cxnSp>
      <p:cxnSp>
        <p:nvCxnSpPr>
          <p:cNvPr id="130" name="Google Shape;130;p22"/>
          <p:cNvCxnSpPr/>
          <p:nvPr/>
        </p:nvCxnSpPr>
        <p:spPr>
          <a:xfrm flipH="1">
            <a:off x="1656425" y="3636050"/>
            <a:ext cx="9300" cy="979800"/>
          </a:xfrm>
          <a:prstGeom prst="straightConnector1">
            <a:avLst/>
          </a:prstGeom>
          <a:noFill/>
          <a:ln cap="flat" cmpd="sng" w="12700">
            <a:solidFill>
              <a:schemeClr val="accent1"/>
            </a:solidFill>
            <a:prstDash val="solid"/>
            <a:miter lim="8000"/>
            <a:headEnd len="sm" w="sm" type="none"/>
            <a:tailEnd len="med" w="med" type="triangle"/>
          </a:ln>
        </p:spPr>
      </p:cxnSp>
      <p:pic>
        <p:nvPicPr>
          <p:cNvPr descr="Screenshot 2026-05-27 at 6.18.38 PM.png" id="131" name="Google Shape;131;p22"/>
          <p:cNvPicPr preferRelativeResize="0"/>
          <p:nvPr/>
        </p:nvPicPr>
        <p:blipFill rotWithShape="1">
          <a:blip r:embed="rId6">
            <a:alphaModFix/>
          </a:blip>
          <a:srcRect b="299" l="0" r="0" t="299"/>
          <a:stretch/>
        </p:blipFill>
        <p:spPr>
          <a:xfrm>
            <a:off x="3988862" y="3524956"/>
            <a:ext cx="3900138" cy="2290806"/>
          </a:xfrm>
          <a:prstGeom prst="rect">
            <a:avLst/>
          </a:prstGeom>
          <a:noFill/>
          <a:ln>
            <a:noFill/>
          </a:ln>
        </p:spPr>
      </p:pic>
      <p:cxnSp>
        <p:nvCxnSpPr>
          <p:cNvPr id="132" name="Google Shape;132;p22"/>
          <p:cNvCxnSpPr/>
          <p:nvPr/>
        </p:nvCxnSpPr>
        <p:spPr>
          <a:xfrm flipH="1" rot="10800000">
            <a:off x="2605273" y="3974789"/>
            <a:ext cx="1269900" cy="1269900"/>
          </a:xfrm>
          <a:prstGeom prst="straightConnector1">
            <a:avLst/>
          </a:prstGeom>
          <a:noFill/>
          <a:ln cap="flat" cmpd="sng" w="12700">
            <a:solidFill>
              <a:schemeClr val="accent1"/>
            </a:solidFill>
            <a:prstDash val="solid"/>
            <a:miter lim="8000"/>
            <a:headEnd len="sm" w="sm" type="none"/>
            <a:tailEnd len="med" w="med" type="triangle"/>
          </a:ln>
        </p:spPr>
      </p:cxnSp>
      <p:cxnSp>
        <p:nvCxnSpPr>
          <p:cNvPr id="133" name="Google Shape;133;p22"/>
          <p:cNvCxnSpPr/>
          <p:nvPr/>
        </p:nvCxnSpPr>
        <p:spPr>
          <a:xfrm flipH="1" rot="10800000">
            <a:off x="7636479" y="1858315"/>
            <a:ext cx="1089900" cy="1540200"/>
          </a:xfrm>
          <a:prstGeom prst="straightConnector1">
            <a:avLst/>
          </a:prstGeom>
          <a:noFill/>
          <a:ln cap="flat" cmpd="sng" w="12700">
            <a:solidFill>
              <a:schemeClr val="accent1"/>
            </a:solidFill>
            <a:prstDash val="solid"/>
            <a:miter lim="8000"/>
            <a:headEnd len="sm" w="sm" type="none"/>
            <a:tailEnd len="med" w="med" type="triangle"/>
          </a:ln>
        </p:spPr>
      </p:cxnSp>
      <p:cxnSp>
        <p:nvCxnSpPr>
          <p:cNvPr id="134" name="Google Shape;134;p22"/>
          <p:cNvCxnSpPr/>
          <p:nvPr/>
        </p:nvCxnSpPr>
        <p:spPr>
          <a:xfrm flipH="1">
            <a:off x="9554650" y="1865725"/>
            <a:ext cx="27900" cy="1035600"/>
          </a:xfrm>
          <a:prstGeom prst="straightConnector1">
            <a:avLst/>
          </a:prstGeom>
          <a:noFill/>
          <a:ln cap="flat" cmpd="sng" w="9525">
            <a:solidFill>
              <a:srgbClr val="0B49CB"/>
            </a:solidFill>
            <a:prstDash val="solid"/>
            <a:round/>
            <a:headEnd len="med" w="med" type="none"/>
            <a:tailEnd len="med" w="med" type="triangle"/>
          </a:ln>
        </p:spPr>
      </p:cxnSp>
      <p:cxnSp>
        <p:nvCxnSpPr>
          <p:cNvPr id="135" name="Google Shape;135;p22"/>
          <p:cNvCxnSpPr/>
          <p:nvPr/>
        </p:nvCxnSpPr>
        <p:spPr>
          <a:xfrm>
            <a:off x="9573200" y="3760225"/>
            <a:ext cx="18600" cy="9984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23"/>
          <p:cNvSpPr txBox="1"/>
          <p:nvPr>
            <p:ph idx="4294967295" type="sldNum"/>
          </p:nvPr>
        </p:nvSpPr>
        <p:spPr>
          <a:xfrm>
            <a:off x="11240821" y="6060022"/>
            <a:ext cx="21715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141" name="Google Shape;141;p23"/>
          <p:cNvSpPr txBox="1"/>
          <p:nvPr>
            <p:ph idx="4294967295" type="body"/>
          </p:nvPr>
        </p:nvSpPr>
        <p:spPr>
          <a:xfrm>
            <a:off x="5733732" y="1483127"/>
            <a:ext cx="5736273" cy="4964896"/>
          </a:xfrm>
          <a:prstGeom prst="rect">
            <a:avLst/>
          </a:prstGeom>
          <a:noFill/>
          <a:ln cap="flat" cmpd="sng" w="9525">
            <a:solidFill>
              <a:srgbClr val="0B49CB"/>
            </a:solidFill>
            <a:prstDash val="dash"/>
            <a:round/>
            <a:headEnd len="sm" w="sm" type="none"/>
            <a:tailEnd len="sm" w="sm" type="none"/>
          </a:ln>
        </p:spPr>
        <p:txBody>
          <a:bodyPr anchorCtr="0" anchor="t" bIns="45700" lIns="45700" spcFirstLastPara="1" rIns="45700" wrap="square" tIns="45700">
            <a:normAutofit/>
          </a:bodyPr>
          <a:lstStyle/>
          <a:p>
            <a:pPr indent="0" lvl="0" marL="0" rtl="0" algn="l">
              <a:lnSpc>
                <a:spcPct val="90000"/>
              </a:lnSpc>
              <a:spcBef>
                <a:spcPts val="0"/>
              </a:spcBef>
              <a:spcAft>
                <a:spcPts val="0"/>
              </a:spcAft>
              <a:buClr>
                <a:srgbClr val="1C7DDB"/>
              </a:buClr>
              <a:buSzPts val="2200"/>
              <a:buNone/>
            </a:pPr>
            <a:r>
              <a:t/>
            </a:r>
            <a:endParaRPr sz="2200">
              <a:solidFill>
                <a:srgbClr val="1C7DDB"/>
              </a:solidFill>
              <a:latin typeface="Arial"/>
              <a:ea typeface="Arial"/>
              <a:cs typeface="Arial"/>
              <a:sym typeface="Arial"/>
            </a:endParaRPr>
          </a:p>
          <a:p>
            <a:pPr indent="0" lvl="0" marL="0" rtl="0" algn="l">
              <a:lnSpc>
                <a:spcPct val="90000"/>
              </a:lnSpc>
              <a:spcBef>
                <a:spcPts val="1000"/>
              </a:spcBef>
              <a:spcAft>
                <a:spcPts val="0"/>
              </a:spcAft>
              <a:buClr>
                <a:srgbClr val="1C7DDB"/>
              </a:buClr>
              <a:buSzPts val="2200"/>
              <a:buNone/>
            </a:pPr>
            <a:r>
              <a:t/>
            </a:r>
            <a:endParaRPr sz="2200">
              <a:solidFill>
                <a:srgbClr val="1C7DDB"/>
              </a:solidFill>
              <a:latin typeface="Arial"/>
              <a:ea typeface="Arial"/>
              <a:cs typeface="Arial"/>
              <a:sym typeface="Arial"/>
            </a:endParaRPr>
          </a:p>
          <a:p>
            <a:pPr indent="0" lvl="0" marL="0" rtl="0" algn="l">
              <a:lnSpc>
                <a:spcPct val="90000"/>
              </a:lnSpc>
              <a:spcBef>
                <a:spcPts val="1000"/>
              </a:spcBef>
              <a:spcAft>
                <a:spcPts val="0"/>
              </a:spcAft>
              <a:buClr>
                <a:srgbClr val="1C7DDB"/>
              </a:buClr>
              <a:buSzPts val="2200"/>
              <a:buNone/>
            </a:pPr>
            <a:r>
              <a:t/>
            </a:r>
            <a:endParaRPr sz="2200">
              <a:solidFill>
                <a:srgbClr val="1C7DDB"/>
              </a:solidFill>
              <a:latin typeface="Arial"/>
              <a:ea typeface="Arial"/>
              <a:cs typeface="Arial"/>
              <a:sym typeface="Arial"/>
            </a:endParaRPr>
          </a:p>
          <a:p>
            <a:pPr indent="0" lvl="0" marL="0" rtl="0" algn="l">
              <a:lnSpc>
                <a:spcPct val="90000"/>
              </a:lnSpc>
              <a:spcBef>
                <a:spcPts val="1000"/>
              </a:spcBef>
              <a:spcAft>
                <a:spcPts val="0"/>
              </a:spcAft>
              <a:buClr>
                <a:srgbClr val="1C7DDB"/>
              </a:buClr>
              <a:buSzPts val="2200"/>
              <a:buNone/>
            </a:pPr>
            <a:r>
              <a:t/>
            </a:r>
            <a:endParaRPr sz="2200">
              <a:solidFill>
                <a:srgbClr val="1C7DDB"/>
              </a:solidFill>
              <a:latin typeface="Arial"/>
              <a:ea typeface="Arial"/>
              <a:cs typeface="Arial"/>
              <a:sym typeface="Arial"/>
            </a:endParaRPr>
          </a:p>
          <a:p>
            <a:pPr indent="0" lvl="0" marL="0" rtl="0" algn="l">
              <a:lnSpc>
                <a:spcPct val="90000"/>
              </a:lnSpc>
              <a:spcBef>
                <a:spcPts val="1000"/>
              </a:spcBef>
              <a:spcAft>
                <a:spcPts val="0"/>
              </a:spcAft>
              <a:buClr>
                <a:srgbClr val="1C7DDB"/>
              </a:buClr>
              <a:buSzPts val="2200"/>
              <a:buNone/>
            </a:pPr>
            <a:r>
              <a:rPr lang="en-US" sz="2200">
                <a:solidFill>
                  <a:srgbClr val="1C7DDB"/>
                </a:solidFill>
                <a:latin typeface="Arial"/>
                <a:ea typeface="Arial"/>
                <a:cs typeface="Arial"/>
                <a:sym typeface="Arial"/>
              </a:rPr>
              <a:t>       </a:t>
            </a:r>
            <a:endParaRPr/>
          </a:p>
        </p:txBody>
      </p:sp>
      <p:sp>
        <p:nvSpPr>
          <p:cNvPr id="142" name="Google Shape;142;p23"/>
          <p:cNvSpPr txBox="1"/>
          <p:nvPr/>
        </p:nvSpPr>
        <p:spPr>
          <a:xfrm>
            <a:off x="866458" y="1800225"/>
            <a:ext cx="4548823" cy="4225925"/>
          </a:xfrm>
          <a:prstGeom prst="rect">
            <a:avLst/>
          </a:prstGeom>
          <a:noFill/>
          <a:ln>
            <a:noFill/>
          </a:ln>
        </p:spPr>
        <p:txBody>
          <a:bodyPr anchorCtr="0" anchor="t" bIns="45700" lIns="45700" spcFirstLastPara="1" rIns="45700" wrap="square" tIns="45700">
            <a:normAutofit/>
          </a:bodyPr>
          <a:lstStyle/>
          <a:p>
            <a:pPr indent="-228600" lvl="0" marL="228600" marR="0" rtl="0" algn="l">
              <a:lnSpc>
                <a:spcPct val="100000"/>
              </a:lnSpc>
              <a:spcBef>
                <a:spcPts val="0"/>
              </a:spcBef>
              <a:spcAft>
                <a:spcPts val="0"/>
              </a:spcAft>
              <a:buClr>
                <a:srgbClr val="292929"/>
              </a:buClr>
              <a:buSzPts val="2200"/>
              <a:buFont typeface="Arial"/>
              <a:buChar char="•"/>
            </a:pPr>
            <a:r>
              <a:rPr b="0" i="0" lang="en-US" sz="2200" u="none" cap="none" strike="noStrike">
                <a:solidFill>
                  <a:srgbClr val="292929"/>
                </a:solidFill>
                <a:latin typeface="Arial"/>
                <a:ea typeface="Arial"/>
                <a:cs typeface="Arial"/>
                <a:sym typeface="Arial"/>
              </a:rPr>
              <a:t>Web scraping workflow:</a:t>
            </a:r>
            <a:endParaRPr/>
          </a:p>
          <a:p>
            <a:pPr indent="-180473" lvl="1" marL="561473"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Send HTTP Get to Falcon 9 Launch page at Wikipedia, to retrieve the HTML source</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80473" lvl="1" marL="561473"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Create a BeautifulSoup object to extract the tables containing launch data </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80473" lvl="1" marL="561473"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Populate a Pandas DataFrame using the extracted columns</a:t>
            </a:r>
            <a:endParaRPr b="0" i="0" sz="2200" u="none" cap="none" strike="noStrike">
              <a:solidFill>
                <a:srgbClr val="292929"/>
              </a:solidFill>
              <a:latin typeface="Calibri"/>
              <a:ea typeface="Calibri"/>
              <a:cs typeface="Calibri"/>
              <a:sym typeface="Calibri"/>
            </a:endParaRPr>
          </a:p>
          <a:p>
            <a:pPr indent="-228600" lvl="0" marL="228600" marR="0" rtl="0" algn="l">
              <a:lnSpc>
                <a:spcPct val="100000"/>
              </a:lnSpc>
              <a:spcBef>
                <a:spcPts val="1400"/>
              </a:spcBef>
              <a:spcAft>
                <a:spcPts val="0"/>
              </a:spcAft>
              <a:buClr>
                <a:srgbClr val="0563C1"/>
              </a:buClr>
              <a:buSzPts val="2200"/>
              <a:buFont typeface="Arial"/>
              <a:buChar char="•"/>
            </a:pPr>
            <a:r>
              <a:rPr b="0" i="0" lang="en-US" sz="2200" u="sng" cap="none" strike="noStrike">
                <a:solidFill>
                  <a:schemeClr val="hlink"/>
                </a:solidFill>
                <a:latin typeface="Arial"/>
                <a:ea typeface="Arial"/>
                <a:cs typeface="Arial"/>
                <a:sym typeface="Arial"/>
                <a:hlinkClick r:id="rId4"/>
              </a:rPr>
              <a:t>Github URL</a:t>
            </a:r>
            <a:endParaRPr/>
          </a:p>
        </p:txBody>
      </p:sp>
      <p:sp>
        <p:nvSpPr>
          <p:cNvPr id="143" name="Google Shape;143;p23"/>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Data Collection – Scraping</a:t>
            </a:r>
            <a:endParaRPr/>
          </a:p>
        </p:txBody>
      </p:sp>
      <p:sp>
        <p:nvSpPr>
          <p:cNvPr id="144" name="Google Shape;144;p23"/>
          <p:cNvSpPr/>
          <p:nvPr/>
        </p:nvSpPr>
        <p:spPr>
          <a:xfrm>
            <a:off x="6093023" y="1484715"/>
            <a:ext cx="556737" cy="536350"/>
          </a:xfrm>
          <a:prstGeom prst="ellipse">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45" name="Google Shape;145;p23"/>
          <p:cNvCxnSpPr/>
          <p:nvPr/>
        </p:nvCxnSpPr>
        <p:spPr>
          <a:xfrm>
            <a:off x="6371391" y="2056377"/>
            <a:ext cx="1" cy="332741"/>
          </a:xfrm>
          <a:prstGeom prst="straightConnector1">
            <a:avLst/>
          </a:prstGeom>
          <a:noFill/>
          <a:ln cap="flat" cmpd="sng" w="12700">
            <a:solidFill>
              <a:schemeClr val="accent1"/>
            </a:solidFill>
            <a:prstDash val="solid"/>
            <a:miter lim="8000"/>
            <a:headEnd len="sm" w="sm" type="none"/>
            <a:tailEnd len="med" w="med" type="triangle"/>
          </a:ln>
        </p:spPr>
      </p:cxnSp>
      <p:sp>
        <p:nvSpPr>
          <p:cNvPr id="146" name="Google Shape;146;p23"/>
          <p:cNvSpPr/>
          <p:nvPr/>
        </p:nvSpPr>
        <p:spPr>
          <a:xfrm>
            <a:off x="5716012" y="2424430"/>
            <a:ext cx="1310760" cy="609515"/>
          </a:xfrm>
          <a:prstGeom prst="rect">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HTTP Get Falcon9 Wikipedia URL</a:t>
            </a:r>
            <a:endParaRPr/>
          </a:p>
        </p:txBody>
      </p:sp>
      <p:cxnSp>
        <p:nvCxnSpPr>
          <p:cNvPr id="147" name="Google Shape;147;p23"/>
          <p:cNvCxnSpPr/>
          <p:nvPr/>
        </p:nvCxnSpPr>
        <p:spPr>
          <a:xfrm>
            <a:off x="6371391" y="3069257"/>
            <a:ext cx="1" cy="549050"/>
          </a:xfrm>
          <a:prstGeom prst="straightConnector1">
            <a:avLst/>
          </a:prstGeom>
          <a:noFill/>
          <a:ln cap="flat" cmpd="sng" w="12700">
            <a:solidFill>
              <a:schemeClr val="accent1"/>
            </a:solidFill>
            <a:prstDash val="solid"/>
            <a:miter lim="8000"/>
            <a:headEnd len="sm" w="sm" type="none"/>
            <a:tailEnd len="med" w="med" type="triangle"/>
          </a:ln>
        </p:spPr>
      </p:cxnSp>
      <p:sp>
        <p:nvSpPr>
          <p:cNvPr id="148" name="Google Shape;148;p23"/>
          <p:cNvSpPr/>
          <p:nvPr/>
        </p:nvSpPr>
        <p:spPr>
          <a:xfrm>
            <a:off x="5735320" y="3645012"/>
            <a:ext cx="1457206" cy="536350"/>
          </a:xfrm>
          <a:prstGeom prst="rect">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Find all matching tables</a:t>
            </a:r>
            <a:endParaRPr/>
          </a:p>
        </p:txBody>
      </p:sp>
      <p:cxnSp>
        <p:nvCxnSpPr>
          <p:cNvPr id="149" name="Google Shape;149;p23"/>
          <p:cNvCxnSpPr/>
          <p:nvPr/>
        </p:nvCxnSpPr>
        <p:spPr>
          <a:xfrm>
            <a:off x="7205414" y="3913187"/>
            <a:ext cx="569437" cy="1"/>
          </a:xfrm>
          <a:prstGeom prst="straightConnector1">
            <a:avLst/>
          </a:prstGeom>
          <a:noFill/>
          <a:ln cap="flat" cmpd="sng" w="12700">
            <a:solidFill>
              <a:schemeClr val="accent1"/>
            </a:solidFill>
            <a:prstDash val="solid"/>
            <a:miter lim="8000"/>
            <a:headEnd len="sm" w="sm" type="none"/>
            <a:tailEnd len="med" w="med" type="triangle"/>
          </a:ln>
        </p:spPr>
      </p:cxnSp>
      <p:sp>
        <p:nvSpPr>
          <p:cNvPr id="150" name="Google Shape;150;p23"/>
          <p:cNvSpPr/>
          <p:nvPr/>
        </p:nvSpPr>
        <p:spPr>
          <a:xfrm>
            <a:off x="7787738" y="3645013"/>
            <a:ext cx="1310760" cy="536349"/>
          </a:xfrm>
          <a:prstGeom prst="rect">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Identifying columns names</a:t>
            </a:r>
            <a:endParaRPr/>
          </a:p>
        </p:txBody>
      </p:sp>
      <p:sp>
        <p:nvSpPr>
          <p:cNvPr id="151" name="Google Shape;151;p23"/>
          <p:cNvSpPr/>
          <p:nvPr/>
        </p:nvSpPr>
        <p:spPr>
          <a:xfrm>
            <a:off x="9808121" y="3608430"/>
            <a:ext cx="1589406" cy="714290"/>
          </a:xfrm>
          <a:prstGeom prst="rect">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Transform columns  values for each table row</a:t>
            </a:r>
            <a:endParaRPr/>
          </a:p>
        </p:txBody>
      </p:sp>
      <p:cxnSp>
        <p:nvCxnSpPr>
          <p:cNvPr id="152" name="Google Shape;152;p23"/>
          <p:cNvCxnSpPr/>
          <p:nvPr/>
        </p:nvCxnSpPr>
        <p:spPr>
          <a:xfrm>
            <a:off x="9168591" y="3913187"/>
            <a:ext cx="569437" cy="1"/>
          </a:xfrm>
          <a:prstGeom prst="straightConnector1">
            <a:avLst/>
          </a:prstGeom>
          <a:noFill/>
          <a:ln cap="flat" cmpd="sng" w="12700">
            <a:solidFill>
              <a:schemeClr val="accent1"/>
            </a:solidFill>
            <a:prstDash val="solid"/>
            <a:miter lim="8000"/>
            <a:headEnd len="sm" w="sm" type="none"/>
            <a:tailEnd len="med" w="med" type="triangle"/>
          </a:ln>
        </p:spPr>
      </p:cxnSp>
      <p:cxnSp>
        <p:nvCxnSpPr>
          <p:cNvPr id="153" name="Google Shape;153;p23"/>
          <p:cNvCxnSpPr/>
          <p:nvPr/>
        </p:nvCxnSpPr>
        <p:spPr>
          <a:xfrm>
            <a:off x="10602824" y="4399279"/>
            <a:ext cx="1" cy="361506"/>
          </a:xfrm>
          <a:prstGeom prst="straightConnector1">
            <a:avLst/>
          </a:prstGeom>
          <a:noFill/>
          <a:ln cap="flat" cmpd="sng" w="12700">
            <a:solidFill>
              <a:schemeClr val="accent1"/>
            </a:solidFill>
            <a:prstDash val="solid"/>
            <a:miter lim="8000"/>
            <a:headEnd len="sm" w="sm" type="none"/>
            <a:tailEnd len="med" w="med" type="triangle"/>
          </a:ln>
        </p:spPr>
      </p:cxnSp>
      <p:sp>
        <p:nvSpPr>
          <p:cNvPr id="154" name="Google Shape;154;p23"/>
          <p:cNvSpPr/>
          <p:nvPr/>
        </p:nvSpPr>
        <p:spPr>
          <a:xfrm>
            <a:off x="9829740" y="4837344"/>
            <a:ext cx="1546169" cy="536350"/>
          </a:xfrm>
          <a:prstGeom prst="rect">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Populate Dataframe for further analysis </a:t>
            </a:r>
            <a:endParaRPr/>
          </a:p>
        </p:txBody>
      </p:sp>
      <p:cxnSp>
        <p:nvCxnSpPr>
          <p:cNvPr id="155" name="Google Shape;155;p23"/>
          <p:cNvCxnSpPr/>
          <p:nvPr/>
        </p:nvCxnSpPr>
        <p:spPr>
          <a:xfrm>
            <a:off x="10602824" y="5368257"/>
            <a:ext cx="1" cy="361506"/>
          </a:xfrm>
          <a:prstGeom prst="straightConnector1">
            <a:avLst/>
          </a:prstGeom>
          <a:noFill/>
          <a:ln cap="flat" cmpd="sng" w="12700">
            <a:solidFill>
              <a:schemeClr val="accent1"/>
            </a:solidFill>
            <a:prstDash val="solid"/>
            <a:miter lim="8000"/>
            <a:headEnd len="sm" w="sm" type="none"/>
            <a:tailEnd len="med" w="med" type="triangle"/>
          </a:ln>
        </p:spPr>
      </p:cxnSp>
      <p:sp>
        <p:nvSpPr>
          <p:cNvPr id="156" name="Google Shape;156;p23"/>
          <p:cNvSpPr/>
          <p:nvPr/>
        </p:nvSpPr>
        <p:spPr>
          <a:xfrm>
            <a:off x="10291634" y="5747611"/>
            <a:ext cx="622381" cy="536350"/>
          </a:xfrm>
          <a:prstGeom prst="ellipse">
            <a:avLst/>
          </a:prstGeom>
          <a:solidFill>
            <a:srgbClr val="FFFFFF"/>
          </a:solidFill>
          <a:ln cap="flat" cmpd="sng" w="12700">
            <a:solidFill>
              <a:schemeClr val="accent1"/>
            </a:solidFill>
            <a:prstDash val="solid"/>
            <a:miter lim="8000"/>
            <a:headEnd len="sm" w="sm" type="none"/>
            <a:tailEnd len="sm" w="sm" type="none"/>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 name="Shape 160"/>
        <p:cNvGrpSpPr/>
        <p:nvPr/>
      </p:nvGrpSpPr>
      <p:grpSpPr>
        <a:xfrm>
          <a:off x="0" y="0"/>
          <a:ext cx="0" cy="0"/>
          <a:chOff x="0" y="0"/>
          <a:chExt cx="0" cy="0"/>
        </a:xfrm>
      </p:grpSpPr>
      <p:sp>
        <p:nvSpPr>
          <p:cNvPr id="161" name="Google Shape;161;p24"/>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162" name="Google Shape;162;p24"/>
          <p:cNvSpPr txBox="1"/>
          <p:nvPr>
            <p:ph idx="4294967295" type="body"/>
          </p:nvPr>
        </p:nvSpPr>
        <p:spPr>
          <a:xfrm>
            <a:off x="770000" y="1292825"/>
            <a:ext cx="6906000" cy="4722300"/>
          </a:xfrm>
          <a:prstGeom prst="rect">
            <a:avLst/>
          </a:prstGeom>
          <a:noFill/>
          <a:ln>
            <a:noFill/>
          </a:ln>
        </p:spPr>
        <p:txBody>
          <a:bodyPr anchorCtr="0" anchor="t" bIns="45700" lIns="45700" spcFirstLastPara="1" rIns="45700" wrap="square" tIns="45700">
            <a:normAutofit/>
          </a:bodyPr>
          <a:lstStyle/>
          <a:p>
            <a:pPr indent="0" lvl="0" marL="228600" rtl="0" algn="l">
              <a:lnSpc>
                <a:spcPct val="90000"/>
              </a:lnSpc>
              <a:spcBef>
                <a:spcPts val="1000"/>
              </a:spcBef>
              <a:spcAft>
                <a:spcPts val="0"/>
              </a:spcAft>
              <a:buNone/>
            </a:pPr>
            <a:r>
              <a:rPr b="1" lang="en-US" sz="2000">
                <a:solidFill>
                  <a:srgbClr val="292929"/>
                </a:solidFill>
                <a:latin typeface="Arial"/>
                <a:ea typeface="Arial"/>
                <a:cs typeface="Arial"/>
                <a:sym typeface="Arial"/>
              </a:rPr>
              <a:t>• Goals: </a:t>
            </a:r>
            <a:endParaRPr b="1" sz="2000">
              <a:solidFill>
                <a:srgbClr val="292929"/>
              </a:solidFill>
              <a:latin typeface="Arial"/>
              <a:ea typeface="Arial"/>
              <a:cs typeface="Arial"/>
              <a:sym typeface="Arial"/>
            </a:endParaRPr>
          </a:p>
          <a:p>
            <a:pPr indent="0" lvl="0" marL="228600" rtl="0" algn="l">
              <a:lnSpc>
                <a:spcPct val="90000"/>
              </a:lnSpc>
              <a:spcBef>
                <a:spcPts val="1000"/>
              </a:spcBef>
              <a:spcAft>
                <a:spcPts val="0"/>
              </a:spcAft>
              <a:buNone/>
            </a:pPr>
            <a:r>
              <a:rPr lang="en-US" sz="1600">
                <a:solidFill>
                  <a:srgbClr val="292929"/>
                </a:solidFill>
                <a:latin typeface="Arial"/>
                <a:ea typeface="Arial"/>
                <a:cs typeface="Arial"/>
                <a:sym typeface="Arial"/>
              </a:rPr>
              <a:t>o Use Exploratory Data Analysis (EDA) to find patterns in the data. </a:t>
            </a:r>
            <a:endParaRPr sz="1600">
              <a:solidFill>
                <a:srgbClr val="292929"/>
              </a:solidFill>
              <a:latin typeface="Arial"/>
              <a:ea typeface="Arial"/>
              <a:cs typeface="Arial"/>
              <a:sym typeface="Arial"/>
            </a:endParaRPr>
          </a:p>
          <a:p>
            <a:pPr indent="0" lvl="0" marL="228600" rtl="0" algn="l">
              <a:lnSpc>
                <a:spcPct val="90000"/>
              </a:lnSpc>
              <a:spcBef>
                <a:spcPts val="1000"/>
              </a:spcBef>
              <a:spcAft>
                <a:spcPts val="0"/>
              </a:spcAft>
              <a:buNone/>
            </a:pPr>
            <a:r>
              <a:rPr lang="en-US" sz="1600">
                <a:solidFill>
                  <a:srgbClr val="292929"/>
                </a:solidFill>
                <a:latin typeface="Arial"/>
                <a:ea typeface="Arial"/>
                <a:cs typeface="Arial"/>
                <a:sym typeface="Arial"/>
              </a:rPr>
              <a:t>o Determine the labels for training supervised models. </a:t>
            </a:r>
            <a:endParaRPr sz="1600">
              <a:solidFill>
                <a:srgbClr val="292929"/>
              </a:solidFill>
              <a:latin typeface="Arial"/>
              <a:ea typeface="Arial"/>
              <a:cs typeface="Arial"/>
              <a:sym typeface="Arial"/>
            </a:endParaRPr>
          </a:p>
          <a:p>
            <a:pPr indent="0" lvl="0" marL="228600" rtl="0" algn="l">
              <a:lnSpc>
                <a:spcPct val="90000"/>
              </a:lnSpc>
              <a:spcBef>
                <a:spcPts val="1000"/>
              </a:spcBef>
              <a:spcAft>
                <a:spcPts val="0"/>
              </a:spcAft>
              <a:buNone/>
            </a:pPr>
            <a:r>
              <a:rPr b="1" lang="en-US" sz="2000">
                <a:solidFill>
                  <a:srgbClr val="292929"/>
                </a:solidFill>
                <a:latin typeface="Arial"/>
                <a:ea typeface="Arial"/>
                <a:cs typeface="Arial"/>
                <a:sym typeface="Arial"/>
              </a:rPr>
              <a:t>• Steps:</a:t>
            </a:r>
            <a:endParaRPr b="1" sz="2000">
              <a:solidFill>
                <a:srgbClr val="292929"/>
              </a:solidFill>
              <a:latin typeface="Arial"/>
              <a:ea typeface="Arial"/>
              <a:cs typeface="Arial"/>
              <a:sym typeface="Arial"/>
            </a:endParaRPr>
          </a:p>
          <a:p>
            <a:pPr indent="0" lvl="0" marL="228600" rtl="0" algn="l">
              <a:lnSpc>
                <a:spcPct val="90000"/>
              </a:lnSpc>
              <a:spcBef>
                <a:spcPts val="1000"/>
              </a:spcBef>
              <a:spcAft>
                <a:spcPts val="0"/>
              </a:spcAft>
              <a:buNone/>
            </a:pPr>
            <a:r>
              <a:rPr lang="en-US" sz="1600">
                <a:solidFill>
                  <a:srgbClr val="292929"/>
                </a:solidFill>
                <a:latin typeface="Arial"/>
                <a:ea typeface="Arial"/>
                <a:cs typeface="Arial"/>
                <a:sym typeface="Arial"/>
              </a:rPr>
              <a:t>o Find missing values as a percentage of each attribute</a:t>
            </a:r>
            <a:endParaRPr sz="1600">
              <a:solidFill>
                <a:srgbClr val="292929"/>
              </a:solidFill>
              <a:latin typeface="Arial"/>
              <a:ea typeface="Arial"/>
              <a:cs typeface="Arial"/>
              <a:sym typeface="Arial"/>
            </a:endParaRPr>
          </a:p>
          <a:p>
            <a:pPr indent="0" lvl="0" marL="228600" rtl="0" algn="l">
              <a:lnSpc>
                <a:spcPct val="90000"/>
              </a:lnSpc>
              <a:spcBef>
                <a:spcPts val="1000"/>
              </a:spcBef>
              <a:spcAft>
                <a:spcPts val="0"/>
              </a:spcAft>
              <a:buNone/>
            </a:pPr>
            <a:r>
              <a:rPr lang="en-US" sz="1600">
                <a:solidFill>
                  <a:srgbClr val="292929"/>
                </a:solidFill>
                <a:latin typeface="Arial"/>
                <a:ea typeface="Arial"/>
                <a:cs typeface="Arial"/>
                <a:sym typeface="Arial"/>
              </a:rPr>
              <a:t>o Identify column types, numerical or categorical </a:t>
            </a:r>
            <a:endParaRPr sz="1600">
              <a:solidFill>
                <a:srgbClr val="292929"/>
              </a:solidFill>
              <a:latin typeface="Arial"/>
              <a:ea typeface="Arial"/>
              <a:cs typeface="Arial"/>
              <a:sym typeface="Arial"/>
            </a:endParaRPr>
          </a:p>
          <a:p>
            <a:pPr indent="0" lvl="0" marL="228600" rtl="0" algn="l">
              <a:lnSpc>
                <a:spcPct val="90000"/>
              </a:lnSpc>
              <a:spcBef>
                <a:spcPts val="1000"/>
              </a:spcBef>
              <a:spcAft>
                <a:spcPts val="0"/>
              </a:spcAft>
              <a:buNone/>
            </a:pPr>
            <a:r>
              <a:rPr lang="en-US" sz="1600">
                <a:solidFill>
                  <a:srgbClr val="292929"/>
                </a:solidFill>
                <a:latin typeface="Arial"/>
                <a:ea typeface="Arial"/>
                <a:cs typeface="Arial"/>
                <a:sym typeface="Arial"/>
              </a:rPr>
              <a:t>o Show launches per Launch Site </a:t>
            </a:r>
            <a:endParaRPr sz="1600">
              <a:solidFill>
                <a:srgbClr val="292929"/>
              </a:solidFill>
              <a:latin typeface="Arial"/>
              <a:ea typeface="Arial"/>
              <a:cs typeface="Arial"/>
              <a:sym typeface="Arial"/>
            </a:endParaRPr>
          </a:p>
          <a:p>
            <a:pPr indent="0" lvl="0" marL="228600" rtl="0" algn="l">
              <a:lnSpc>
                <a:spcPct val="90000"/>
              </a:lnSpc>
              <a:spcBef>
                <a:spcPts val="1000"/>
              </a:spcBef>
              <a:spcAft>
                <a:spcPts val="0"/>
              </a:spcAft>
              <a:buNone/>
            </a:pPr>
            <a:r>
              <a:rPr lang="en-US" sz="1600">
                <a:solidFill>
                  <a:srgbClr val="292929"/>
                </a:solidFill>
                <a:latin typeface="Arial"/>
                <a:ea typeface="Arial"/>
                <a:cs typeface="Arial"/>
                <a:sym typeface="Arial"/>
              </a:rPr>
              <a:t>o Show distribution of Orbit type in the data set </a:t>
            </a:r>
            <a:endParaRPr sz="1600">
              <a:solidFill>
                <a:srgbClr val="292929"/>
              </a:solidFill>
              <a:latin typeface="Arial"/>
              <a:ea typeface="Arial"/>
              <a:cs typeface="Arial"/>
              <a:sym typeface="Arial"/>
            </a:endParaRPr>
          </a:p>
          <a:p>
            <a:pPr indent="0" lvl="0" marL="228600" rtl="0" algn="l">
              <a:lnSpc>
                <a:spcPct val="90000"/>
              </a:lnSpc>
              <a:spcBef>
                <a:spcPts val="1000"/>
              </a:spcBef>
              <a:spcAft>
                <a:spcPts val="0"/>
              </a:spcAft>
              <a:buNone/>
            </a:pPr>
            <a:r>
              <a:rPr lang="en-US" sz="1600">
                <a:solidFill>
                  <a:srgbClr val="292929"/>
                </a:solidFill>
                <a:latin typeface="Arial"/>
                <a:ea typeface="Arial"/>
                <a:cs typeface="Arial"/>
                <a:sym typeface="Arial"/>
              </a:rPr>
              <a:t>o Explore outcomes, and group them by binary outcome (success or failure) </a:t>
            </a:r>
            <a:endParaRPr sz="1600">
              <a:solidFill>
                <a:srgbClr val="292929"/>
              </a:solidFill>
              <a:latin typeface="Arial"/>
              <a:ea typeface="Arial"/>
              <a:cs typeface="Arial"/>
              <a:sym typeface="Arial"/>
            </a:endParaRPr>
          </a:p>
          <a:p>
            <a:pPr indent="0" lvl="0" marL="228600" rtl="0" algn="l">
              <a:lnSpc>
                <a:spcPct val="90000"/>
              </a:lnSpc>
              <a:spcBef>
                <a:spcPts val="1000"/>
              </a:spcBef>
              <a:spcAft>
                <a:spcPts val="0"/>
              </a:spcAft>
              <a:buNone/>
            </a:pPr>
            <a:r>
              <a:rPr lang="en-US" sz="1600">
                <a:solidFill>
                  <a:srgbClr val="292929"/>
                </a:solidFill>
                <a:latin typeface="Arial"/>
                <a:ea typeface="Arial"/>
                <a:cs typeface="Arial"/>
                <a:sym typeface="Arial"/>
              </a:rPr>
              <a:t>o Store outcome as "Class" label, to be used as target value in training</a:t>
            </a:r>
            <a:endParaRPr sz="1600">
              <a:solidFill>
                <a:srgbClr val="292929"/>
              </a:solidFill>
              <a:latin typeface="Arial"/>
              <a:ea typeface="Arial"/>
              <a:cs typeface="Arial"/>
              <a:sym typeface="Arial"/>
            </a:endParaRPr>
          </a:p>
          <a:p>
            <a:pPr indent="-355600" lvl="0" marL="457200" rtl="0" algn="l">
              <a:lnSpc>
                <a:spcPct val="100000"/>
              </a:lnSpc>
              <a:spcBef>
                <a:spcPts val="1400"/>
              </a:spcBef>
              <a:spcAft>
                <a:spcPts val="0"/>
              </a:spcAft>
              <a:buSzPts val="2000"/>
              <a:buFont typeface="Arial"/>
              <a:buChar char="•"/>
            </a:pPr>
            <a:r>
              <a:rPr lang="en-US" sz="2000" u="sng">
                <a:solidFill>
                  <a:schemeClr val="hlink"/>
                </a:solidFill>
                <a:latin typeface="Arial"/>
                <a:ea typeface="Arial"/>
                <a:cs typeface="Arial"/>
                <a:sym typeface="Arial"/>
                <a:hlinkClick r:id="rId4"/>
              </a:rPr>
              <a:t>Github URL</a:t>
            </a:r>
            <a:endParaRPr b="1" sz="1800">
              <a:solidFill>
                <a:srgbClr val="292929"/>
              </a:solidFill>
              <a:latin typeface="Arial"/>
              <a:ea typeface="Arial"/>
              <a:cs typeface="Arial"/>
              <a:sym typeface="Arial"/>
            </a:endParaRPr>
          </a:p>
        </p:txBody>
      </p:sp>
      <p:sp>
        <p:nvSpPr>
          <p:cNvPr id="163" name="Google Shape;163;p24"/>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Data Wrangling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sp>
        <p:nvSpPr>
          <p:cNvPr id="168" name="Google Shape;168;p25"/>
          <p:cNvSpPr txBox="1"/>
          <p:nvPr>
            <p:ph idx="4294967295" type="sldNum"/>
          </p:nvPr>
        </p:nvSpPr>
        <p:spPr>
          <a:xfrm>
            <a:off x="11142793" y="6060022"/>
            <a:ext cx="315179"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169" name="Google Shape;169;p25"/>
          <p:cNvSpPr txBox="1"/>
          <p:nvPr>
            <p:ph idx="4294967295" type="body"/>
          </p:nvPr>
        </p:nvSpPr>
        <p:spPr>
          <a:xfrm>
            <a:off x="770000" y="1383725"/>
            <a:ext cx="7754400" cy="4793100"/>
          </a:xfrm>
          <a:prstGeom prst="rect">
            <a:avLst/>
          </a:prstGeom>
          <a:noFill/>
          <a:ln>
            <a:noFill/>
          </a:ln>
        </p:spPr>
        <p:txBody>
          <a:bodyPr anchorCtr="0" anchor="t" bIns="45700" lIns="45700" spcFirstLastPara="1" rIns="45700" wrap="square" tIns="45700">
            <a:normAutofit/>
          </a:bodyPr>
          <a:lstStyle/>
          <a:p>
            <a:pPr indent="-355600" lvl="0" marL="457200" rtl="0" algn="l">
              <a:lnSpc>
                <a:spcPct val="100000"/>
              </a:lnSpc>
              <a:spcBef>
                <a:spcPts val="1400"/>
              </a:spcBef>
              <a:spcAft>
                <a:spcPts val="0"/>
              </a:spcAft>
              <a:buClr>
                <a:srgbClr val="292929"/>
              </a:buClr>
              <a:buSzPts val="2000"/>
              <a:buFont typeface="Arial"/>
              <a:buChar char="•"/>
            </a:pPr>
            <a:r>
              <a:rPr lang="en-US" sz="2000">
                <a:solidFill>
                  <a:srgbClr val="292929"/>
                </a:solidFill>
                <a:latin typeface="Arial"/>
                <a:ea typeface="Arial"/>
                <a:cs typeface="Arial"/>
                <a:sym typeface="Arial"/>
              </a:rPr>
              <a:t>Visualize relationships to gain insight into the importance of each variable: </a:t>
            </a:r>
            <a:endParaRPr sz="2000">
              <a:solidFill>
                <a:srgbClr val="292929"/>
              </a:solidFill>
              <a:latin typeface="Arial"/>
              <a:ea typeface="Arial"/>
              <a:cs typeface="Arial"/>
              <a:sym typeface="Arial"/>
            </a:endParaRPr>
          </a:p>
          <a:p>
            <a:pPr indent="0" lvl="0" marL="457200" rtl="0" algn="l">
              <a:lnSpc>
                <a:spcPct val="100000"/>
              </a:lnSpc>
              <a:spcBef>
                <a:spcPts val="1400"/>
              </a:spcBef>
              <a:spcAft>
                <a:spcPts val="0"/>
              </a:spcAft>
              <a:buNone/>
            </a:pPr>
            <a:r>
              <a:rPr lang="en-US" sz="1600">
                <a:solidFill>
                  <a:srgbClr val="292929"/>
                </a:solidFill>
                <a:latin typeface="Arial"/>
                <a:ea typeface="Arial"/>
                <a:cs typeface="Arial"/>
                <a:sym typeface="Arial"/>
              </a:rPr>
              <a:t>o Flight Number and Outcome</a:t>
            </a:r>
            <a:endParaRPr sz="1600">
              <a:solidFill>
                <a:srgbClr val="292929"/>
              </a:solidFill>
              <a:latin typeface="Arial"/>
              <a:ea typeface="Arial"/>
              <a:cs typeface="Arial"/>
              <a:sym typeface="Arial"/>
            </a:endParaRPr>
          </a:p>
          <a:p>
            <a:pPr indent="0" lvl="0" marL="457200" rtl="0" algn="l">
              <a:lnSpc>
                <a:spcPct val="100000"/>
              </a:lnSpc>
              <a:spcBef>
                <a:spcPts val="1400"/>
              </a:spcBef>
              <a:spcAft>
                <a:spcPts val="0"/>
              </a:spcAft>
              <a:buNone/>
            </a:pPr>
            <a:r>
              <a:rPr lang="en-US" sz="1600">
                <a:solidFill>
                  <a:srgbClr val="292929"/>
                </a:solidFill>
                <a:latin typeface="Arial"/>
                <a:ea typeface="Arial"/>
                <a:cs typeface="Arial"/>
                <a:sym typeface="Arial"/>
              </a:rPr>
              <a:t>o Flight Number and Launch Site </a:t>
            </a:r>
            <a:endParaRPr sz="1600">
              <a:solidFill>
                <a:srgbClr val="292929"/>
              </a:solidFill>
              <a:latin typeface="Arial"/>
              <a:ea typeface="Arial"/>
              <a:cs typeface="Arial"/>
              <a:sym typeface="Arial"/>
            </a:endParaRPr>
          </a:p>
          <a:p>
            <a:pPr indent="0" lvl="0" marL="457200" rtl="0" algn="l">
              <a:lnSpc>
                <a:spcPct val="100000"/>
              </a:lnSpc>
              <a:spcBef>
                <a:spcPts val="1400"/>
              </a:spcBef>
              <a:spcAft>
                <a:spcPts val="0"/>
              </a:spcAft>
              <a:buNone/>
            </a:pPr>
            <a:r>
              <a:rPr lang="en-US" sz="1600">
                <a:solidFill>
                  <a:srgbClr val="292929"/>
                </a:solidFill>
                <a:latin typeface="Arial"/>
                <a:ea typeface="Arial"/>
                <a:cs typeface="Arial"/>
                <a:sym typeface="Arial"/>
              </a:rPr>
              <a:t>o Payload and Launch Site </a:t>
            </a:r>
            <a:endParaRPr sz="1600">
              <a:solidFill>
                <a:srgbClr val="292929"/>
              </a:solidFill>
              <a:latin typeface="Arial"/>
              <a:ea typeface="Arial"/>
              <a:cs typeface="Arial"/>
              <a:sym typeface="Arial"/>
            </a:endParaRPr>
          </a:p>
          <a:p>
            <a:pPr indent="0" lvl="0" marL="457200" rtl="0" algn="l">
              <a:lnSpc>
                <a:spcPct val="100000"/>
              </a:lnSpc>
              <a:spcBef>
                <a:spcPts val="1400"/>
              </a:spcBef>
              <a:spcAft>
                <a:spcPts val="0"/>
              </a:spcAft>
              <a:buNone/>
            </a:pPr>
            <a:r>
              <a:rPr lang="en-US" sz="1600">
                <a:solidFill>
                  <a:srgbClr val="292929"/>
                </a:solidFill>
                <a:latin typeface="Arial"/>
                <a:ea typeface="Arial"/>
                <a:cs typeface="Arial"/>
                <a:sym typeface="Arial"/>
              </a:rPr>
              <a:t>o Orbit and Outcome o Flight Number and Orbit </a:t>
            </a:r>
            <a:endParaRPr sz="1600">
              <a:solidFill>
                <a:srgbClr val="292929"/>
              </a:solidFill>
              <a:latin typeface="Arial"/>
              <a:ea typeface="Arial"/>
              <a:cs typeface="Arial"/>
              <a:sym typeface="Arial"/>
            </a:endParaRPr>
          </a:p>
          <a:p>
            <a:pPr indent="0" lvl="0" marL="457200" rtl="0" algn="l">
              <a:lnSpc>
                <a:spcPct val="100000"/>
              </a:lnSpc>
              <a:spcBef>
                <a:spcPts val="1400"/>
              </a:spcBef>
              <a:spcAft>
                <a:spcPts val="0"/>
              </a:spcAft>
              <a:buNone/>
            </a:pPr>
            <a:r>
              <a:rPr lang="en-US" sz="1600">
                <a:solidFill>
                  <a:srgbClr val="292929"/>
                </a:solidFill>
                <a:latin typeface="Arial"/>
                <a:ea typeface="Arial"/>
                <a:cs typeface="Arial"/>
                <a:sym typeface="Arial"/>
              </a:rPr>
              <a:t>o Payload and Orbit </a:t>
            </a:r>
            <a:endParaRPr sz="1600">
              <a:solidFill>
                <a:srgbClr val="292929"/>
              </a:solidFill>
              <a:latin typeface="Arial"/>
              <a:ea typeface="Arial"/>
              <a:cs typeface="Arial"/>
              <a:sym typeface="Arial"/>
            </a:endParaRPr>
          </a:p>
          <a:p>
            <a:pPr indent="0" lvl="0" marL="457200" rtl="0" algn="l">
              <a:lnSpc>
                <a:spcPct val="100000"/>
              </a:lnSpc>
              <a:spcBef>
                <a:spcPts val="1400"/>
              </a:spcBef>
              <a:spcAft>
                <a:spcPts val="0"/>
              </a:spcAft>
              <a:buNone/>
            </a:pPr>
            <a:r>
              <a:rPr lang="en-US" sz="1600">
                <a:solidFill>
                  <a:srgbClr val="292929"/>
                </a:solidFill>
                <a:latin typeface="Arial"/>
                <a:ea typeface="Arial"/>
                <a:cs typeface="Arial"/>
                <a:sym typeface="Arial"/>
              </a:rPr>
              <a:t>o Yearly success rate</a:t>
            </a:r>
            <a:endParaRPr sz="1600">
              <a:solidFill>
                <a:srgbClr val="292929"/>
              </a:solidFill>
              <a:latin typeface="Arial"/>
              <a:ea typeface="Arial"/>
              <a:cs typeface="Arial"/>
              <a:sym typeface="Arial"/>
            </a:endParaRPr>
          </a:p>
          <a:p>
            <a:pPr indent="0" lvl="0" marL="0" rtl="0" algn="l">
              <a:lnSpc>
                <a:spcPct val="100000"/>
              </a:lnSpc>
              <a:spcBef>
                <a:spcPts val="1400"/>
              </a:spcBef>
              <a:spcAft>
                <a:spcPts val="0"/>
              </a:spcAft>
              <a:buNone/>
            </a:pPr>
            <a:r>
              <a:rPr lang="en-US" sz="2200">
                <a:solidFill>
                  <a:srgbClr val="292929"/>
                </a:solidFill>
                <a:latin typeface="Arial"/>
                <a:ea typeface="Arial"/>
                <a:cs typeface="Arial"/>
                <a:sym typeface="Arial"/>
              </a:rPr>
              <a:t> •</a:t>
            </a:r>
            <a:r>
              <a:rPr lang="en-US" sz="2000">
                <a:solidFill>
                  <a:srgbClr val="292929"/>
                </a:solidFill>
                <a:latin typeface="Arial"/>
                <a:ea typeface="Arial"/>
                <a:cs typeface="Arial"/>
                <a:sym typeface="Arial"/>
              </a:rPr>
              <a:t> Expand categorical variables into "dummy" columns </a:t>
            </a:r>
            <a:endParaRPr sz="2000">
              <a:solidFill>
                <a:srgbClr val="292929"/>
              </a:solidFill>
              <a:latin typeface="Arial"/>
              <a:ea typeface="Arial"/>
              <a:cs typeface="Arial"/>
              <a:sym typeface="Arial"/>
            </a:endParaRPr>
          </a:p>
          <a:p>
            <a:pPr indent="-355600" lvl="0" marL="457200" rtl="0" algn="l">
              <a:lnSpc>
                <a:spcPct val="100000"/>
              </a:lnSpc>
              <a:spcBef>
                <a:spcPts val="1400"/>
              </a:spcBef>
              <a:spcAft>
                <a:spcPts val="0"/>
              </a:spcAft>
              <a:buClr>
                <a:srgbClr val="292929"/>
              </a:buClr>
              <a:buSzPts val="2000"/>
              <a:buFont typeface="Arial"/>
              <a:buChar char="•"/>
            </a:pPr>
            <a:r>
              <a:rPr lang="en-US" sz="2000">
                <a:solidFill>
                  <a:srgbClr val="292929"/>
                </a:solidFill>
                <a:latin typeface="Arial"/>
                <a:ea typeface="Arial"/>
                <a:cs typeface="Arial"/>
                <a:sym typeface="Arial"/>
              </a:rPr>
              <a:t>Convert numerical columns into float64</a:t>
            </a:r>
            <a:endParaRPr sz="2600"/>
          </a:p>
        </p:txBody>
      </p:sp>
      <p:sp>
        <p:nvSpPr>
          <p:cNvPr id="170" name="Google Shape;170;p25"/>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EDA with Data Visualization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 name="Shape 174"/>
        <p:cNvGrpSpPr/>
        <p:nvPr/>
      </p:nvGrpSpPr>
      <p:grpSpPr>
        <a:xfrm>
          <a:off x="0" y="0"/>
          <a:ext cx="0" cy="0"/>
          <a:chOff x="0" y="0"/>
          <a:chExt cx="0" cy="0"/>
        </a:xfrm>
      </p:grpSpPr>
      <p:sp>
        <p:nvSpPr>
          <p:cNvPr id="175" name="Google Shape;175;p26"/>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176" name="Google Shape;176;p26"/>
          <p:cNvSpPr txBox="1"/>
          <p:nvPr>
            <p:ph idx="4294967295" type="body"/>
          </p:nvPr>
        </p:nvSpPr>
        <p:spPr>
          <a:xfrm>
            <a:off x="815725" y="1341550"/>
            <a:ext cx="9850200" cy="4773300"/>
          </a:xfrm>
          <a:prstGeom prst="rect">
            <a:avLst/>
          </a:prstGeom>
          <a:noFill/>
          <a:ln>
            <a:noFill/>
          </a:ln>
        </p:spPr>
        <p:txBody>
          <a:bodyPr anchorCtr="0" anchor="t" bIns="45700" lIns="45700" spcFirstLastPara="1" rIns="45700" wrap="square" tIns="45700">
            <a:normAutofit/>
          </a:bodyPr>
          <a:lstStyle/>
          <a:p>
            <a:pPr indent="0" lvl="0" marL="0" rtl="0" algn="l">
              <a:lnSpc>
                <a:spcPct val="115000"/>
              </a:lnSpc>
              <a:spcBef>
                <a:spcPts val="0"/>
              </a:spcBef>
              <a:spcAft>
                <a:spcPts val="0"/>
              </a:spcAft>
              <a:buClr>
                <a:schemeClr val="dk1"/>
              </a:buClr>
              <a:buSzPts val="1100"/>
              <a:buFont typeface="Arial"/>
              <a:buNone/>
            </a:pPr>
            <a:r>
              <a:rPr b="1" lang="en-US" sz="2000"/>
              <a:t>• SQL Queries Performed:</a:t>
            </a:r>
            <a:endParaRPr b="1" sz="2000"/>
          </a:p>
          <a:p>
            <a:pPr indent="-328263" lvl="1" marL="914400" rtl="0" algn="l">
              <a:lnSpc>
                <a:spcPct val="115000"/>
              </a:lnSpc>
              <a:spcBef>
                <a:spcPts val="0"/>
              </a:spcBef>
              <a:spcAft>
                <a:spcPts val="0"/>
              </a:spcAft>
              <a:buSzPts val="1570"/>
              <a:buChar char="○"/>
            </a:pPr>
            <a:r>
              <a:rPr lang="en-US" sz="1570"/>
              <a:t>Show each unique launch site</a:t>
            </a:r>
            <a:endParaRPr sz="1570"/>
          </a:p>
          <a:p>
            <a:pPr indent="-328263" lvl="1" marL="914400" rtl="0" algn="l">
              <a:lnSpc>
                <a:spcPct val="115000"/>
              </a:lnSpc>
              <a:spcBef>
                <a:spcPts val="0"/>
              </a:spcBef>
              <a:spcAft>
                <a:spcPts val="0"/>
              </a:spcAft>
              <a:buSzPts val="1570"/>
              <a:buChar char="○"/>
            </a:pPr>
            <a:r>
              <a:rPr lang="en-US" sz="1570"/>
              <a:t>Show 5 records where launch site names begin with 'CCA'</a:t>
            </a:r>
            <a:endParaRPr sz="1570"/>
          </a:p>
          <a:p>
            <a:pPr indent="-328263" lvl="1" marL="914400" rtl="0" algn="l">
              <a:lnSpc>
                <a:spcPct val="115000"/>
              </a:lnSpc>
              <a:spcBef>
                <a:spcPts val="0"/>
              </a:spcBef>
              <a:spcAft>
                <a:spcPts val="0"/>
              </a:spcAft>
              <a:buSzPts val="1570"/>
              <a:buChar char="○"/>
            </a:pPr>
            <a:r>
              <a:rPr lang="en-US" sz="1570"/>
              <a:t>Display the total payload mass carried by boosters launched by 'NASA (CRS)'</a:t>
            </a:r>
            <a:endParaRPr sz="1570"/>
          </a:p>
          <a:p>
            <a:pPr indent="-328263" lvl="1" marL="914400" rtl="0" algn="l">
              <a:lnSpc>
                <a:spcPct val="115000"/>
              </a:lnSpc>
              <a:spcBef>
                <a:spcPts val="0"/>
              </a:spcBef>
              <a:spcAft>
                <a:spcPts val="0"/>
              </a:spcAft>
              <a:buSzPts val="1570"/>
              <a:buChar char="○"/>
            </a:pPr>
            <a:r>
              <a:rPr lang="en-US" sz="1570"/>
              <a:t>Display the average payload mass carried by the v1.1 Falcon 9 booster</a:t>
            </a:r>
            <a:endParaRPr sz="1570"/>
          </a:p>
          <a:p>
            <a:pPr indent="-328263" lvl="1" marL="914400" rtl="0" algn="l">
              <a:lnSpc>
                <a:spcPct val="115000"/>
              </a:lnSpc>
              <a:spcBef>
                <a:spcPts val="0"/>
              </a:spcBef>
              <a:spcAft>
                <a:spcPts val="0"/>
              </a:spcAft>
              <a:buSzPts val="1570"/>
              <a:buChar char="○"/>
            </a:pPr>
            <a:r>
              <a:rPr lang="en-US" sz="1570"/>
              <a:t>List the date of the first successful ground landing outcome</a:t>
            </a:r>
            <a:endParaRPr sz="1570"/>
          </a:p>
          <a:p>
            <a:pPr indent="-328263" lvl="1" marL="914400" rtl="0" algn="l">
              <a:lnSpc>
                <a:spcPct val="115000"/>
              </a:lnSpc>
              <a:spcBef>
                <a:spcPts val="0"/>
              </a:spcBef>
              <a:spcAft>
                <a:spcPts val="0"/>
              </a:spcAft>
              <a:buSzPts val="1570"/>
              <a:buChar char="○"/>
            </a:pPr>
            <a:r>
              <a:rPr lang="en-US" sz="1570"/>
              <a:t>List the booster versions with successful outcomes landing on the drone ship with payloads between 4000kg and 6000kg.</a:t>
            </a:r>
            <a:endParaRPr sz="1570"/>
          </a:p>
          <a:p>
            <a:pPr indent="-328263" lvl="1" marL="914400" rtl="0" algn="l">
              <a:lnSpc>
                <a:spcPct val="115000"/>
              </a:lnSpc>
              <a:spcBef>
                <a:spcPts val="0"/>
              </a:spcBef>
              <a:spcAft>
                <a:spcPts val="0"/>
              </a:spcAft>
              <a:buSzPts val="1570"/>
              <a:buChar char="○"/>
            </a:pPr>
            <a:r>
              <a:rPr lang="en-US" sz="1570"/>
              <a:t>List the number of successful and failed mission outcomes</a:t>
            </a:r>
            <a:endParaRPr sz="1570"/>
          </a:p>
          <a:p>
            <a:pPr indent="-328263" lvl="1" marL="914400" rtl="0" algn="l">
              <a:lnSpc>
                <a:spcPct val="115000"/>
              </a:lnSpc>
              <a:spcBef>
                <a:spcPts val="0"/>
              </a:spcBef>
              <a:spcAft>
                <a:spcPts val="0"/>
              </a:spcAft>
              <a:buSzPts val="1570"/>
              <a:buChar char="○"/>
            </a:pPr>
            <a:r>
              <a:rPr lang="en-US" sz="1570"/>
              <a:t>List all of the booster versions that carried the max payload mass</a:t>
            </a:r>
            <a:endParaRPr sz="1570"/>
          </a:p>
          <a:p>
            <a:pPr indent="-328263" lvl="1" marL="914400" rtl="0" algn="l">
              <a:lnSpc>
                <a:spcPct val="115000"/>
              </a:lnSpc>
              <a:spcBef>
                <a:spcPts val="0"/>
              </a:spcBef>
              <a:spcAft>
                <a:spcPts val="0"/>
              </a:spcAft>
              <a:buSzPts val="1570"/>
              <a:buChar char="○"/>
            </a:pPr>
            <a:r>
              <a:rPr lang="en-US" sz="1570"/>
              <a:t>List the month name, outcome, booster version, and launch site for missions with failure outcomes landing on a drone ship in 2015.</a:t>
            </a:r>
            <a:endParaRPr sz="1570"/>
          </a:p>
          <a:p>
            <a:pPr indent="-328263" lvl="1" marL="914400" rtl="0" algn="l">
              <a:lnSpc>
                <a:spcPct val="115000"/>
              </a:lnSpc>
              <a:spcBef>
                <a:spcPts val="0"/>
              </a:spcBef>
              <a:spcAft>
                <a:spcPts val="0"/>
              </a:spcAft>
              <a:buSzPts val="1570"/>
              <a:buChar char="○"/>
            </a:pPr>
            <a:r>
              <a:rPr lang="en-US" sz="1570"/>
              <a:t>Show the distribution of outcomes between June 4th, 2010 and March 20th, 2017</a:t>
            </a:r>
            <a:endParaRPr sz="1570"/>
          </a:p>
          <a:p>
            <a:pPr indent="-355600" lvl="0" marL="457200" rtl="0" algn="l">
              <a:lnSpc>
                <a:spcPct val="100000"/>
              </a:lnSpc>
              <a:spcBef>
                <a:spcPts val="0"/>
              </a:spcBef>
              <a:spcAft>
                <a:spcPts val="0"/>
              </a:spcAft>
              <a:buSzPts val="2000"/>
              <a:buFont typeface="Calibri"/>
              <a:buChar char="●"/>
            </a:pPr>
            <a:r>
              <a:rPr lang="en-US" sz="2000" u="sng">
                <a:solidFill>
                  <a:schemeClr val="hlink"/>
                </a:solidFill>
                <a:hlinkClick r:id="rId4"/>
              </a:rPr>
              <a:t>Github URL</a:t>
            </a:r>
            <a:endParaRPr b="1" sz="2000"/>
          </a:p>
        </p:txBody>
      </p:sp>
      <p:sp>
        <p:nvSpPr>
          <p:cNvPr id="177" name="Google Shape;177;p26"/>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EDA with SQL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
        <p:nvSpPr>
          <p:cNvPr id="182" name="Google Shape;182;p27"/>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183" name="Google Shape;183;p27"/>
          <p:cNvSpPr txBox="1"/>
          <p:nvPr>
            <p:ph idx="4294967295" type="body"/>
          </p:nvPr>
        </p:nvSpPr>
        <p:spPr>
          <a:xfrm>
            <a:off x="815725" y="1384476"/>
            <a:ext cx="10538100" cy="4842000"/>
          </a:xfrm>
          <a:prstGeom prst="rect">
            <a:avLst/>
          </a:prstGeom>
          <a:noFill/>
          <a:ln>
            <a:noFill/>
          </a:ln>
        </p:spPr>
        <p:txBody>
          <a:bodyPr anchorCtr="0" anchor="t" bIns="45700" lIns="45700" spcFirstLastPara="1" rIns="45700" wrap="square" tIns="45700">
            <a:normAutofit/>
          </a:bodyPr>
          <a:lstStyle/>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To find geographical patterns in the data the following items were marked on a map of launch sites:</a:t>
            </a:r>
            <a:endParaRPr sz="1800">
              <a:solidFill>
                <a:srgbClr val="292929"/>
              </a:solidFill>
              <a:latin typeface="Arial"/>
              <a:ea typeface="Arial"/>
              <a:cs typeface="Arial"/>
              <a:sym typeface="Arial"/>
            </a:endParaRPr>
          </a:p>
          <a:p>
            <a:pPr indent="-342900" lvl="1" marL="9144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All Launch Sites</a:t>
            </a:r>
            <a:endParaRPr sz="1800">
              <a:solidFill>
                <a:srgbClr val="292929"/>
              </a:solidFill>
              <a:latin typeface="Arial"/>
              <a:ea typeface="Arial"/>
              <a:cs typeface="Arial"/>
              <a:sym typeface="Arial"/>
            </a:endParaRPr>
          </a:p>
          <a:p>
            <a:pPr indent="-342900" lvl="1" marL="9144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Successful and Failed Launches</a:t>
            </a:r>
            <a:endParaRPr sz="1800">
              <a:solidFill>
                <a:srgbClr val="292929"/>
              </a:solidFill>
              <a:latin typeface="Arial"/>
              <a:ea typeface="Arial"/>
              <a:cs typeface="Arial"/>
              <a:sym typeface="Arial"/>
            </a:endParaRPr>
          </a:p>
          <a:p>
            <a:pPr indent="-342900" lvl="1" marL="9144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Distances between a launch site and proximate landmark</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330200" lvl="0" marL="457200" rtl="0" algn="l">
              <a:lnSpc>
                <a:spcPct val="100000"/>
              </a:lnSpc>
              <a:spcBef>
                <a:spcPts val="1400"/>
              </a:spcBef>
              <a:spcAft>
                <a:spcPts val="0"/>
              </a:spcAft>
              <a:buClr>
                <a:srgbClr val="292929"/>
              </a:buClr>
              <a:buSzPts val="1600"/>
              <a:buChar char="•"/>
            </a:pPr>
            <a:r>
              <a:rPr lang="en-US" sz="1800" u="sng">
                <a:solidFill>
                  <a:schemeClr val="hlink"/>
                </a:solidFill>
                <a:latin typeface="Arial"/>
                <a:ea typeface="Arial"/>
                <a:cs typeface="Arial"/>
                <a:sym typeface="Arial"/>
                <a:hlinkClick r:id="rId4"/>
              </a:rPr>
              <a:t>Github URL</a:t>
            </a:r>
            <a:endParaRPr sz="1600">
              <a:solidFill>
                <a:srgbClr val="292929"/>
              </a:solidFill>
              <a:latin typeface="Arial"/>
              <a:ea typeface="Arial"/>
              <a:cs typeface="Arial"/>
              <a:sym typeface="Arial"/>
            </a:endParaRPr>
          </a:p>
        </p:txBody>
      </p:sp>
      <p:sp>
        <p:nvSpPr>
          <p:cNvPr id="184" name="Google Shape;184;p27"/>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Build an Interactive Map with Folium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sp>
        <p:nvSpPr>
          <p:cNvPr id="189" name="Google Shape;189;p28"/>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190" name="Google Shape;190;p28"/>
          <p:cNvSpPr txBox="1"/>
          <p:nvPr>
            <p:ph idx="4294967295" type="body"/>
          </p:nvPr>
        </p:nvSpPr>
        <p:spPr>
          <a:xfrm>
            <a:off x="770000" y="1363025"/>
            <a:ext cx="10574100" cy="4814100"/>
          </a:xfrm>
          <a:prstGeom prst="rect">
            <a:avLst/>
          </a:prstGeom>
          <a:noFill/>
          <a:ln>
            <a:noFill/>
          </a:ln>
        </p:spPr>
        <p:txBody>
          <a:bodyPr anchorCtr="0" anchor="t" bIns="45700" lIns="45700" spcFirstLastPara="1" rIns="45700" wrap="square" tIns="45700">
            <a:normAutofit/>
          </a:bodyPr>
          <a:lstStyle/>
          <a:p>
            <a:pPr indent="-152400" lvl="0" marL="228600" rtl="0" algn="l">
              <a:lnSpc>
                <a:spcPct val="115000"/>
              </a:lnSpc>
              <a:spcBef>
                <a:spcPts val="0"/>
              </a:spcBef>
              <a:spcAft>
                <a:spcPts val="0"/>
              </a:spcAft>
              <a:buClr>
                <a:srgbClr val="292929"/>
              </a:buClr>
              <a:buSzPts val="1600"/>
              <a:buChar char="•"/>
            </a:pPr>
            <a:r>
              <a:rPr lang="en-US" sz="1600">
                <a:solidFill>
                  <a:srgbClr val="292929"/>
                </a:solidFill>
                <a:latin typeface="Arial"/>
                <a:ea typeface="Arial"/>
                <a:cs typeface="Arial"/>
                <a:sym typeface="Arial"/>
              </a:rPr>
              <a:t>To enable interactive exploration of the data, a Plotly Dash dashboard was developed</a:t>
            </a:r>
            <a:endParaRPr sz="1600">
              <a:solidFill>
                <a:srgbClr val="292929"/>
              </a:solidFill>
              <a:latin typeface="Arial"/>
              <a:ea typeface="Arial"/>
              <a:cs typeface="Arial"/>
              <a:sym typeface="Arial"/>
            </a:endParaRPr>
          </a:p>
          <a:p>
            <a:pPr indent="0" lvl="0" marL="228600" rtl="0" algn="l">
              <a:lnSpc>
                <a:spcPct val="115000"/>
              </a:lnSpc>
              <a:spcBef>
                <a:spcPts val="0"/>
              </a:spcBef>
              <a:spcAft>
                <a:spcPts val="0"/>
              </a:spcAft>
              <a:buNone/>
            </a:pPr>
            <a:r>
              <a:rPr lang="en-US" sz="1600">
                <a:solidFill>
                  <a:srgbClr val="292929"/>
                </a:solidFill>
                <a:latin typeface="Arial"/>
                <a:ea typeface="Arial"/>
                <a:cs typeface="Arial"/>
                <a:sym typeface="Arial"/>
              </a:rPr>
              <a:t>to include:</a:t>
            </a:r>
            <a:endParaRPr sz="1600">
              <a:solidFill>
                <a:srgbClr val="292929"/>
              </a:solidFill>
              <a:latin typeface="Arial"/>
              <a:ea typeface="Arial"/>
              <a:cs typeface="Arial"/>
              <a:sym typeface="Arial"/>
            </a:endParaRPr>
          </a:p>
          <a:p>
            <a:pPr indent="228600" lvl="0" marL="228600" rtl="0" algn="l">
              <a:lnSpc>
                <a:spcPct val="115000"/>
              </a:lnSpc>
              <a:spcBef>
                <a:spcPts val="0"/>
              </a:spcBef>
              <a:spcAft>
                <a:spcPts val="0"/>
              </a:spcAft>
              <a:buNone/>
            </a:pPr>
            <a:r>
              <a:rPr lang="en-US" sz="1600">
                <a:solidFill>
                  <a:srgbClr val="292929"/>
                </a:solidFill>
                <a:latin typeface="Arial"/>
                <a:ea typeface="Arial"/>
                <a:cs typeface="Arial"/>
                <a:sym typeface="Arial"/>
              </a:rPr>
              <a:t>o A dropdown selector to choose a Launch Site, affecting:</a:t>
            </a:r>
            <a:endParaRPr sz="1600">
              <a:solidFill>
                <a:srgbClr val="292929"/>
              </a:solidFill>
              <a:latin typeface="Arial"/>
              <a:ea typeface="Arial"/>
              <a:cs typeface="Arial"/>
              <a:sym typeface="Arial"/>
            </a:endParaRPr>
          </a:p>
          <a:p>
            <a:pPr indent="228600" lvl="0" marL="685800" rtl="0" algn="l">
              <a:lnSpc>
                <a:spcPct val="115000"/>
              </a:lnSpc>
              <a:spcBef>
                <a:spcPts val="0"/>
              </a:spcBef>
              <a:spcAft>
                <a:spcPts val="0"/>
              </a:spcAft>
              <a:buNone/>
            </a:pPr>
            <a:r>
              <a:rPr lang="en-US" sz="1600">
                <a:solidFill>
                  <a:srgbClr val="292929"/>
                </a:solidFill>
                <a:latin typeface="Arial"/>
                <a:ea typeface="Arial"/>
                <a:cs typeface="Arial"/>
                <a:sym typeface="Arial"/>
              </a:rPr>
              <a:t>▪ A pie chart</a:t>
            </a:r>
            <a:endParaRPr sz="1600">
              <a:solidFill>
                <a:srgbClr val="292929"/>
              </a:solidFill>
              <a:latin typeface="Arial"/>
              <a:ea typeface="Arial"/>
              <a:cs typeface="Arial"/>
              <a:sym typeface="Arial"/>
            </a:endParaRPr>
          </a:p>
          <a:p>
            <a:pPr indent="228600" lvl="0" marL="1143000" rtl="0" algn="l">
              <a:lnSpc>
                <a:spcPct val="115000"/>
              </a:lnSpc>
              <a:spcBef>
                <a:spcPts val="0"/>
              </a:spcBef>
              <a:spcAft>
                <a:spcPts val="0"/>
              </a:spcAft>
              <a:buNone/>
            </a:pPr>
            <a:r>
              <a:rPr lang="en-US" sz="1600">
                <a:solidFill>
                  <a:srgbClr val="292929"/>
                </a:solidFill>
                <a:latin typeface="Arial"/>
                <a:ea typeface="Arial"/>
                <a:cs typeface="Arial"/>
                <a:sym typeface="Arial"/>
              </a:rPr>
              <a:t>• All sites selected: shows the breakdown of successful outcomes across all  sites</a:t>
            </a:r>
            <a:endParaRPr sz="1600">
              <a:solidFill>
                <a:srgbClr val="292929"/>
              </a:solidFill>
              <a:latin typeface="Arial"/>
              <a:ea typeface="Arial"/>
              <a:cs typeface="Arial"/>
              <a:sym typeface="Arial"/>
            </a:endParaRPr>
          </a:p>
          <a:p>
            <a:pPr indent="457200" lvl="0" marL="914400" rtl="0" algn="l">
              <a:lnSpc>
                <a:spcPct val="115000"/>
              </a:lnSpc>
              <a:spcBef>
                <a:spcPts val="0"/>
              </a:spcBef>
              <a:spcAft>
                <a:spcPts val="0"/>
              </a:spcAft>
              <a:buNone/>
            </a:pPr>
            <a:r>
              <a:rPr lang="en-US" sz="1600">
                <a:solidFill>
                  <a:srgbClr val="292929"/>
                </a:solidFill>
                <a:latin typeface="Arial"/>
                <a:ea typeface="Arial"/>
                <a:cs typeface="Arial"/>
                <a:sym typeface="Arial"/>
              </a:rPr>
              <a:t>• A launch site selected: shows the breakdown of successful vs failed launches for the given site</a:t>
            </a:r>
            <a:endParaRPr sz="1600">
              <a:solidFill>
                <a:srgbClr val="292929"/>
              </a:solidFill>
              <a:latin typeface="Arial"/>
              <a:ea typeface="Arial"/>
              <a:cs typeface="Arial"/>
              <a:sym typeface="Arial"/>
            </a:endParaRPr>
          </a:p>
          <a:p>
            <a:pPr indent="228600" lvl="0" marL="685800" rtl="0" algn="l">
              <a:lnSpc>
                <a:spcPct val="115000"/>
              </a:lnSpc>
              <a:spcBef>
                <a:spcPts val="0"/>
              </a:spcBef>
              <a:spcAft>
                <a:spcPts val="0"/>
              </a:spcAft>
              <a:buNone/>
            </a:pPr>
            <a:r>
              <a:rPr lang="en-US" sz="1600">
                <a:solidFill>
                  <a:srgbClr val="292929"/>
                </a:solidFill>
                <a:latin typeface="Arial"/>
                <a:ea typeface="Arial"/>
                <a:cs typeface="Arial"/>
                <a:sym typeface="Arial"/>
              </a:rPr>
              <a:t>▪ A scatter plot</a:t>
            </a:r>
            <a:endParaRPr sz="1600">
              <a:solidFill>
                <a:srgbClr val="292929"/>
              </a:solidFill>
              <a:latin typeface="Arial"/>
              <a:ea typeface="Arial"/>
              <a:cs typeface="Arial"/>
              <a:sym typeface="Arial"/>
            </a:endParaRPr>
          </a:p>
          <a:p>
            <a:pPr indent="228600" lvl="0" marL="1143000" rtl="0" algn="l">
              <a:lnSpc>
                <a:spcPct val="115000"/>
              </a:lnSpc>
              <a:spcBef>
                <a:spcPts val="0"/>
              </a:spcBef>
              <a:spcAft>
                <a:spcPts val="0"/>
              </a:spcAft>
              <a:buNone/>
            </a:pPr>
            <a:r>
              <a:rPr lang="en-US" sz="1600">
                <a:solidFill>
                  <a:srgbClr val="292929"/>
                </a:solidFill>
                <a:latin typeface="Arial"/>
                <a:ea typeface="Arial"/>
                <a:cs typeface="Arial"/>
                <a:sym typeface="Arial"/>
              </a:rPr>
              <a:t>• All sites selected: shows outcome by payload mass and booster version for all sites</a:t>
            </a:r>
            <a:endParaRPr sz="1600">
              <a:solidFill>
                <a:srgbClr val="292929"/>
              </a:solidFill>
              <a:latin typeface="Arial"/>
              <a:ea typeface="Arial"/>
              <a:cs typeface="Arial"/>
              <a:sym typeface="Arial"/>
            </a:endParaRPr>
          </a:p>
          <a:p>
            <a:pPr indent="228600" lvl="0" marL="1143000" rtl="0" algn="l">
              <a:lnSpc>
                <a:spcPct val="115000"/>
              </a:lnSpc>
              <a:spcBef>
                <a:spcPts val="0"/>
              </a:spcBef>
              <a:spcAft>
                <a:spcPts val="0"/>
              </a:spcAft>
              <a:buNone/>
            </a:pPr>
            <a:r>
              <a:rPr lang="en-US" sz="1600">
                <a:solidFill>
                  <a:srgbClr val="292929"/>
                </a:solidFill>
                <a:latin typeface="Arial"/>
                <a:ea typeface="Arial"/>
                <a:cs typeface="Arial"/>
                <a:sym typeface="Arial"/>
              </a:rPr>
              <a:t>• A launch site selected: shows outcome by payload mass and booster version for the given site</a:t>
            </a:r>
            <a:endParaRPr sz="1600">
              <a:solidFill>
                <a:srgbClr val="292929"/>
              </a:solidFill>
              <a:latin typeface="Arial"/>
              <a:ea typeface="Arial"/>
              <a:cs typeface="Arial"/>
              <a:sym typeface="Arial"/>
            </a:endParaRPr>
          </a:p>
          <a:p>
            <a:pPr indent="228600" lvl="0" marL="1143000" rtl="0" algn="l">
              <a:lnSpc>
                <a:spcPct val="115000"/>
              </a:lnSpc>
              <a:spcBef>
                <a:spcPts val="0"/>
              </a:spcBef>
              <a:spcAft>
                <a:spcPts val="0"/>
              </a:spcAft>
              <a:buNone/>
            </a:pPr>
            <a:r>
              <a:rPr lang="en-US" sz="1600">
                <a:solidFill>
                  <a:srgbClr val="292929"/>
                </a:solidFill>
                <a:latin typeface="Arial"/>
                <a:ea typeface="Arial"/>
                <a:cs typeface="Arial"/>
                <a:sym typeface="Arial"/>
              </a:rPr>
              <a:t>o A Payload Mass range selector that filters data points on the scatter plot</a:t>
            </a:r>
            <a:endParaRPr sz="1600">
              <a:solidFill>
                <a:srgbClr val="292929"/>
              </a:solidFill>
              <a:latin typeface="Arial"/>
              <a:ea typeface="Arial"/>
              <a:cs typeface="Arial"/>
              <a:sym typeface="Arial"/>
            </a:endParaRPr>
          </a:p>
          <a:p>
            <a:pPr indent="0" lvl="0" marL="228600" rtl="0" algn="l">
              <a:lnSpc>
                <a:spcPct val="115000"/>
              </a:lnSpc>
              <a:spcBef>
                <a:spcPts val="0"/>
              </a:spcBef>
              <a:spcAft>
                <a:spcPts val="0"/>
              </a:spcAft>
              <a:buNone/>
            </a:pPr>
            <a:r>
              <a:t/>
            </a:r>
            <a:endParaRPr sz="1600">
              <a:solidFill>
                <a:srgbClr val="292929"/>
              </a:solidFill>
              <a:latin typeface="Arial"/>
              <a:ea typeface="Arial"/>
              <a:cs typeface="Arial"/>
              <a:sym typeface="Arial"/>
            </a:endParaRPr>
          </a:p>
          <a:p>
            <a:pPr indent="0" lvl="0" marL="228600" rtl="0" algn="l">
              <a:lnSpc>
                <a:spcPct val="115000"/>
              </a:lnSpc>
              <a:spcBef>
                <a:spcPts val="0"/>
              </a:spcBef>
              <a:spcAft>
                <a:spcPts val="0"/>
              </a:spcAft>
              <a:buNone/>
            </a:pPr>
            <a:r>
              <a:rPr lang="en-US" sz="1600">
                <a:solidFill>
                  <a:srgbClr val="292929"/>
                </a:solidFill>
                <a:latin typeface="Arial"/>
                <a:ea typeface="Arial"/>
                <a:cs typeface="Arial"/>
                <a:sym typeface="Arial"/>
              </a:rPr>
              <a:t>• Plotly Dash App (</a:t>
            </a:r>
            <a:r>
              <a:rPr lang="en-US" sz="1600" u="sng">
                <a:solidFill>
                  <a:schemeClr val="hlink"/>
                </a:solidFill>
                <a:latin typeface="Arial"/>
                <a:ea typeface="Arial"/>
                <a:cs typeface="Arial"/>
                <a:sym typeface="Arial"/>
                <a:hlinkClick r:id="rId4"/>
              </a:rPr>
              <a:t>GitHub URL)</a:t>
            </a:r>
            <a:endParaRPr sz="1600">
              <a:solidFill>
                <a:srgbClr val="292929"/>
              </a:solidFill>
              <a:latin typeface="Arial"/>
              <a:ea typeface="Arial"/>
              <a:cs typeface="Arial"/>
              <a:sym typeface="Arial"/>
            </a:endParaRPr>
          </a:p>
        </p:txBody>
      </p:sp>
      <p:sp>
        <p:nvSpPr>
          <p:cNvPr id="191" name="Google Shape;191;p28"/>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Build a Dashboard with Plotly Dash</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5" name="Shape 195"/>
        <p:cNvGrpSpPr/>
        <p:nvPr/>
      </p:nvGrpSpPr>
      <p:grpSpPr>
        <a:xfrm>
          <a:off x="0" y="0"/>
          <a:ext cx="0" cy="0"/>
          <a:chOff x="0" y="0"/>
          <a:chExt cx="0" cy="0"/>
        </a:xfrm>
      </p:grpSpPr>
      <p:sp>
        <p:nvSpPr>
          <p:cNvPr id="196" name="Google Shape;196;p29"/>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197" name="Google Shape;197;p29"/>
          <p:cNvSpPr txBox="1"/>
          <p:nvPr>
            <p:ph idx="4294967295" type="body"/>
          </p:nvPr>
        </p:nvSpPr>
        <p:spPr>
          <a:xfrm>
            <a:off x="770000" y="1333225"/>
            <a:ext cx="5623500" cy="4843800"/>
          </a:xfrm>
          <a:prstGeom prst="rect">
            <a:avLst/>
          </a:prstGeom>
          <a:noFill/>
          <a:ln>
            <a:noFill/>
          </a:ln>
        </p:spPr>
        <p:txBody>
          <a:bodyPr anchorCtr="0" anchor="t" bIns="45700" lIns="45700" spcFirstLastPara="1" rIns="45700"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292929"/>
                </a:solidFill>
                <a:latin typeface="Arial"/>
                <a:ea typeface="Arial"/>
                <a:cs typeface="Arial"/>
                <a:sym typeface="Arial"/>
              </a:rPr>
              <a:t>• Load data</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solidFill>
                  <a:srgbClr val="292929"/>
                </a:solidFill>
                <a:latin typeface="Arial"/>
                <a:ea typeface="Arial"/>
                <a:cs typeface="Arial"/>
                <a:sym typeface="Arial"/>
              </a:rPr>
              <a:t>• Apply StandardizedScaler on X</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solidFill>
                  <a:srgbClr val="292929"/>
                </a:solidFill>
                <a:latin typeface="Arial"/>
                <a:ea typeface="Arial"/>
                <a:cs typeface="Arial"/>
                <a:sym typeface="Arial"/>
              </a:rPr>
              <a:t>• Convert Y to numpy array</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solidFill>
                  <a:srgbClr val="292929"/>
                </a:solidFill>
                <a:latin typeface="Arial"/>
                <a:ea typeface="Arial"/>
                <a:cs typeface="Arial"/>
                <a:sym typeface="Arial"/>
              </a:rPr>
              <a:t>• Split training and testing data</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solidFill>
                  <a:srgbClr val="292929"/>
                </a:solidFill>
                <a:latin typeface="Arial"/>
                <a:ea typeface="Arial"/>
                <a:cs typeface="Arial"/>
                <a:sym typeface="Arial"/>
              </a:rPr>
              <a:t>• Use GridSearchCV to test hyperparameters for multiple algorithms:</a:t>
            </a:r>
            <a:endParaRPr sz="1800">
              <a:solidFill>
                <a:srgbClr val="292929"/>
              </a:solidFill>
              <a:latin typeface="Arial"/>
              <a:ea typeface="Arial"/>
              <a:cs typeface="Arial"/>
              <a:sym typeface="Arial"/>
            </a:endParaRPr>
          </a:p>
          <a:p>
            <a:pPr indent="-330200" lvl="0" marL="457200" rtl="0" algn="l">
              <a:lnSpc>
                <a:spcPct val="115000"/>
              </a:lnSpc>
              <a:spcBef>
                <a:spcPts val="0"/>
              </a:spcBef>
              <a:spcAft>
                <a:spcPts val="0"/>
              </a:spcAft>
              <a:buClr>
                <a:srgbClr val="292929"/>
              </a:buClr>
              <a:buSzPts val="1600"/>
              <a:buFont typeface="Arial"/>
              <a:buChar char="●"/>
            </a:pPr>
            <a:r>
              <a:rPr lang="en-US" sz="1600">
                <a:solidFill>
                  <a:srgbClr val="292929"/>
                </a:solidFill>
                <a:latin typeface="Arial"/>
                <a:ea typeface="Arial"/>
                <a:cs typeface="Arial"/>
                <a:sym typeface="Arial"/>
              </a:rPr>
              <a:t>Logistic Regression</a:t>
            </a:r>
            <a:endParaRPr sz="1600">
              <a:solidFill>
                <a:srgbClr val="292929"/>
              </a:solidFill>
              <a:latin typeface="Arial"/>
              <a:ea typeface="Arial"/>
              <a:cs typeface="Arial"/>
              <a:sym typeface="Arial"/>
            </a:endParaRPr>
          </a:p>
          <a:p>
            <a:pPr indent="-330200" lvl="0" marL="457200" rtl="0" algn="l">
              <a:lnSpc>
                <a:spcPct val="115000"/>
              </a:lnSpc>
              <a:spcBef>
                <a:spcPts val="0"/>
              </a:spcBef>
              <a:spcAft>
                <a:spcPts val="0"/>
              </a:spcAft>
              <a:buClr>
                <a:srgbClr val="292929"/>
              </a:buClr>
              <a:buSzPts val="1600"/>
              <a:buFont typeface="Arial"/>
              <a:buChar char="●"/>
            </a:pPr>
            <a:r>
              <a:rPr lang="en-US" sz="1600">
                <a:solidFill>
                  <a:srgbClr val="292929"/>
                </a:solidFill>
                <a:latin typeface="Arial"/>
                <a:ea typeface="Arial"/>
                <a:cs typeface="Arial"/>
                <a:sym typeface="Arial"/>
              </a:rPr>
              <a:t>SVC</a:t>
            </a:r>
            <a:endParaRPr sz="1600">
              <a:solidFill>
                <a:srgbClr val="292929"/>
              </a:solidFill>
              <a:latin typeface="Arial"/>
              <a:ea typeface="Arial"/>
              <a:cs typeface="Arial"/>
              <a:sym typeface="Arial"/>
            </a:endParaRPr>
          </a:p>
          <a:p>
            <a:pPr indent="-330200" lvl="0" marL="457200" rtl="0" algn="l">
              <a:lnSpc>
                <a:spcPct val="115000"/>
              </a:lnSpc>
              <a:spcBef>
                <a:spcPts val="0"/>
              </a:spcBef>
              <a:spcAft>
                <a:spcPts val="0"/>
              </a:spcAft>
              <a:buClr>
                <a:srgbClr val="292929"/>
              </a:buClr>
              <a:buSzPts val="1600"/>
              <a:buFont typeface="Arial"/>
              <a:buChar char="●"/>
            </a:pPr>
            <a:r>
              <a:rPr lang="en-US" sz="1600">
                <a:solidFill>
                  <a:srgbClr val="292929"/>
                </a:solidFill>
                <a:latin typeface="Arial"/>
                <a:ea typeface="Arial"/>
                <a:cs typeface="Arial"/>
                <a:sym typeface="Arial"/>
              </a:rPr>
              <a:t>Decision Tree Classifier</a:t>
            </a:r>
            <a:endParaRPr sz="1600">
              <a:solidFill>
                <a:srgbClr val="292929"/>
              </a:solidFill>
              <a:latin typeface="Arial"/>
              <a:ea typeface="Arial"/>
              <a:cs typeface="Arial"/>
              <a:sym typeface="Arial"/>
            </a:endParaRPr>
          </a:p>
          <a:p>
            <a:pPr indent="-330200" lvl="0" marL="457200" rtl="0" algn="l">
              <a:lnSpc>
                <a:spcPct val="115000"/>
              </a:lnSpc>
              <a:spcBef>
                <a:spcPts val="0"/>
              </a:spcBef>
              <a:spcAft>
                <a:spcPts val="0"/>
              </a:spcAft>
              <a:buClr>
                <a:srgbClr val="292929"/>
              </a:buClr>
              <a:buSzPts val="1600"/>
              <a:buFont typeface="Arial"/>
              <a:buChar char="●"/>
            </a:pPr>
            <a:r>
              <a:rPr lang="en-US" sz="1600">
                <a:solidFill>
                  <a:srgbClr val="292929"/>
                </a:solidFill>
                <a:latin typeface="Arial"/>
                <a:ea typeface="Arial"/>
                <a:cs typeface="Arial"/>
                <a:sym typeface="Arial"/>
              </a:rPr>
              <a:t>K Neighbors Classifier</a:t>
            </a:r>
            <a:endParaRPr sz="16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600">
              <a:solidFill>
                <a:srgbClr val="292929"/>
              </a:solidFill>
              <a:latin typeface="Arial"/>
              <a:ea typeface="Arial"/>
              <a:cs typeface="Arial"/>
              <a:sym typeface="Arial"/>
            </a:endParaRPr>
          </a:p>
          <a:p>
            <a:pPr indent="-342900" lvl="0" marL="457200" rtl="0" algn="l">
              <a:lnSpc>
                <a:spcPct val="100000"/>
              </a:lnSpc>
              <a:spcBef>
                <a:spcPts val="1400"/>
              </a:spcBef>
              <a:spcAft>
                <a:spcPts val="0"/>
              </a:spcAft>
              <a:buClr>
                <a:srgbClr val="292929"/>
              </a:buClr>
              <a:buSzPts val="1800"/>
              <a:buFont typeface="Arial"/>
              <a:buChar char="•"/>
            </a:pPr>
            <a:r>
              <a:rPr lang="en-US" sz="1800">
                <a:solidFill>
                  <a:srgbClr val="292929"/>
                </a:solidFill>
                <a:latin typeface="Arial"/>
                <a:ea typeface="Arial"/>
                <a:cs typeface="Arial"/>
                <a:sym typeface="Arial"/>
              </a:rPr>
              <a:t>Notebook(</a:t>
            </a:r>
            <a:r>
              <a:rPr lang="en-US" sz="1800" u="sng">
                <a:solidFill>
                  <a:schemeClr val="hlink"/>
                </a:solidFill>
                <a:latin typeface="Arial"/>
                <a:ea typeface="Arial"/>
                <a:cs typeface="Arial"/>
                <a:sym typeface="Arial"/>
                <a:hlinkClick r:id="rId4"/>
              </a:rPr>
              <a:t>Github URL</a:t>
            </a:r>
            <a:r>
              <a:rPr lang="en-US" sz="1800">
                <a:solidFill>
                  <a:srgbClr val="292929"/>
                </a:solidFill>
                <a:latin typeface="Arial"/>
                <a:ea typeface="Arial"/>
                <a:cs typeface="Arial"/>
                <a:sym typeface="Arial"/>
              </a:rPr>
              <a:t>)</a:t>
            </a:r>
            <a:endParaRPr sz="1800">
              <a:solidFill>
                <a:srgbClr val="292929"/>
              </a:solidFill>
              <a:latin typeface="Arial"/>
              <a:ea typeface="Arial"/>
              <a:cs typeface="Arial"/>
              <a:sym typeface="Arial"/>
            </a:endParaRPr>
          </a:p>
        </p:txBody>
      </p:sp>
      <p:sp>
        <p:nvSpPr>
          <p:cNvPr id="198" name="Google Shape;198;p29"/>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Predictive Analysis (Classification)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sp>
        <p:nvSpPr>
          <p:cNvPr id="203" name="Google Shape;203;p30"/>
          <p:cNvSpPr txBox="1"/>
          <p:nvPr/>
        </p:nvSpPr>
        <p:spPr>
          <a:xfrm>
            <a:off x="886850" y="1427575"/>
            <a:ext cx="6977400" cy="2001300"/>
          </a:xfrm>
          <a:prstGeom prst="rect">
            <a:avLst/>
          </a:prstGeom>
          <a:noFill/>
          <a:ln>
            <a:noFill/>
          </a:ln>
        </p:spPr>
        <p:txBody>
          <a:bodyPr anchorCtr="0" anchor="t" bIns="45700" lIns="45700" spcFirstLastPara="1" rIns="45700" wrap="square" tIns="45700">
            <a:normAutofit/>
          </a:bodyPr>
          <a:lstStyle/>
          <a:p>
            <a:pPr indent="-173736" lvl="0" marL="173736" marR="0" rtl="0" algn="l">
              <a:lnSpc>
                <a:spcPct val="100000"/>
              </a:lnSpc>
              <a:spcBef>
                <a:spcPts val="0"/>
              </a:spcBef>
              <a:spcAft>
                <a:spcPts val="0"/>
              </a:spcAft>
              <a:buClr>
                <a:srgbClr val="292929"/>
              </a:buClr>
              <a:buSzPts val="1670"/>
              <a:buFont typeface="Arial"/>
              <a:buChar char="•"/>
            </a:pPr>
            <a:r>
              <a:rPr b="0" i="0" lang="en-US" sz="1671" u="none" cap="none" strike="noStrike">
                <a:solidFill>
                  <a:srgbClr val="292929"/>
                </a:solidFill>
                <a:latin typeface="Arial"/>
                <a:ea typeface="Arial"/>
                <a:cs typeface="Arial"/>
                <a:sym typeface="Arial"/>
              </a:rPr>
              <a:t>Exploratory data analysis results</a:t>
            </a:r>
            <a:endParaRPr b="0" i="0" sz="2128" u="none" cap="none" strike="noStrike">
              <a:solidFill>
                <a:srgbClr val="0070C0"/>
              </a:solidFill>
              <a:latin typeface="IBM Plex Mono"/>
              <a:ea typeface="IBM Plex Mono"/>
              <a:cs typeface="IBM Plex Mono"/>
              <a:sym typeface="IBM Plex Mono"/>
            </a:endParaRPr>
          </a:p>
          <a:p>
            <a:pPr indent="-173736" lvl="0" marL="173736" marR="0" rtl="0" algn="l">
              <a:lnSpc>
                <a:spcPct val="100000"/>
              </a:lnSpc>
              <a:spcBef>
                <a:spcPts val="1000"/>
              </a:spcBef>
              <a:spcAft>
                <a:spcPts val="0"/>
              </a:spcAft>
              <a:buClr>
                <a:srgbClr val="292929"/>
              </a:buClr>
              <a:buSzPts val="1670"/>
              <a:buFont typeface="Arial"/>
              <a:buChar char="•"/>
            </a:pPr>
            <a:r>
              <a:rPr b="0" i="0" lang="en-US" sz="1671" u="none" cap="none" strike="noStrike">
                <a:solidFill>
                  <a:srgbClr val="292929"/>
                </a:solidFill>
                <a:latin typeface="Arial"/>
                <a:ea typeface="Arial"/>
                <a:cs typeface="Arial"/>
                <a:sym typeface="Arial"/>
              </a:rPr>
              <a:t>Interactive analytics demo in screenshots</a:t>
            </a:r>
            <a:endParaRPr b="0" i="0" sz="2128" u="none" cap="none" strike="noStrike">
              <a:solidFill>
                <a:srgbClr val="0070C0"/>
              </a:solidFill>
              <a:latin typeface="IBM Plex Mono"/>
              <a:ea typeface="IBM Plex Mono"/>
              <a:cs typeface="IBM Plex Mono"/>
              <a:sym typeface="IBM Plex Mono"/>
            </a:endParaRPr>
          </a:p>
          <a:p>
            <a:pPr indent="-173736" lvl="0" marL="173736" marR="0" rtl="0" algn="l">
              <a:lnSpc>
                <a:spcPct val="100000"/>
              </a:lnSpc>
              <a:spcBef>
                <a:spcPts val="1000"/>
              </a:spcBef>
              <a:spcAft>
                <a:spcPts val="0"/>
              </a:spcAft>
              <a:buClr>
                <a:srgbClr val="292929"/>
              </a:buClr>
              <a:buSzPts val="1670"/>
              <a:buFont typeface="Arial"/>
              <a:buChar char="•"/>
            </a:pPr>
            <a:r>
              <a:rPr b="0" i="0" lang="en-US" sz="1671" u="none" cap="none" strike="noStrike">
                <a:solidFill>
                  <a:srgbClr val="292929"/>
                </a:solidFill>
                <a:latin typeface="Arial"/>
                <a:ea typeface="Arial"/>
                <a:cs typeface="Arial"/>
                <a:sym typeface="Arial"/>
              </a:rPr>
              <a:t>Predictive analysis results</a:t>
            </a:r>
            <a:endParaRPr b="0" i="0" sz="2128" u="none" cap="none" strike="noStrike">
              <a:solidFill>
                <a:srgbClr val="0070C0"/>
              </a:solidFill>
              <a:latin typeface="IBM Plex Mono"/>
              <a:ea typeface="IBM Plex Mono"/>
              <a:cs typeface="IBM Plex Mono"/>
              <a:sym typeface="IBM Plex Mono"/>
            </a:endParaRPr>
          </a:p>
          <a:p>
            <a:pPr indent="-38608" lvl="1" marL="521208" marR="0" rtl="0" algn="l">
              <a:lnSpc>
                <a:spcPct val="90000"/>
              </a:lnSpc>
              <a:spcBef>
                <a:spcPts val="300"/>
              </a:spcBef>
              <a:spcAft>
                <a:spcPts val="0"/>
              </a:spcAft>
              <a:buClr>
                <a:srgbClr val="0070C0"/>
              </a:buClr>
              <a:buSzPts val="2128"/>
              <a:buFont typeface="Arial"/>
              <a:buNone/>
            </a:pPr>
            <a:r>
              <a:t/>
            </a:r>
            <a:endParaRPr b="0" i="0" sz="2128" u="none" cap="none" strike="noStrike">
              <a:solidFill>
                <a:srgbClr val="0070C0"/>
              </a:solidFill>
              <a:latin typeface="IBM Plex Mono"/>
              <a:ea typeface="IBM Plex Mono"/>
              <a:cs typeface="IBM Plex Mono"/>
              <a:sym typeface="IBM Plex Mono"/>
            </a:endParaRPr>
          </a:p>
        </p:txBody>
      </p:sp>
      <p:sp>
        <p:nvSpPr>
          <p:cNvPr id="204" name="Google Shape;204;p30"/>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05" name="Google Shape;205;p30"/>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Results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9" name="Shape 209"/>
        <p:cNvGrpSpPr/>
        <p:nvPr/>
      </p:nvGrpSpPr>
      <p:grpSpPr>
        <a:xfrm>
          <a:off x="0" y="0"/>
          <a:ext cx="0" cy="0"/>
          <a:chOff x="0" y="0"/>
          <a:chExt cx="0" cy="0"/>
        </a:xfrm>
      </p:grpSpPr>
      <p:sp>
        <p:nvSpPr>
          <p:cNvPr id="210" name="Google Shape;210;p31"/>
          <p:cNvSpPr txBox="1"/>
          <p:nvPr/>
        </p:nvSpPr>
        <p:spPr>
          <a:xfrm>
            <a:off x="797969" y="2529745"/>
            <a:ext cx="956815" cy="333089"/>
          </a:xfrm>
          <a:prstGeom prst="rect">
            <a:avLst/>
          </a:prstGeom>
          <a:solidFill>
            <a:srgbClr val="0948CB"/>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Section 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4" name="Shape 214"/>
        <p:cNvGrpSpPr/>
        <p:nvPr/>
      </p:nvGrpSpPr>
      <p:grpSpPr>
        <a:xfrm>
          <a:off x="0" y="0"/>
          <a:ext cx="0" cy="0"/>
          <a:chOff x="0" y="0"/>
          <a:chExt cx="0" cy="0"/>
        </a:xfrm>
      </p:grpSpPr>
      <p:sp>
        <p:nvSpPr>
          <p:cNvPr id="215" name="Google Shape;215;p32"/>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16" name="Google Shape;216;p32"/>
          <p:cNvSpPr txBox="1"/>
          <p:nvPr>
            <p:ph idx="4294967295" type="body"/>
          </p:nvPr>
        </p:nvSpPr>
        <p:spPr>
          <a:xfrm>
            <a:off x="887825" y="1396975"/>
            <a:ext cx="10424100" cy="4491300"/>
          </a:xfrm>
          <a:prstGeom prst="rect">
            <a:avLst/>
          </a:prstGeom>
          <a:noFill/>
          <a:ln>
            <a:noFill/>
          </a:ln>
        </p:spPr>
        <p:txBody>
          <a:bodyPr anchorCtr="0" anchor="t" bIns="45700" lIns="45700" spcFirstLastPara="1" rIns="45700" wrap="square" tIns="45700">
            <a:normAutofit/>
          </a:bodyPr>
          <a:lstStyle/>
          <a:p>
            <a:pPr indent="-342900" lvl="0" marL="457200" rtl="0" algn="l">
              <a:lnSpc>
                <a:spcPct val="115000"/>
              </a:lnSpc>
              <a:spcBef>
                <a:spcPts val="0"/>
              </a:spcBef>
              <a:spcAft>
                <a:spcPts val="0"/>
              </a:spcAft>
              <a:buSzPts val="1800"/>
              <a:buChar char="•"/>
            </a:pPr>
            <a:r>
              <a:rPr lang="en-US" sz="1800"/>
              <a:t>All sites show a mix of first stage landing successes and failures, with successes increasing over time.</a:t>
            </a:r>
            <a:endParaRPr sz="1800"/>
          </a:p>
          <a:p>
            <a:pPr indent="-342900" lvl="0" marL="457200" rtl="0" algn="l">
              <a:lnSpc>
                <a:spcPct val="115000"/>
              </a:lnSpc>
              <a:spcBef>
                <a:spcPts val="0"/>
              </a:spcBef>
              <a:spcAft>
                <a:spcPts val="0"/>
              </a:spcAft>
              <a:buSzPts val="1800"/>
              <a:buChar char="•"/>
            </a:pPr>
            <a:r>
              <a:rPr lang="en-US" sz="1800"/>
              <a:t>Early flights predominantly resulted in failures, indicating improvements to technology or process.</a:t>
            </a:r>
            <a:endParaRPr sz="1800"/>
          </a:p>
          <a:p>
            <a:pPr indent="-342900" lvl="0" marL="457200" rtl="0" algn="l">
              <a:lnSpc>
                <a:spcPct val="115000"/>
              </a:lnSpc>
              <a:spcBef>
                <a:spcPts val="0"/>
              </a:spcBef>
              <a:spcAft>
                <a:spcPts val="0"/>
              </a:spcAft>
              <a:buSzPts val="1800"/>
              <a:buChar char="•"/>
            </a:pPr>
            <a:r>
              <a:rPr lang="en-US" sz="1800"/>
              <a:t>While CCAFS SLC 40 has the most total flights, VAFB SLC 4E appears to have a relatively higher.</a:t>
            </a:r>
            <a:endParaRPr sz="1800"/>
          </a:p>
          <a:p>
            <a:pPr indent="0" lvl="0" marL="0" rtl="0" algn="l">
              <a:lnSpc>
                <a:spcPct val="115000"/>
              </a:lnSpc>
              <a:spcBef>
                <a:spcPts val="0"/>
              </a:spcBef>
              <a:spcAft>
                <a:spcPts val="0"/>
              </a:spcAft>
              <a:buClr>
                <a:schemeClr val="dk1"/>
              </a:buClr>
              <a:buSzPts val="1100"/>
              <a:buFont typeface="Arial"/>
              <a:buNone/>
            </a:pPr>
            <a:r>
              <a:t/>
            </a:r>
            <a:endParaRPr/>
          </a:p>
          <a:p>
            <a:pPr indent="-406400" lvl="0" marL="457200" rtl="0" algn="l">
              <a:lnSpc>
                <a:spcPct val="100000"/>
              </a:lnSpc>
              <a:spcBef>
                <a:spcPts val="1400"/>
              </a:spcBef>
              <a:spcAft>
                <a:spcPts val="0"/>
              </a:spcAft>
              <a:buSzPts val="2800"/>
              <a:buChar char="•"/>
            </a:pPr>
            <a:r>
              <a:t/>
            </a:r>
            <a:endParaRPr/>
          </a:p>
        </p:txBody>
      </p:sp>
      <p:sp>
        <p:nvSpPr>
          <p:cNvPr id="217" name="Google Shape;217;p32"/>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Flight Number vs. Launch Site</a:t>
            </a:r>
            <a:endParaRPr/>
          </a:p>
        </p:txBody>
      </p:sp>
      <p:pic>
        <p:nvPicPr>
          <p:cNvPr id="218" name="Google Shape;218;p32"/>
          <p:cNvPicPr preferRelativeResize="0"/>
          <p:nvPr/>
        </p:nvPicPr>
        <p:blipFill>
          <a:blip r:embed="rId4">
            <a:alphaModFix/>
          </a:blip>
          <a:stretch>
            <a:fillRect/>
          </a:stretch>
        </p:blipFill>
        <p:spPr>
          <a:xfrm>
            <a:off x="991853" y="2561550"/>
            <a:ext cx="10208283" cy="3245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 name="Shape 222"/>
        <p:cNvGrpSpPr/>
        <p:nvPr/>
      </p:nvGrpSpPr>
      <p:grpSpPr>
        <a:xfrm>
          <a:off x="0" y="0"/>
          <a:ext cx="0" cy="0"/>
          <a:chOff x="0" y="0"/>
          <a:chExt cx="0" cy="0"/>
        </a:xfrm>
      </p:grpSpPr>
      <p:sp>
        <p:nvSpPr>
          <p:cNvPr id="223" name="Google Shape;223;p33"/>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24" name="Google Shape;224;p33"/>
          <p:cNvSpPr txBox="1"/>
          <p:nvPr>
            <p:ph idx="4294967295" type="body"/>
          </p:nvPr>
        </p:nvSpPr>
        <p:spPr>
          <a:xfrm>
            <a:off x="878725" y="1323125"/>
            <a:ext cx="10579200" cy="4548900"/>
          </a:xfrm>
          <a:prstGeom prst="rect">
            <a:avLst/>
          </a:prstGeom>
          <a:noFill/>
          <a:ln>
            <a:noFill/>
          </a:ln>
        </p:spPr>
        <p:txBody>
          <a:bodyPr anchorCtr="0" anchor="t" bIns="45700" lIns="45700" spcFirstLastPara="1" rIns="45700" wrap="square" tIns="45700">
            <a:normAutofit/>
          </a:bodyPr>
          <a:lstStyle/>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All sites show a wide range of payload weights, from light to heavy payloads.</a:t>
            </a:r>
            <a:endParaRPr sz="1800">
              <a:solidFill>
                <a:srgbClr val="292929"/>
              </a:solidFill>
              <a:latin typeface="Arial"/>
              <a:ea typeface="Arial"/>
              <a:cs typeface="Arial"/>
              <a:sym typeface="Arial"/>
            </a:endParaRPr>
          </a:p>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Early flights trend toward lighter payloads, representing the bulk of the landing failures.</a:t>
            </a:r>
            <a:endParaRPr sz="1800">
              <a:solidFill>
                <a:srgbClr val="292929"/>
              </a:solidFill>
              <a:latin typeface="Arial"/>
              <a:ea typeface="Arial"/>
              <a:cs typeface="Arial"/>
              <a:sym typeface="Arial"/>
            </a:endParaRPr>
          </a:p>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This suggests technological or operational improvements lead to a greater rate of success with heavier payloads.</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22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225" name="Google Shape;225;p33"/>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Payload vs. Launch Site</a:t>
            </a:r>
            <a:endParaRPr/>
          </a:p>
        </p:txBody>
      </p:sp>
      <p:sp>
        <p:nvSpPr>
          <p:cNvPr id="226" name="Google Shape;226;p3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p>
        </p:txBody>
      </p:sp>
      <p:pic>
        <p:nvPicPr>
          <p:cNvPr id="227" name="Google Shape;227;p33"/>
          <p:cNvPicPr preferRelativeResize="0"/>
          <p:nvPr/>
        </p:nvPicPr>
        <p:blipFill>
          <a:blip r:embed="rId4">
            <a:alphaModFix/>
          </a:blip>
          <a:stretch>
            <a:fillRect/>
          </a:stretch>
        </p:blipFill>
        <p:spPr>
          <a:xfrm>
            <a:off x="981350" y="2798875"/>
            <a:ext cx="10532625" cy="3261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1" name="Shape 231"/>
        <p:cNvGrpSpPr/>
        <p:nvPr/>
      </p:nvGrpSpPr>
      <p:grpSpPr>
        <a:xfrm>
          <a:off x="0" y="0"/>
          <a:ext cx="0" cy="0"/>
          <a:chOff x="0" y="0"/>
          <a:chExt cx="0" cy="0"/>
        </a:xfrm>
      </p:grpSpPr>
      <p:sp>
        <p:nvSpPr>
          <p:cNvPr id="232" name="Google Shape;232;p34"/>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33" name="Google Shape;233;p34"/>
          <p:cNvSpPr txBox="1"/>
          <p:nvPr>
            <p:ph idx="4294967295" type="body"/>
          </p:nvPr>
        </p:nvSpPr>
        <p:spPr>
          <a:xfrm>
            <a:off x="769975" y="1352275"/>
            <a:ext cx="10638600" cy="4541400"/>
          </a:xfrm>
          <a:prstGeom prst="rect">
            <a:avLst/>
          </a:prstGeom>
          <a:noFill/>
          <a:ln>
            <a:noFill/>
          </a:ln>
        </p:spPr>
        <p:txBody>
          <a:bodyPr anchorCtr="0" anchor="t" bIns="45700" lIns="45700" spcFirstLastPara="1" rIns="45700" wrap="square" tIns="45700">
            <a:normAutofit/>
          </a:bodyPr>
          <a:lstStyle/>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Some orbits, such as ES-L1, SSO, HEO, and GEO consistently show high success rates.</a:t>
            </a:r>
            <a:endParaRPr sz="1800">
              <a:solidFill>
                <a:srgbClr val="292929"/>
              </a:solidFill>
              <a:latin typeface="Arial"/>
              <a:ea typeface="Arial"/>
              <a:cs typeface="Arial"/>
              <a:sym typeface="Arial"/>
            </a:endParaRPr>
          </a:p>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Others such as GTO show more mixed outcomes, suggesting some orbit types may introduce operational or technological challenges.</a:t>
            </a:r>
            <a:endParaRPr sz="1800">
              <a:solidFill>
                <a:srgbClr val="292929"/>
              </a:solidFill>
              <a:latin typeface="Arial"/>
              <a:ea typeface="Arial"/>
              <a:cs typeface="Arial"/>
              <a:sym typeface="Arial"/>
            </a:endParaRPr>
          </a:p>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With only one launch, there is not enough data for the SO orbit type to provide an accurate analysis.</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sz="1800">
              <a:solidFill>
                <a:srgbClr val="292929"/>
              </a:solidFill>
              <a:latin typeface="Arial"/>
              <a:ea typeface="Arial"/>
              <a:cs typeface="Arial"/>
              <a:sym typeface="Arial"/>
            </a:endParaRPr>
          </a:p>
        </p:txBody>
      </p:sp>
      <p:sp>
        <p:nvSpPr>
          <p:cNvPr id="234" name="Google Shape;234;p34"/>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Success Rate vs. Orbit Type</a:t>
            </a:r>
            <a:endParaRPr/>
          </a:p>
        </p:txBody>
      </p:sp>
      <p:pic>
        <p:nvPicPr>
          <p:cNvPr id="235" name="Google Shape;235;p34"/>
          <p:cNvPicPr preferRelativeResize="0"/>
          <p:nvPr/>
        </p:nvPicPr>
        <p:blipFill>
          <a:blip r:embed="rId4">
            <a:alphaModFix/>
          </a:blip>
          <a:stretch>
            <a:fillRect/>
          </a:stretch>
        </p:blipFill>
        <p:spPr>
          <a:xfrm>
            <a:off x="987375" y="3080200"/>
            <a:ext cx="10140425" cy="26294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35"/>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41" name="Google Shape;241;p35"/>
          <p:cNvSpPr txBox="1"/>
          <p:nvPr>
            <p:ph idx="4294967295" type="body"/>
          </p:nvPr>
        </p:nvSpPr>
        <p:spPr>
          <a:xfrm>
            <a:off x="815725" y="1384475"/>
            <a:ext cx="10581900" cy="4497000"/>
          </a:xfrm>
          <a:prstGeom prst="rect">
            <a:avLst/>
          </a:prstGeom>
          <a:noFill/>
          <a:ln>
            <a:noFill/>
          </a:ln>
        </p:spPr>
        <p:txBody>
          <a:bodyPr anchorCtr="0" anchor="t" bIns="45700" lIns="45700" spcFirstLastPara="1" rIns="45700" wrap="square" tIns="45700">
            <a:normAutofit/>
          </a:bodyPr>
          <a:lstStyle/>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Many orbits are represented throughout the flight number range, some orbits are not attempted until later flights.</a:t>
            </a:r>
            <a:endParaRPr sz="1800">
              <a:solidFill>
                <a:srgbClr val="292929"/>
              </a:solidFill>
              <a:latin typeface="Arial"/>
              <a:ea typeface="Arial"/>
              <a:cs typeface="Arial"/>
              <a:sym typeface="Arial"/>
            </a:endParaRPr>
          </a:p>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There is a noticeable improvement in landing success as flight numbers increase, indicating an accumulation of experience and ongoing improvements.</a:t>
            </a:r>
            <a:endParaRPr sz="18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242" name="Google Shape;242;p35"/>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Flight Number vs. Orbit Type</a:t>
            </a:r>
            <a:endParaRPr/>
          </a:p>
        </p:txBody>
      </p:sp>
      <p:pic>
        <p:nvPicPr>
          <p:cNvPr id="243" name="Google Shape;243;p35"/>
          <p:cNvPicPr preferRelativeResize="0"/>
          <p:nvPr/>
        </p:nvPicPr>
        <p:blipFill>
          <a:blip r:embed="rId4">
            <a:alphaModFix/>
          </a:blip>
          <a:stretch>
            <a:fillRect/>
          </a:stretch>
        </p:blipFill>
        <p:spPr>
          <a:xfrm>
            <a:off x="1014850" y="2836025"/>
            <a:ext cx="10680899" cy="3120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7" name="Shape 247"/>
        <p:cNvGrpSpPr/>
        <p:nvPr/>
      </p:nvGrpSpPr>
      <p:grpSpPr>
        <a:xfrm>
          <a:off x="0" y="0"/>
          <a:ext cx="0" cy="0"/>
          <a:chOff x="0" y="0"/>
          <a:chExt cx="0" cy="0"/>
        </a:xfrm>
      </p:grpSpPr>
      <p:sp>
        <p:nvSpPr>
          <p:cNvPr id="248" name="Google Shape;248;p36"/>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49" name="Google Shape;249;p36"/>
          <p:cNvSpPr txBox="1"/>
          <p:nvPr>
            <p:ph idx="4294967295" type="body"/>
          </p:nvPr>
        </p:nvSpPr>
        <p:spPr>
          <a:xfrm>
            <a:off x="769981" y="1395202"/>
            <a:ext cx="10688100" cy="4473900"/>
          </a:xfrm>
          <a:prstGeom prst="rect">
            <a:avLst/>
          </a:prstGeom>
          <a:noFill/>
          <a:ln>
            <a:noFill/>
          </a:ln>
        </p:spPr>
        <p:txBody>
          <a:bodyPr anchorCtr="0" anchor="t" bIns="45700" lIns="45700" spcFirstLastPara="1" rIns="45700" wrap="square" tIns="45700">
            <a:normAutofit/>
          </a:bodyPr>
          <a:lstStyle/>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Many orbits are represented across a wide range of payload masses, but others like SSO, MEO, HEO and GEO show a generally lower range.</a:t>
            </a:r>
            <a:endParaRPr sz="1800">
              <a:solidFill>
                <a:srgbClr val="292929"/>
              </a:solidFill>
              <a:latin typeface="Arial"/>
              <a:ea typeface="Arial"/>
              <a:cs typeface="Arial"/>
              <a:sym typeface="Arial"/>
            </a:endParaRPr>
          </a:p>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Orbits with a constrained payload range, tend to show a higher rate of landing success.</a:t>
            </a:r>
            <a:endParaRPr sz="1800">
              <a:solidFill>
                <a:srgbClr val="292929"/>
              </a:solidFill>
              <a:latin typeface="Arial"/>
              <a:ea typeface="Arial"/>
              <a:cs typeface="Arial"/>
              <a:sym typeface="Arial"/>
            </a:endParaRPr>
          </a:p>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While payload mass does not appear to directly determine mission success, its interplay with orbit suggests a significant correlation.</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250" name="Google Shape;250;p36"/>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Payload vs. Orbit Type</a:t>
            </a:r>
            <a:endParaRPr/>
          </a:p>
        </p:txBody>
      </p:sp>
      <p:pic>
        <p:nvPicPr>
          <p:cNvPr id="251" name="Google Shape;251;p36"/>
          <p:cNvPicPr preferRelativeResize="0"/>
          <p:nvPr/>
        </p:nvPicPr>
        <p:blipFill>
          <a:blip r:embed="rId4">
            <a:alphaModFix/>
          </a:blip>
          <a:stretch>
            <a:fillRect/>
          </a:stretch>
        </p:blipFill>
        <p:spPr>
          <a:xfrm>
            <a:off x="1363000" y="3093975"/>
            <a:ext cx="9573300" cy="29660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p37"/>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57" name="Google Shape;257;p37"/>
          <p:cNvSpPr txBox="1"/>
          <p:nvPr>
            <p:ph idx="4294967295" type="body"/>
          </p:nvPr>
        </p:nvSpPr>
        <p:spPr>
          <a:xfrm>
            <a:off x="815725" y="1405950"/>
            <a:ext cx="10700100" cy="4572000"/>
          </a:xfrm>
          <a:prstGeom prst="rect">
            <a:avLst/>
          </a:prstGeom>
          <a:noFill/>
          <a:ln>
            <a:noFill/>
          </a:ln>
        </p:spPr>
        <p:txBody>
          <a:bodyPr anchorCtr="0" anchor="t" bIns="45700" lIns="45700" spcFirstLastPara="1" rIns="45700" wrap="square" tIns="45700">
            <a:normAutofit/>
          </a:bodyPr>
          <a:lstStyle/>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Yearly trend shows a consistent progression from early challenges to high reliability in first stage landings over time.</a:t>
            </a:r>
            <a:endParaRPr sz="1800">
              <a:solidFill>
                <a:srgbClr val="292929"/>
              </a:solidFill>
              <a:latin typeface="Arial"/>
              <a:ea typeface="Arial"/>
              <a:cs typeface="Arial"/>
              <a:sym typeface="Arial"/>
            </a:endParaRPr>
          </a:p>
          <a:p>
            <a:pPr indent="-342900" lvl="0" marL="457200" rtl="0" algn="l">
              <a:lnSpc>
                <a:spcPct val="115000"/>
              </a:lnSpc>
              <a:spcBef>
                <a:spcPts val="0"/>
              </a:spcBef>
              <a:spcAft>
                <a:spcPts val="0"/>
              </a:spcAft>
              <a:buClr>
                <a:srgbClr val="292929"/>
              </a:buClr>
              <a:buSzPts val="1800"/>
              <a:buFont typeface="Arial"/>
              <a:buChar char="•"/>
            </a:pPr>
            <a:r>
              <a:rPr lang="en-US" sz="1800">
                <a:solidFill>
                  <a:srgbClr val="292929"/>
                </a:solidFill>
                <a:latin typeface="Arial"/>
                <a:ea typeface="Arial"/>
                <a:cs typeface="Arial"/>
                <a:sym typeface="Arial"/>
              </a:rPr>
              <a:t>From 2016 onward, SpaceX experienced year over year improvement in success rate with a minor setback in 2018.</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8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258" name="Google Shape;258;p37"/>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Launch Success Yearly Trend</a:t>
            </a:r>
            <a:endParaRPr/>
          </a:p>
        </p:txBody>
      </p:sp>
      <p:pic>
        <p:nvPicPr>
          <p:cNvPr id="259" name="Google Shape;259;p37"/>
          <p:cNvPicPr preferRelativeResize="0"/>
          <p:nvPr/>
        </p:nvPicPr>
        <p:blipFill>
          <a:blip r:embed="rId4">
            <a:alphaModFix/>
          </a:blip>
          <a:stretch>
            <a:fillRect/>
          </a:stretch>
        </p:blipFill>
        <p:spPr>
          <a:xfrm>
            <a:off x="921388" y="2972875"/>
            <a:ext cx="10488776" cy="30050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 name="Shape 263"/>
        <p:cNvGrpSpPr/>
        <p:nvPr/>
      </p:nvGrpSpPr>
      <p:grpSpPr>
        <a:xfrm>
          <a:off x="0" y="0"/>
          <a:ext cx="0" cy="0"/>
          <a:chOff x="0" y="0"/>
          <a:chExt cx="0" cy="0"/>
        </a:xfrm>
      </p:grpSpPr>
      <p:sp>
        <p:nvSpPr>
          <p:cNvPr id="264" name="Google Shape;264;p38"/>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65" name="Google Shape;265;p38"/>
          <p:cNvSpPr txBox="1"/>
          <p:nvPr>
            <p:ph idx="4294967295" type="body"/>
          </p:nvPr>
        </p:nvSpPr>
        <p:spPr>
          <a:xfrm>
            <a:off x="815735" y="1385600"/>
            <a:ext cx="9745500" cy="4351200"/>
          </a:xfrm>
          <a:prstGeom prst="rect">
            <a:avLst/>
          </a:prstGeom>
          <a:noFill/>
          <a:ln>
            <a:noFill/>
          </a:ln>
        </p:spPr>
        <p:txBody>
          <a:bodyPr anchorCtr="0" anchor="t" bIns="45700" lIns="45700" spcFirstLastPara="1" rIns="45700" wrap="square" tIns="45700">
            <a:normAutofit/>
          </a:bodyPr>
          <a:lstStyle/>
          <a:p>
            <a:pPr indent="0" lvl="0" marL="0" rtl="0" algn="l">
              <a:lnSpc>
                <a:spcPct val="115000"/>
              </a:lnSpc>
              <a:spcBef>
                <a:spcPts val="0"/>
              </a:spcBef>
              <a:spcAft>
                <a:spcPts val="0"/>
              </a:spcAft>
              <a:buNone/>
            </a:pPr>
            <a:r>
              <a:rPr lang="en-US" sz="1800">
                <a:solidFill>
                  <a:srgbClr val="292929"/>
                </a:solidFill>
                <a:latin typeface="Arial"/>
                <a:ea typeface="Arial"/>
                <a:cs typeface="Arial"/>
                <a:sym typeface="Arial"/>
              </a:rPr>
              <a:t>There are four unique Launch Sites</a:t>
            </a:r>
            <a:endParaRPr sz="1800">
              <a:solidFill>
                <a:srgbClr val="292929"/>
              </a:solidFill>
              <a:latin typeface="Arial"/>
              <a:ea typeface="Arial"/>
              <a:cs typeface="Arial"/>
              <a:sym typeface="Arial"/>
            </a:endParaRPr>
          </a:p>
          <a:p>
            <a:pPr indent="0" lvl="0" marL="228600" rtl="0" algn="l">
              <a:lnSpc>
                <a:spcPct val="115000"/>
              </a:lnSpc>
              <a:spcBef>
                <a:spcPts val="0"/>
              </a:spcBef>
              <a:spcAft>
                <a:spcPts val="0"/>
              </a:spcAft>
              <a:buNone/>
            </a:pPr>
            <a:r>
              <a:rPr lang="en-US" sz="1800">
                <a:solidFill>
                  <a:srgbClr val="292929"/>
                </a:solidFill>
                <a:latin typeface="Arial"/>
                <a:ea typeface="Arial"/>
                <a:cs typeface="Arial"/>
                <a:sym typeface="Arial"/>
              </a:rPr>
              <a:t>o CCAFS LC-40</a:t>
            </a:r>
            <a:endParaRPr sz="1800">
              <a:solidFill>
                <a:srgbClr val="292929"/>
              </a:solidFill>
              <a:latin typeface="Arial"/>
              <a:ea typeface="Arial"/>
              <a:cs typeface="Arial"/>
              <a:sym typeface="Arial"/>
            </a:endParaRPr>
          </a:p>
          <a:p>
            <a:pPr indent="0" lvl="0" marL="228600" rtl="0" algn="l">
              <a:lnSpc>
                <a:spcPct val="115000"/>
              </a:lnSpc>
              <a:spcBef>
                <a:spcPts val="0"/>
              </a:spcBef>
              <a:spcAft>
                <a:spcPts val="0"/>
              </a:spcAft>
              <a:buNone/>
            </a:pPr>
            <a:r>
              <a:rPr lang="en-US" sz="1800">
                <a:solidFill>
                  <a:srgbClr val="292929"/>
                </a:solidFill>
                <a:latin typeface="Arial"/>
                <a:ea typeface="Arial"/>
                <a:cs typeface="Arial"/>
                <a:sym typeface="Arial"/>
              </a:rPr>
              <a:t>o VAFB SLC-4E</a:t>
            </a:r>
            <a:endParaRPr sz="1800">
              <a:solidFill>
                <a:srgbClr val="292929"/>
              </a:solidFill>
              <a:latin typeface="Arial"/>
              <a:ea typeface="Arial"/>
              <a:cs typeface="Arial"/>
              <a:sym typeface="Arial"/>
            </a:endParaRPr>
          </a:p>
          <a:p>
            <a:pPr indent="0" lvl="0" marL="228600" rtl="0" algn="l">
              <a:lnSpc>
                <a:spcPct val="115000"/>
              </a:lnSpc>
              <a:spcBef>
                <a:spcPts val="0"/>
              </a:spcBef>
              <a:spcAft>
                <a:spcPts val="0"/>
              </a:spcAft>
              <a:buNone/>
            </a:pPr>
            <a:r>
              <a:rPr lang="en-US" sz="1800">
                <a:solidFill>
                  <a:srgbClr val="292929"/>
                </a:solidFill>
                <a:latin typeface="Arial"/>
                <a:ea typeface="Arial"/>
                <a:cs typeface="Arial"/>
                <a:sym typeface="Arial"/>
              </a:rPr>
              <a:t>o KSC LC-39A</a:t>
            </a:r>
            <a:endParaRPr sz="1800">
              <a:solidFill>
                <a:srgbClr val="292929"/>
              </a:solidFill>
              <a:latin typeface="Arial"/>
              <a:ea typeface="Arial"/>
              <a:cs typeface="Arial"/>
              <a:sym typeface="Arial"/>
            </a:endParaRPr>
          </a:p>
          <a:p>
            <a:pPr indent="0" lvl="0" marL="228600" rtl="0" algn="l">
              <a:lnSpc>
                <a:spcPct val="115000"/>
              </a:lnSpc>
              <a:spcBef>
                <a:spcPts val="0"/>
              </a:spcBef>
              <a:spcAft>
                <a:spcPts val="0"/>
              </a:spcAft>
              <a:buNone/>
            </a:pPr>
            <a:r>
              <a:rPr lang="en-US" sz="1800">
                <a:solidFill>
                  <a:srgbClr val="292929"/>
                </a:solidFill>
                <a:latin typeface="Arial"/>
                <a:ea typeface="Arial"/>
                <a:cs typeface="Arial"/>
                <a:sym typeface="Arial"/>
              </a:rPr>
              <a:t>o CCAFS SLC-40</a:t>
            </a:r>
            <a:endParaRPr sz="1800">
              <a:solidFill>
                <a:srgbClr val="292929"/>
              </a:solidFill>
              <a:latin typeface="Arial"/>
              <a:ea typeface="Arial"/>
              <a:cs typeface="Arial"/>
              <a:sym typeface="Arial"/>
            </a:endParaRPr>
          </a:p>
          <a:p>
            <a:pPr indent="0" lvl="0" marL="228600" rtl="0" algn="l">
              <a:lnSpc>
                <a:spcPct val="115000"/>
              </a:lnSpc>
              <a:spcBef>
                <a:spcPts val="0"/>
              </a:spcBef>
              <a:spcAft>
                <a:spcPts val="0"/>
              </a:spcAft>
              <a:buNone/>
            </a:pPr>
            <a:r>
              <a:t/>
            </a:r>
            <a:endParaRPr sz="22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rPr lang="en-US" sz="1800">
                <a:solidFill>
                  <a:srgbClr val="292929"/>
                </a:solidFill>
                <a:latin typeface="Times New Roman"/>
                <a:ea typeface="Times New Roman"/>
                <a:cs typeface="Times New Roman"/>
                <a:sym typeface="Times New Roman"/>
              </a:rPr>
              <a:t>SELECT DISTINCT Launch_Site FROM SPACEXTABLE;</a:t>
            </a:r>
            <a:endParaRPr sz="1800">
              <a:solidFill>
                <a:srgbClr val="292929"/>
              </a:solidFill>
              <a:latin typeface="Times New Roman"/>
              <a:ea typeface="Times New Roman"/>
              <a:cs typeface="Times New Roman"/>
              <a:sym typeface="Times New Roman"/>
            </a:endParaRPr>
          </a:p>
          <a:p>
            <a:pPr indent="0" lvl="0" marL="22860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266" name="Google Shape;266;p38"/>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All Launch Site Names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0" name="Shape 270"/>
        <p:cNvGrpSpPr/>
        <p:nvPr/>
      </p:nvGrpSpPr>
      <p:grpSpPr>
        <a:xfrm>
          <a:off x="0" y="0"/>
          <a:ext cx="0" cy="0"/>
          <a:chOff x="0" y="0"/>
          <a:chExt cx="0" cy="0"/>
        </a:xfrm>
      </p:grpSpPr>
      <p:sp>
        <p:nvSpPr>
          <p:cNvPr id="271" name="Google Shape;271;p39"/>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72" name="Google Shape;272;p39"/>
          <p:cNvSpPr txBox="1"/>
          <p:nvPr>
            <p:ph idx="4294967295" type="body"/>
          </p:nvPr>
        </p:nvSpPr>
        <p:spPr>
          <a:xfrm>
            <a:off x="815725" y="1287625"/>
            <a:ext cx="10700400" cy="4707000"/>
          </a:xfrm>
          <a:prstGeom prst="rect">
            <a:avLst/>
          </a:prstGeom>
          <a:noFill/>
          <a:ln>
            <a:noFill/>
          </a:ln>
        </p:spPr>
        <p:txBody>
          <a:bodyPr anchorCtr="0" anchor="t" bIns="45700" lIns="45700" spcFirstLastPara="1" rIns="45700" wrap="square" tIns="45700">
            <a:normAutofit fontScale="62500" lnSpcReduction="20000"/>
          </a:bodyPr>
          <a:lstStyle/>
          <a:p>
            <a:pPr indent="0" lvl="0" marL="0" rtl="0" algn="l">
              <a:lnSpc>
                <a:spcPct val="115000"/>
              </a:lnSpc>
              <a:spcBef>
                <a:spcPts val="0"/>
              </a:spcBef>
              <a:spcAft>
                <a:spcPts val="0"/>
              </a:spcAft>
              <a:buNone/>
            </a:pPr>
            <a:r>
              <a:rPr lang="en-US" sz="2920">
                <a:solidFill>
                  <a:srgbClr val="292929"/>
                </a:solidFill>
                <a:latin typeface="Arial"/>
                <a:ea typeface="Arial"/>
                <a:cs typeface="Arial"/>
                <a:sym typeface="Arial"/>
              </a:rPr>
              <a:t>• First five records where launch sites begin with `CCA`</a:t>
            </a:r>
            <a:endParaRPr sz="292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marR="50800" rtl="0" algn="l">
              <a:lnSpc>
                <a:spcPct val="110795"/>
              </a:lnSpc>
              <a:spcBef>
                <a:spcPts val="0"/>
              </a:spcBef>
              <a:spcAft>
                <a:spcPts val="0"/>
              </a:spcAft>
              <a:buClr>
                <a:schemeClr val="dk1"/>
              </a:buClr>
              <a:buSzPct val="110000"/>
              <a:buFont typeface="Arial"/>
              <a:buNone/>
            </a:pPr>
            <a:r>
              <a:rPr b="1" lang="en-US" sz="1000">
                <a:solidFill>
                  <a:schemeClr val="lt1"/>
                </a:solidFill>
                <a:latin typeface="Arial"/>
                <a:ea typeface="Arial"/>
                <a:cs typeface="Arial"/>
                <a:sym typeface="Arial"/>
              </a:rPr>
              <a:t>RE</a:t>
            </a:r>
            <a:r>
              <a:rPr lang="en-US" sz="1000">
                <a:solidFill>
                  <a:schemeClr val="lt1"/>
                </a:solidFill>
                <a:latin typeface="Arial"/>
                <a:ea typeface="Arial"/>
                <a:cs typeface="Arial"/>
                <a:sym typeface="Arial"/>
              </a:rPr>
              <a:t> Launc</a:t>
            </a:r>
            <a:r>
              <a:rPr lang="en-US" sz="1000">
                <a:solidFill>
                  <a:srgbClr val="212121"/>
                </a:solidFill>
                <a:latin typeface="Arial"/>
                <a:ea typeface="Arial"/>
                <a:cs typeface="Arial"/>
                <a:sym typeface="Arial"/>
              </a:rPr>
              <a:t>h_Site </a:t>
            </a:r>
            <a:r>
              <a:rPr b="1" lang="en-US" sz="1000">
                <a:solidFill>
                  <a:srgbClr val="1A7F37"/>
                </a:solidFill>
                <a:latin typeface="Arial"/>
                <a:ea typeface="Arial"/>
                <a:cs typeface="Arial"/>
                <a:sym typeface="Arial"/>
              </a:rPr>
              <a:t>LIKE</a:t>
            </a:r>
            <a:r>
              <a:rPr lang="en-US" sz="1000">
                <a:solidFill>
                  <a:srgbClr val="212121"/>
                </a:solidFill>
                <a:latin typeface="Arial"/>
                <a:ea typeface="Arial"/>
                <a:cs typeface="Arial"/>
                <a:sym typeface="Arial"/>
              </a:rPr>
              <a:t> </a:t>
            </a:r>
            <a:r>
              <a:rPr lang="en-US" sz="1000">
                <a:solidFill>
                  <a:srgbClr val="BA2121"/>
                </a:solidFill>
                <a:latin typeface="Arial"/>
                <a:ea typeface="Arial"/>
                <a:cs typeface="Arial"/>
                <a:sym typeface="Arial"/>
              </a:rPr>
              <a:t>'CCA%'</a:t>
            </a:r>
            <a:r>
              <a:rPr lang="en-US" sz="1000">
                <a:solidFill>
                  <a:srgbClr val="212121"/>
                </a:solidFill>
                <a:latin typeface="Arial"/>
                <a:ea typeface="Arial"/>
                <a:cs typeface="Arial"/>
                <a:sym typeface="Arial"/>
              </a:rPr>
              <a:t> </a:t>
            </a:r>
            <a:r>
              <a:rPr b="1" lang="en-US" sz="1000">
                <a:solidFill>
                  <a:srgbClr val="1A7F37"/>
                </a:solidFill>
                <a:latin typeface="Arial"/>
                <a:ea typeface="Arial"/>
                <a:cs typeface="Arial"/>
                <a:sym typeface="Arial"/>
              </a:rPr>
              <a:t>LIMIT</a:t>
            </a:r>
            <a:r>
              <a:rPr lang="en-US" sz="1000">
                <a:solidFill>
                  <a:srgbClr val="212121"/>
                </a:solidFill>
                <a:latin typeface="Arial"/>
                <a:ea typeface="Arial"/>
                <a:cs typeface="Arial"/>
                <a:sym typeface="Arial"/>
              </a:rPr>
              <a:t> </a:t>
            </a:r>
            <a:r>
              <a:rPr lang="en-US" sz="1000">
                <a:solidFill>
                  <a:srgbClr val="1A7F37"/>
                </a:solidFill>
                <a:latin typeface="Arial"/>
                <a:ea typeface="Arial"/>
                <a:cs typeface="Arial"/>
                <a:sym typeface="Arial"/>
              </a:rPr>
              <a:t>5</a:t>
            </a:r>
            <a:r>
              <a:rPr lang="en-US" sz="1000">
                <a:solidFill>
                  <a:srgbClr val="0055AA"/>
                </a:solidFill>
                <a:latin typeface="Arial"/>
                <a:ea typeface="Arial"/>
                <a:cs typeface="Arial"/>
                <a:sym typeface="Arial"/>
              </a:rPr>
              <a:t>;</a:t>
            </a:r>
            <a:endParaRPr sz="1000">
              <a:solidFill>
                <a:srgbClr val="0055AA"/>
              </a:solidFill>
              <a:latin typeface="Arial"/>
              <a:ea typeface="Arial"/>
              <a:cs typeface="Arial"/>
              <a:sym typeface="Arial"/>
            </a:endParaRPr>
          </a:p>
          <a:p>
            <a:pPr indent="0" lvl="0" marL="50800" marR="50800" rtl="0" algn="l">
              <a:lnSpc>
                <a:spcPct val="110795"/>
              </a:lnSpc>
              <a:spcBef>
                <a:spcPts val="0"/>
              </a:spcBef>
              <a:spcAft>
                <a:spcPts val="0"/>
              </a:spcAft>
              <a:buNone/>
            </a:pPr>
            <a:r>
              <a:t/>
            </a:r>
            <a:endParaRPr b="1" sz="1000">
              <a:solidFill>
                <a:srgbClr val="1A7F37"/>
              </a:solidFill>
              <a:latin typeface="Arial"/>
              <a:ea typeface="Arial"/>
              <a:cs typeface="Arial"/>
              <a:sym typeface="Arial"/>
            </a:endParaRPr>
          </a:p>
          <a:p>
            <a:pPr indent="0" lvl="0" marL="50800" marR="50800" rtl="0" algn="l">
              <a:lnSpc>
                <a:spcPct val="110795"/>
              </a:lnSpc>
              <a:spcBef>
                <a:spcPts val="0"/>
              </a:spcBef>
              <a:spcAft>
                <a:spcPts val="0"/>
              </a:spcAft>
              <a:buNone/>
            </a:pPr>
            <a:r>
              <a:t/>
            </a:r>
            <a:endParaRPr b="1" sz="1000">
              <a:solidFill>
                <a:srgbClr val="1A7F37"/>
              </a:solidFill>
              <a:latin typeface="Arial"/>
              <a:ea typeface="Arial"/>
              <a:cs typeface="Arial"/>
              <a:sym typeface="Arial"/>
            </a:endParaRPr>
          </a:p>
          <a:p>
            <a:pPr indent="0" lvl="0" marL="50800" marR="50800" rtl="0" algn="l">
              <a:lnSpc>
                <a:spcPct val="110795"/>
              </a:lnSpc>
              <a:spcBef>
                <a:spcPts val="0"/>
              </a:spcBef>
              <a:spcAft>
                <a:spcPts val="0"/>
              </a:spcAft>
              <a:buNone/>
            </a:pPr>
            <a:r>
              <a:t/>
            </a:r>
            <a:endParaRPr b="1" sz="1000">
              <a:solidFill>
                <a:srgbClr val="1A7F37"/>
              </a:solidFill>
              <a:latin typeface="Arial"/>
              <a:ea typeface="Arial"/>
              <a:cs typeface="Arial"/>
              <a:sym typeface="Arial"/>
            </a:endParaRPr>
          </a:p>
          <a:p>
            <a:pPr indent="0" lvl="0" marL="50800" marR="50800" rtl="0" algn="l">
              <a:lnSpc>
                <a:spcPct val="110795"/>
              </a:lnSpc>
              <a:spcBef>
                <a:spcPts val="0"/>
              </a:spcBef>
              <a:spcAft>
                <a:spcPts val="0"/>
              </a:spcAft>
              <a:buNone/>
            </a:pPr>
            <a:r>
              <a:t/>
            </a:r>
            <a:endParaRPr b="1" sz="1000">
              <a:solidFill>
                <a:srgbClr val="1A7F37"/>
              </a:solidFill>
              <a:latin typeface="Arial"/>
              <a:ea typeface="Arial"/>
              <a:cs typeface="Arial"/>
              <a:sym typeface="Arial"/>
            </a:endParaRPr>
          </a:p>
          <a:p>
            <a:pPr indent="0" lvl="0" marL="50800" marR="50800" rtl="0" algn="l">
              <a:lnSpc>
                <a:spcPct val="110795"/>
              </a:lnSpc>
              <a:spcBef>
                <a:spcPts val="0"/>
              </a:spcBef>
              <a:spcAft>
                <a:spcPts val="0"/>
              </a:spcAft>
              <a:buNone/>
            </a:pPr>
            <a:r>
              <a:t/>
            </a:r>
            <a:endParaRPr b="1" sz="1000">
              <a:solidFill>
                <a:srgbClr val="1A7F37"/>
              </a:solidFill>
              <a:latin typeface="Arial"/>
              <a:ea typeface="Arial"/>
              <a:cs typeface="Arial"/>
              <a:sym typeface="Arial"/>
            </a:endParaRPr>
          </a:p>
          <a:p>
            <a:pPr indent="0" lvl="0" marL="50800" marR="50800" rtl="0" algn="l">
              <a:lnSpc>
                <a:spcPct val="110795"/>
              </a:lnSpc>
              <a:spcBef>
                <a:spcPts val="0"/>
              </a:spcBef>
              <a:spcAft>
                <a:spcPts val="0"/>
              </a:spcAft>
              <a:buNone/>
            </a:pPr>
            <a:r>
              <a:t/>
            </a:r>
            <a:endParaRPr b="1" sz="2034">
              <a:solidFill>
                <a:srgbClr val="1A7F37"/>
              </a:solidFill>
              <a:latin typeface="Times New Roman"/>
              <a:ea typeface="Times New Roman"/>
              <a:cs typeface="Times New Roman"/>
              <a:sym typeface="Times New Roman"/>
            </a:endParaRPr>
          </a:p>
          <a:p>
            <a:pPr indent="0" lvl="0" marL="50800" marR="50800" rtl="0" algn="l">
              <a:lnSpc>
                <a:spcPct val="110795"/>
              </a:lnSpc>
              <a:spcBef>
                <a:spcPts val="0"/>
              </a:spcBef>
              <a:spcAft>
                <a:spcPts val="0"/>
              </a:spcAft>
              <a:buNone/>
            </a:pPr>
            <a:r>
              <a:t/>
            </a:r>
            <a:endParaRPr b="1" sz="2034">
              <a:solidFill>
                <a:srgbClr val="1A7F37"/>
              </a:solidFill>
              <a:latin typeface="Times New Roman"/>
              <a:ea typeface="Times New Roman"/>
              <a:cs typeface="Times New Roman"/>
              <a:sym typeface="Times New Roman"/>
            </a:endParaRPr>
          </a:p>
          <a:p>
            <a:pPr indent="0" lvl="0" marL="50800" marR="50800" rtl="0" algn="l">
              <a:lnSpc>
                <a:spcPct val="110795"/>
              </a:lnSpc>
              <a:spcBef>
                <a:spcPts val="0"/>
              </a:spcBef>
              <a:spcAft>
                <a:spcPts val="0"/>
              </a:spcAft>
              <a:buClr>
                <a:schemeClr val="dk1"/>
              </a:buClr>
              <a:buSzPct val="58014"/>
              <a:buFont typeface="Arial"/>
              <a:buNone/>
            </a:pPr>
            <a:r>
              <a:rPr b="1" lang="en-US" sz="1896">
                <a:solidFill>
                  <a:schemeClr val="dk1"/>
                </a:solidFill>
                <a:latin typeface="Times New Roman"/>
                <a:ea typeface="Times New Roman"/>
                <a:cs typeface="Times New Roman"/>
                <a:sym typeface="Times New Roman"/>
              </a:rPr>
              <a:t>SELECT * FROM SPACEXTABLE WHERE Launch_Site LIKE 'CCA%' LIMIT 5;</a:t>
            </a:r>
            <a:endParaRPr b="1" sz="1896">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00000"/>
              </a:lnSpc>
              <a:spcBef>
                <a:spcPts val="1400"/>
              </a:spcBef>
              <a:spcAft>
                <a:spcPts val="0"/>
              </a:spcAft>
              <a:buNone/>
            </a:pPr>
            <a:r>
              <a:t/>
            </a:r>
            <a:endParaRPr sz="2200">
              <a:solidFill>
                <a:srgbClr val="292929"/>
              </a:solidFill>
              <a:latin typeface="Arial"/>
              <a:ea typeface="Arial"/>
              <a:cs typeface="Arial"/>
              <a:sym typeface="Arial"/>
            </a:endParaRPr>
          </a:p>
          <a:p>
            <a:pPr indent="0" lvl="0" marL="0" rtl="0" algn="l">
              <a:lnSpc>
                <a:spcPct val="100000"/>
              </a:lnSpc>
              <a:spcBef>
                <a:spcPts val="1400"/>
              </a:spcBef>
              <a:spcAft>
                <a:spcPts val="0"/>
              </a:spcAft>
              <a:buNone/>
            </a:pPr>
            <a:r>
              <a:t/>
            </a:r>
            <a:endParaRPr sz="2200">
              <a:solidFill>
                <a:srgbClr val="292929"/>
              </a:solidFill>
              <a:latin typeface="Arial"/>
              <a:ea typeface="Arial"/>
              <a:cs typeface="Arial"/>
              <a:sym typeface="Arial"/>
            </a:endParaRPr>
          </a:p>
          <a:p>
            <a:pPr indent="0" lvl="0" marL="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273" name="Google Shape;273;p39"/>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Launch Site Names Begin with 'CCA'</a:t>
            </a:r>
            <a:endParaRPr/>
          </a:p>
        </p:txBody>
      </p:sp>
      <p:pic>
        <p:nvPicPr>
          <p:cNvPr id="274" name="Google Shape;274;p39"/>
          <p:cNvPicPr preferRelativeResize="0"/>
          <p:nvPr/>
        </p:nvPicPr>
        <p:blipFill>
          <a:blip r:embed="rId4">
            <a:alphaModFix/>
          </a:blip>
          <a:stretch>
            <a:fillRect/>
          </a:stretch>
        </p:blipFill>
        <p:spPr>
          <a:xfrm>
            <a:off x="1058463" y="1718300"/>
            <a:ext cx="10214925" cy="2289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8" name="Shape 278"/>
        <p:cNvGrpSpPr/>
        <p:nvPr/>
      </p:nvGrpSpPr>
      <p:grpSpPr>
        <a:xfrm>
          <a:off x="0" y="0"/>
          <a:ext cx="0" cy="0"/>
          <a:chOff x="0" y="0"/>
          <a:chExt cx="0" cy="0"/>
        </a:xfrm>
      </p:grpSpPr>
      <p:sp>
        <p:nvSpPr>
          <p:cNvPr id="279" name="Google Shape;279;p40"/>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80" name="Google Shape;280;p40"/>
          <p:cNvSpPr txBox="1"/>
          <p:nvPr>
            <p:ph idx="4294967295" type="body"/>
          </p:nvPr>
        </p:nvSpPr>
        <p:spPr>
          <a:xfrm>
            <a:off x="815725" y="1416675"/>
            <a:ext cx="10531200" cy="4561200"/>
          </a:xfrm>
          <a:prstGeom prst="rect">
            <a:avLst/>
          </a:prstGeom>
          <a:noFill/>
          <a:ln>
            <a:noFill/>
          </a:ln>
        </p:spPr>
        <p:txBody>
          <a:bodyPr anchorCtr="0" anchor="t" bIns="45700" lIns="45700" spcFirstLastPara="1" rIns="45700"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292929"/>
                </a:solidFill>
                <a:latin typeface="Arial"/>
                <a:ea typeface="Arial"/>
                <a:cs typeface="Arial"/>
                <a:sym typeface="Arial"/>
              </a:rPr>
              <a:t>The total payload carried by boosters from NASA (CRS) is 45,596kg.</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800">
              <a:solidFill>
                <a:srgbClr val="292929"/>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1800">
                <a:solidFill>
                  <a:srgbClr val="292929"/>
                </a:solidFill>
                <a:latin typeface="Times New Roman"/>
                <a:ea typeface="Times New Roman"/>
                <a:cs typeface="Times New Roman"/>
                <a:sym typeface="Times New Roman"/>
              </a:rPr>
              <a:t>SELECT SUM(PAYLOAD_MASS__KG_) AS TOTAL_PAYLOAD</a:t>
            </a:r>
            <a:endParaRPr sz="1800">
              <a:solidFill>
                <a:srgbClr val="292929"/>
              </a:solidFill>
              <a:latin typeface="Times New Roman"/>
              <a:ea typeface="Times New Roman"/>
              <a:cs typeface="Times New Roman"/>
              <a:sym typeface="Times New Roman"/>
            </a:endParaRPr>
          </a:p>
          <a:p>
            <a:pPr indent="457200" lvl="0" marL="0" rtl="0" algn="l">
              <a:lnSpc>
                <a:spcPct val="115000"/>
              </a:lnSpc>
              <a:spcBef>
                <a:spcPts val="0"/>
              </a:spcBef>
              <a:spcAft>
                <a:spcPts val="0"/>
              </a:spcAft>
              <a:buClr>
                <a:schemeClr val="dk1"/>
              </a:buClr>
              <a:buSzPts val="1100"/>
              <a:buFont typeface="Arial"/>
              <a:buNone/>
            </a:pPr>
            <a:r>
              <a:rPr lang="en-US" sz="1800">
                <a:solidFill>
                  <a:srgbClr val="292929"/>
                </a:solidFill>
                <a:latin typeface="Times New Roman"/>
                <a:ea typeface="Times New Roman"/>
                <a:cs typeface="Times New Roman"/>
                <a:sym typeface="Times New Roman"/>
              </a:rPr>
              <a:t>FROM SPACEXTABLE WHERE Customer = 'NASA (CRS)';</a:t>
            </a:r>
            <a:endParaRPr sz="1800">
              <a:solidFill>
                <a:srgbClr val="292929"/>
              </a:solidFill>
              <a:latin typeface="Times New Roman"/>
              <a:ea typeface="Times New Roman"/>
              <a:cs typeface="Times New Roman"/>
              <a:sym typeface="Times New Roman"/>
            </a:endParaRPr>
          </a:p>
          <a:p>
            <a:pPr indent="0" lvl="0" marL="22860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281" name="Google Shape;281;p40"/>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Total Payload Mass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5" name="Shape 285"/>
        <p:cNvGrpSpPr/>
        <p:nvPr/>
      </p:nvGrpSpPr>
      <p:grpSpPr>
        <a:xfrm>
          <a:off x="0" y="0"/>
          <a:ext cx="0" cy="0"/>
          <a:chOff x="0" y="0"/>
          <a:chExt cx="0" cy="0"/>
        </a:xfrm>
      </p:grpSpPr>
      <p:sp>
        <p:nvSpPr>
          <p:cNvPr id="286" name="Google Shape;286;p41"/>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87" name="Google Shape;287;p41"/>
          <p:cNvSpPr txBox="1"/>
          <p:nvPr>
            <p:ph idx="4294967295" type="body"/>
          </p:nvPr>
        </p:nvSpPr>
        <p:spPr>
          <a:xfrm>
            <a:off x="770000" y="1352275"/>
            <a:ext cx="10563300" cy="4625700"/>
          </a:xfrm>
          <a:prstGeom prst="rect">
            <a:avLst/>
          </a:prstGeom>
          <a:noFill/>
          <a:ln>
            <a:noFill/>
          </a:ln>
        </p:spPr>
        <p:txBody>
          <a:bodyPr anchorCtr="0" anchor="t" bIns="45700" lIns="45700" spcFirstLastPara="1" rIns="45700" wrap="square" tIns="45700">
            <a:normAutofit/>
          </a:bodyPr>
          <a:lstStyle/>
          <a:p>
            <a:pPr indent="0" lvl="0" marL="0" rtl="0" algn="l">
              <a:lnSpc>
                <a:spcPct val="115000"/>
              </a:lnSpc>
              <a:spcBef>
                <a:spcPts val="0"/>
              </a:spcBef>
              <a:spcAft>
                <a:spcPts val="0"/>
              </a:spcAft>
              <a:buNone/>
            </a:pPr>
            <a:r>
              <a:rPr lang="en-US" sz="1800">
                <a:solidFill>
                  <a:srgbClr val="292929"/>
                </a:solidFill>
                <a:latin typeface="Arial"/>
                <a:ea typeface="Arial"/>
                <a:cs typeface="Arial"/>
                <a:sym typeface="Arial"/>
              </a:rPr>
              <a:t>The average payload mass carried by booster version F9 v1.1 is 2,534.67kg.</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2200">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600">
                <a:solidFill>
                  <a:srgbClr val="292929"/>
                </a:solidFill>
                <a:latin typeface="Times New Roman"/>
                <a:ea typeface="Times New Roman"/>
                <a:cs typeface="Times New Roman"/>
                <a:sym typeface="Times New Roman"/>
              </a:rPr>
              <a:t>SELECT AVG(PAYLOAD_MASS__KG_) AS AVG_PAYLOAD_MASS</a:t>
            </a:r>
            <a:endParaRPr sz="1600">
              <a:solidFill>
                <a:srgbClr val="292929"/>
              </a:solidFill>
              <a:latin typeface="Times New Roman"/>
              <a:ea typeface="Times New Roman"/>
              <a:cs typeface="Times New Roman"/>
              <a:sym typeface="Times New Roman"/>
            </a:endParaRPr>
          </a:p>
          <a:p>
            <a:pPr indent="457200" lvl="0" marL="0" rtl="0" algn="l">
              <a:lnSpc>
                <a:spcPct val="115000"/>
              </a:lnSpc>
              <a:spcBef>
                <a:spcPts val="0"/>
              </a:spcBef>
              <a:spcAft>
                <a:spcPts val="0"/>
              </a:spcAft>
              <a:buClr>
                <a:schemeClr val="dk1"/>
              </a:buClr>
              <a:buSzPts val="1100"/>
              <a:buFont typeface="Arial"/>
              <a:buNone/>
            </a:pPr>
            <a:r>
              <a:rPr lang="en-US" sz="1600">
                <a:solidFill>
                  <a:srgbClr val="292929"/>
                </a:solidFill>
                <a:latin typeface="Times New Roman"/>
                <a:ea typeface="Times New Roman"/>
                <a:cs typeface="Times New Roman"/>
                <a:sym typeface="Times New Roman"/>
              </a:rPr>
              <a:t> FROM SPACEXTABLE WHERE Booster_Version LIKE 'F9 v1.1%';</a:t>
            </a:r>
            <a:endParaRPr sz="1600">
              <a:solidFill>
                <a:srgbClr val="292929"/>
              </a:solidFill>
              <a:latin typeface="Times New Roman"/>
              <a:ea typeface="Times New Roman"/>
              <a:cs typeface="Times New Roman"/>
              <a:sym typeface="Times New Roman"/>
            </a:endParaRPr>
          </a:p>
          <a:p>
            <a:pPr indent="0" lvl="0" marL="22860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288" name="Google Shape;288;p41"/>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Average Payload Mass by F9 v1.1</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2" name="Shape 292"/>
        <p:cNvGrpSpPr/>
        <p:nvPr/>
      </p:nvGrpSpPr>
      <p:grpSpPr>
        <a:xfrm>
          <a:off x="0" y="0"/>
          <a:ext cx="0" cy="0"/>
          <a:chOff x="0" y="0"/>
          <a:chExt cx="0" cy="0"/>
        </a:xfrm>
      </p:grpSpPr>
      <p:sp>
        <p:nvSpPr>
          <p:cNvPr id="293" name="Google Shape;293;p42"/>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294" name="Google Shape;294;p42"/>
          <p:cNvSpPr txBox="1"/>
          <p:nvPr>
            <p:ph idx="4294967295" type="body"/>
          </p:nvPr>
        </p:nvSpPr>
        <p:spPr>
          <a:xfrm>
            <a:off x="729963" y="1320100"/>
            <a:ext cx="10595700" cy="4657800"/>
          </a:xfrm>
          <a:prstGeom prst="rect">
            <a:avLst/>
          </a:prstGeom>
          <a:noFill/>
          <a:ln>
            <a:noFill/>
          </a:ln>
        </p:spPr>
        <p:txBody>
          <a:bodyPr anchorCtr="0" anchor="t" bIns="45700" lIns="45700" spcFirstLastPara="1" rIns="45700" wrap="square" tIns="45700">
            <a:normAutofit/>
          </a:bodyPr>
          <a:lstStyle/>
          <a:p>
            <a:pPr indent="0" lvl="0" marL="0" rtl="0" algn="l">
              <a:lnSpc>
                <a:spcPct val="115000"/>
              </a:lnSpc>
              <a:spcBef>
                <a:spcPts val="0"/>
              </a:spcBef>
              <a:spcAft>
                <a:spcPts val="0"/>
              </a:spcAft>
              <a:buNone/>
            </a:pPr>
            <a:r>
              <a:rPr lang="en-US" sz="1800">
                <a:solidFill>
                  <a:srgbClr val="292929"/>
                </a:solidFill>
                <a:latin typeface="Arial"/>
                <a:ea typeface="Arial"/>
                <a:cs typeface="Arial"/>
                <a:sym typeface="Arial"/>
              </a:rPr>
              <a:t>The first successful landing outcome on ground pad occurred on December 22nd, 2015.</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22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rPr lang="en-US" sz="1600">
                <a:solidFill>
                  <a:srgbClr val="292929"/>
                </a:solidFill>
                <a:latin typeface="Times New Roman"/>
                <a:ea typeface="Times New Roman"/>
                <a:cs typeface="Times New Roman"/>
                <a:sym typeface="Times New Roman"/>
              </a:rPr>
              <a:t>SELECT MIN(Date) as LaunchDate</a:t>
            </a:r>
            <a:endParaRPr sz="1600">
              <a:solidFill>
                <a:srgbClr val="292929"/>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600">
                <a:solidFill>
                  <a:srgbClr val="292929"/>
                </a:solidFill>
                <a:latin typeface="Times New Roman"/>
                <a:ea typeface="Times New Roman"/>
                <a:cs typeface="Times New Roman"/>
                <a:sym typeface="Times New Roman"/>
              </a:rPr>
              <a:t>FROM SPACEXTABLE</a:t>
            </a:r>
            <a:endParaRPr sz="1600">
              <a:solidFill>
                <a:srgbClr val="292929"/>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sz="1600">
                <a:solidFill>
                  <a:srgbClr val="292929"/>
                </a:solidFill>
                <a:latin typeface="Times New Roman"/>
                <a:ea typeface="Times New Roman"/>
                <a:cs typeface="Times New Roman"/>
                <a:sym typeface="Times New Roman"/>
              </a:rPr>
              <a:t>WHERE Landing_Outcome = 'Success (ground pad)';</a:t>
            </a:r>
            <a:endParaRPr sz="1600">
              <a:solidFill>
                <a:srgbClr val="292929"/>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295" name="Google Shape;295;p42"/>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First Successful Ground Landing Date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9" name="Shape 299"/>
        <p:cNvGrpSpPr/>
        <p:nvPr/>
      </p:nvGrpSpPr>
      <p:grpSpPr>
        <a:xfrm>
          <a:off x="0" y="0"/>
          <a:ext cx="0" cy="0"/>
          <a:chOff x="0" y="0"/>
          <a:chExt cx="0" cy="0"/>
        </a:xfrm>
      </p:grpSpPr>
      <p:sp>
        <p:nvSpPr>
          <p:cNvPr id="300" name="Google Shape;300;p43"/>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01" name="Google Shape;301;p43"/>
          <p:cNvSpPr txBox="1"/>
          <p:nvPr>
            <p:ph idx="4294967295" type="body"/>
          </p:nvPr>
        </p:nvSpPr>
        <p:spPr>
          <a:xfrm>
            <a:off x="770000" y="1352275"/>
            <a:ext cx="10520400" cy="4636500"/>
          </a:xfrm>
          <a:prstGeom prst="rect">
            <a:avLst/>
          </a:prstGeom>
          <a:noFill/>
          <a:ln>
            <a:noFill/>
          </a:ln>
        </p:spPr>
        <p:txBody>
          <a:bodyPr anchorCtr="0" anchor="t" bIns="45700" lIns="45700" spcFirstLastPara="1" rIns="45700"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292929"/>
                </a:solidFill>
                <a:latin typeface="Arial"/>
                <a:ea typeface="Arial"/>
                <a:cs typeface="Arial"/>
                <a:sym typeface="Arial"/>
              </a:rPr>
              <a:t>The boosters which have successfully landed on drone ship and had payload mass greater than 4000 but less than 6000 are:</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2200">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2200">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492">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492">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492">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492">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492">
              <a:solidFill>
                <a:srgbClr val="292929"/>
              </a:solidFill>
              <a:latin typeface="Arial"/>
              <a:ea typeface="Arial"/>
              <a:cs typeface="Arial"/>
              <a:sym typeface="Arial"/>
            </a:endParaRPr>
          </a:p>
          <a:p>
            <a:pPr indent="0" lvl="0" marL="0" rtl="0" algn="l">
              <a:lnSpc>
                <a:spcPct val="115000"/>
              </a:lnSpc>
              <a:spcBef>
                <a:spcPts val="0"/>
              </a:spcBef>
              <a:spcAft>
                <a:spcPts val="0"/>
              </a:spcAft>
              <a:buNone/>
            </a:pPr>
            <a:r>
              <a:t/>
            </a:r>
            <a:endParaRPr sz="1492">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492">
                <a:solidFill>
                  <a:srgbClr val="292929"/>
                </a:solidFill>
                <a:latin typeface="Arial"/>
                <a:ea typeface="Arial"/>
                <a:cs typeface="Arial"/>
                <a:sym typeface="Arial"/>
              </a:rPr>
              <a:t>SELECT Booster_Version, PAYLOAD_MASS__KG_</a:t>
            </a:r>
            <a:endParaRPr sz="1492">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492">
                <a:solidFill>
                  <a:srgbClr val="292929"/>
                </a:solidFill>
                <a:latin typeface="Arial"/>
                <a:ea typeface="Arial"/>
                <a:cs typeface="Arial"/>
                <a:sym typeface="Arial"/>
              </a:rPr>
              <a:t>FROM SPACEXTABLE</a:t>
            </a:r>
            <a:endParaRPr sz="1492">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492">
                <a:solidFill>
                  <a:srgbClr val="292929"/>
                </a:solidFill>
                <a:latin typeface="Arial"/>
                <a:ea typeface="Arial"/>
                <a:cs typeface="Arial"/>
                <a:sym typeface="Arial"/>
              </a:rPr>
              <a:t>WHERE Landing_Outcome = 'Success (drone ship)'</a:t>
            </a:r>
            <a:endParaRPr sz="1492">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492">
                <a:solidFill>
                  <a:srgbClr val="292929"/>
                </a:solidFill>
                <a:latin typeface="Arial"/>
                <a:ea typeface="Arial"/>
                <a:cs typeface="Arial"/>
                <a:sym typeface="Arial"/>
              </a:rPr>
              <a:t>AND PAYLOAD_MASS__KG_ BETWEEN 4000 AND 6000;</a:t>
            </a:r>
            <a:endParaRPr sz="1492">
              <a:solidFill>
                <a:srgbClr val="292929"/>
              </a:solidFill>
              <a:latin typeface="Arial"/>
              <a:ea typeface="Arial"/>
              <a:cs typeface="Arial"/>
              <a:sym typeface="Arial"/>
            </a:endParaRPr>
          </a:p>
          <a:p>
            <a:pPr indent="0" lvl="0" marL="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302" name="Google Shape;302;p43"/>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2500"/>
              <a:buFont typeface="Arial"/>
              <a:buNone/>
            </a:pPr>
            <a:r>
              <a:rPr b="0" i="0" lang="en-US" sz="2500" u="none" cap="none" strike="noStrike">
                <a:solidFill>
                  <a:srgbClr val="0B49CB"/>
                </a:solidFill>
                <a:latin typeface="Arial"/>
                <a:ea typeface="Arial"/>
                <a:cs typeface="Arial"/>
                <a:sym typeface="Arial"/>
              </a:rPr>
              <a:t>Successful Drone Ship Landing with Payload between 4000 and 6000</a:t>
            </a:r>
            <a:endParaRPr/>
          </a:p>
        </p:txBody>
      </p:sp>
      <p:graphicFrame>
        <p:nvGraphicFramePr>
          <p:cNvPr id="303" name="Google Shape;303;p43"/>
          <p:cNvGraphicFramePr/>
          <p:nvPr/>
        </p:nvGraphicFramePr>
        <p:xfrm>
          <a:off x="1169900" y="2112500"/>
          <a:ext cx="3000000" cy="3000000"/>
        </p:xfrm>
        <a:graphic>
          <a:graphicData uri="http://schemas.openxmlformats.org/drawingml/2006/table">
            <a:tbl>
              <a:tblPr>
                <a:noFill/>
                <a:tableStyleId>{78F50091-2232-4A56-A8EF-4E2A4E5F5A4D}</a:tableStyleId>
              </a:tblPr>
              <a:tblGrid>
                <a:gridCol w="2468600"/>
                <a:gridCol w="2752800"/>
              </a:tblGrid>
              <a:tr h="430625">
                <a:tc>
                  <a:txBody>
                    <a:bodyPr/>
                    <a:lstStyle/>
                    <a:p>
                      <a:pPr indent="0" lvl="0" marL="0" rtl="0" algn="l">
                        <a:spcBef>
                          <a:spcPts val="0"/>
                        </a:spcBef>
                        <a:spcAft>
                          <a:spcPts val="0"/>
                        </a:spcAft>
                        <a:buNone/>
                      </a:pPr>
                      <a:r>
                        <a:rPr lang="en-US"/>
                        <a:t>Booster</a:t>
                      </a:r>
                      <a:endParaRPr/>
                    </a:p>
                  </a:txBody>
                  <a:tcPr marT="91425" marB="91425" marR="91425" marL="91425"/>
                </a:tc>
                <a:tc>
                  <a:txBody>
                    <a:bodyPr/>
                    <a:lstStyle/>
                    <a:p>
                      <a:pPr indent="0" lvl="0" marL="0" rtl="0" algn="l">
                        <a:lnSpc>
                          <a:spcPct val="115000"/>
                        </a:lnSpc>
                        <a:spcBef>
                          <a:spcPts val="0"/>
                        </a:spcBef>
                        <a:spcAft>
                          <a:spcPts val="0"/>
                        </a:spcAft>
                        <a:buNone/>
                      </a:pPr>
                      <a:r>
                        <a:rPr lang="en-US"/>
                        <a:t>Payload Mass</a:t>
                      </a:r>
                      <a:endParaRPr/>
                    </a:p>
                  </a:txBody>
                  <a:tcPr marT="91425" marB="91425" marR="91425" marL="91425"/>
                </a:tc>
              </a:tr>
              <a:tr h="422350">
                <a:tc>
                  <a:txBody>
                    <a:bodyPr/>
                    <a:lstStyle/>
                    <a:p>
                      <a:pPr indent="0" lvl="0" marL="0" rtl="0" algn="l">
                        <a:lnSpc>
                          <a:spcPct val="115000"/>
                        </a:lnSpc>
                        <a:spcBef>
                          <a:spcPts val="0"/>
                        </a:spcBef>
                        <a:spcAft>
                          <a:spcPts val="0"/>
                        </a:spcAft>
                        <a:buNone/>
                      </a:pPr>
                      <a:r>
                        <a:rPr lang="en-US"/>
                        <a:t>F9 FT B1022 </a:t>
                      </a:r>
                      <a:endParaRPr/>
                    </a:p>
                  </a:txBody>
                  <a:tcPr marT="91425" marB="91425" marR="91425" marL="91425"/>
                </a:tc>
                <a:tc>
                  <a:txBody>
                    <a:bodyPr/>
                    <a:lstStyle/>
                    <a:p>
                      <a:pPr indent="0" lvl="0" marL="0" rtl="0" algn="l">
                        <a:lnSpc>
                          <a:spcPct val="115000"/>
                        </a:lnSpc>
                        <a:spcBef>
                          <a:spcPts val="0"/>
                        </a:spcBef>
                        <a:spcAft>
                          <a:spcPts val="0"/>
                        </a:spcAft>
                        <a:buNone/>
                      </a:pPr>
                      <a:r>
                        <a:rPr lang="en-US"/>
                        <a:t>4,696kg</a:t>
                      </a:r>
                      <a:endParaRPr/>
                    </a:p>
                  </a:txBody>
                  <a:tcPr marT="91425" marB="91425" marR="91425" marL="91425"/>
                </a:tc>
              </a:tr>
              <a:tr h="422350">
                <a:tc>
                  <a:txBody>
                    <a:bodyPr/>
                    <a:lstStyle/>
                    <a:p>
                      <a:pPr indent="0" lvl="0" marL="0" rtl="0" algn="l">
                        <a:lnSpc>
                          <a:spcPct val="115000"/>
                        </a:lnSpc>
                        <a:spcBef>
                          <a:spcPts val="0"/>
                        </a:spcBef>
                        <a:spcAft>
                          <a:spcPts val="0"/>
                        </a:spcAft>
                        <a:buNone/>
                      </a:pPr>
                      <a:r>
                        <a:rPr lang="en-US"/>
                        <a:t>F9 FT B1026 </a:t>
                      </a:r>
                      <a:endParaRPr/>
                    </a:p>
                  </a:txBody>
                  <a:tcPr marT="91425" marB="91425" marR="91425" marL="91425"/>
                </a:tc>
                <a:tc>
                  <a:txBody>
                    <a:bodyPr/>
                    <a:lstStyle/>
                    <a:p>
                      <a:pPr indent="0" lvl="0" marL="0" rtl="0" algn="l">
                        <a:lnSpc>
                          <a:spcPct val="115000"/>
                        </a:lnSpc>
                        <a:spcBef>
                          <a:spcPts val="0"/>
                        </a:spcBef>
                        <a:spcAft>
                          <a:spcPts val="0"/>
                        </a:spcAft>
                        <a:buNone/>
                      </a:pPr>
                      <a:r>
                        <a:rPr lang="en-US"/>
                        <a:t>4,600kg</a:t>
                      </a:r>
                      <a:endParaRPr/>
                    </a:p>
                  </a:txBody>
                  <a:tcPr marT="91425" marB="91425" marR="91425" marL="91425"/>
                </a:tc>
              </a:tr>
              <a:tr h="422350">
                <a:tc>
                  <a:txBody>
                    <a:bodyPr/>
                    <a:lstStyle/>
                    <a:p>
                      <a:pPr indent="0" lvl="0" marL="0" rtl="0" algn="l">
                        <a:lnSpc>
                          <a:spcPct val="115000"/>
                        </a:lnSpc>
                        <a:spcBef>
                          <a:spcPts val="0"/>
                        </a:spcBef>
                        <a:spcAft>
                          <a:spcPts val="0"/>
                        </a:spcAft>
                        <a:buNone/>
                      </a:pPr>
                      <a:r>
                        <a:rPr lang="en-US"/>
                        <a:t>F9 FT B1021.2 </a:t>
                      </a:r>
                      <a:endParaRPr/>
                    </a:p>
                  </a:txBody>
                  <a:tcPr marT="91425" marB="91425" marR="91425" marL="91425"/>
                </a:tc>
                <a:tc>
                  <a:txBody>
                    <a:bodyPr/>
                    <a:lstStyle/>
                    <a:p>
                      <a:pPr indent="0" lvl="0" marL="0" rtl="0" algn="l">
                        <a:lnSpc>
                          <a:spcPct val="115000"/>
                        </a:lnSpc>
                        <a:spcBef>
                          <a:spcPts val="0"/>
                        </a:spcBef>
                        <a:spcAft>
                          <a:spcPts val="0"/>
                        </a:spcAft>
                        <a:buNone/>
                      </a:pPr>
                      <a:r>
                        <a:rPr lang="en-US"/>
                        <a:t>5,300kg</a:t>
                      </a:r>
                      <a:endParaRPr/>
                    </a:p>
                  </a:txBody>
                  <a:tcPr marT="91425" marB="91425" marR="91425" marL="91425"/>
                </a:tc>
              </a:tr>
              <a:tr h="384425">
                <a:tc>
                  <a:txBody>
                    <a:bodyPr/>
                    <a:lstStyle/>
                    <a:p>
                      <a:pPr indent="0" lvl="0" marL="0" rtl="0" algn="l">
                        <a:lnSpc>
                          <a:spcPct val="115000"/>
                        </a:lnSpc>
                        <a:spcBef>
                          <a:spcPts val="0"/>
                        </a:spcBef>
                        <a:spcAft>
                          <a:spcPts val="0"/>
                        </a:spcAft>
                        <a:buNone/>
                      </a:pPr>
                      <a:r>
                        <a:rPr lang="en-US"/>
                        <a:t>F9 FT B1031.2 </a:t>
                      </a:r>
                      <a:endParaRPr/>
                    </a:p>
                  </a:txBody>
                  <a:tcPr marT="91425" marB="91425" marR="91425" marL="91425"/>
                </a:tc>
                <a:tc>
                  <a:txBody>
                    <a:bodyPr/>
                    <a:lstStyle/>
                    <a:p>
                      <a:pPr indent="0" lvl="0" marL="0" rtl="0" algn="l">
                        <a:lnSpc>
                          <a:spcPct val="115000"/>
                        </a:lnSpc>
                        <a:spcBef>
                          <a:spcPts val="0"/>
                        </a:spcBef>
                        <a:spcAft>
                          <a:spcPts val="0"/>
                        </a:spcAft>
                        <a:buNone/>
                      </a:pPr>
                      <a:r>
                        <a:rPr lang="en-US"/>
                        <a:t>5,200kg</a:t>
                      </a:r>
                      <a:endParaRPr/>
                    </a:p>
                  </a:txBody>
                  <a:tcPr marT="91425" marB="91425" marR="91425" marL="91425"/>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7" name="Shape 307"/>
        <p:cNvGrpSpPr/>
        <p:nvPr/>
      </p:nvGrpSpPr>
      <p:grpSpPr>
        <a:xfrm>
          <a:off x="0" y="0"/>
          <a:ext cx="0" cy="0"/>
          <a:chOff x="0" y="0"/>
          <a:chExt cx="0" cy="0"/>
        </a:xfrm>
      </p:grpSpPr>
      <p:sp>
        <p:nvSpPr>
          <p:cNvPr id="308" name="Google Shape;308;p44"/>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09" name="Google Shape;309;p44"/>
          <p:cNvSpPr txBox="1"/>
          <p:nvPr>
            <p:ph idx="4294967295" type="body"/>
          </p:nvPr>
        </p:nvSpPr>
        <p:spPr>
          <a:xfrm>
            <a:off x="815725" y="1371600"/>
            <a:ext cx="9867600" cy="4338600"/>
          </a:xfrm>
          <a:prstGeom prst="rect">
            <a:avLst/>
          </a:prstGeom>
          <a:noFill/>
          <a:ln>
            <a:noFill/>
          </a:ln>
        </p:spPr>
        <p:txBody>
          <a:bodyPr anchorCtr="0" anchor="t" bIns="45700" lIns="45700" spcFirstLastPara="1" rIns="45700" wrap="square" tIns="45700">
            <a:normAutofit fontScale="85000" lnSpcReduction="20000"/>
          </a:bodyPr>
          <a:lstStyle/>
          <a:p>
            <a:pPr indent="-175260" lvl="0" marL="228600" rtl="0" algn="l">
              <a:lnSpc>
                <a:spcPct val="100000"/>
              </a:lnSpc>
              <a:spcBef>
                <a:spcPts val="1400"/>
              </a:spcBef>
              <a:spcAft>
                <a:spcPts val="0"/>
              </a:spcAft>
              <a:buClr>
                <a:srgbClr val="292929"/>
              </a:buClr>
              <a:buSzPct val="100000"/>
              <a:buChar char="•"/>
            </a:pPr>
            <a:r>
              <a:rPr b="1" lang="en-US" sz="1600">
                <a:solidFill>
                  <a:srgbClr val="292929"/>
                </a:solidFill>
                <a:latin typeface="Arial"/>
                <a:ea typeface="Arial"/>
                <a:cs typeface="Arial"/>
                <a:sym typeface="Arial"/>
              </a:rPr>
              <a:t>Total number of successful and failure mission outcomes</a:t>
            </a:r>
            <a:endParaRPr b="1" sz="16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rPr b="1" lang="en-US" sz="1600">
                <a:solidFill>
                  <a:srgbClr val="292929"/>
                </a:solidFill>
                <a:latin typeface="Arial"/>
                <a:ea typeface="Arial"/>
                <a:cs typeface="Arial"/>
                <a:sym typeface="Arial"/>
              </a:rPr>
              <a:t>	</a:t>
            </a:r>
            <a:endParaRPr b="1" sz="16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b="1" sz="16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b="1" sz="1600">
              <a:solidFill>
                <a:srgbClr val="292929"/>
              </a:solidFill>
              <a:latin typeface="Arial"/>
              <a:ea typeface="Arial"/>
              <a:cs typeface="Arial"/>
              <a:sym typeface="Arial"/>
            </a:endParaRPr>
          </a:p>
          <a:p>
            <a:pPr indent="0" lvl="0" marL="0" rtl="0" algn="l">
              <a:lnSpc>
                <a:spcPct val="100000"/>
              </a:lnSpc>
              <a:spcBef>
                <a:spcPts val="1400"/>
              </a:spcBef>
              <a:spcAft>
                <a:spcPts val="0"/>
              </a:spcAft>
              <a:buNone/>
            </a:pPr>
            <a:r>
              <a:t/>
            </a:r>
            <a:endParaRPr b="1" sz="1600">
              <a:solidFill>
                <a:srgbClr val="292929"/>
              </a:solidFill>
              <a:latin typeface="Arial"/>
              <a:ea typeface="Arial"/>
              <a:cs typeface="Arial"/>
              <a:sym typeface="Arial"/>
            </a:endParaRPr>
          </a:p>
          <a:p>
            <a:pPr indent="0" lvl="0" marL="0" rtl="0" algn="l">
              <a:lnSpc>
                <a:spcPct val="100000"/>
              </a:lnSpc>
              <a:spcBef>
                <a:spcPts val="1400"/>
              </a:spcBef>
              <a:spcAft>
                <a:spcPts val="0"/>
              </a:spcAft>
              <a:buNone/>
            </a:pPr>
            <a:r>
              <a:t/>
            </a:r>
            <a:endParaRPr b="1" sz="1600">
              <a:solidFill>
                <a:schemeClr val="dk1"/>
              </a:solidFill>
              <a:latin typeface="Arial"/>
              <a:ea typeface="Arial"/>
              <a:cs typeface="Arial"/>
              <a:sym typeface="Arial"/>
            </a:endParaRPr>
          </a:p>
          <a:p>
            <a:pPr indent="457200" lvl="0" marL="0" rtl="0" algn="l">
              <a:lnSpc>
                <a:spcPct val="100000"/>
              </a:lnSpc>
              <a:spcBef>
                <a:spcPts val="1400"/>
              </a:spcBef>
              <a:spcAft>
                <a:spcPts val="0"/>
              </a:spcAft>
              <a:buNone/>
            </a:pPr>
            <a:r>
              <a:rPr b="1" lang="en-US" sz="1316">
                <a:solidFill>
                  <a:schemeClr val="dk1"/>
                </a:solidFill>
                <a:latin typeface="Arial"/>
                <a:ea typeface="Arial"/>
                <a:cs typeface="Arial"/>
                <a:sym typeface="Arial"/>
              </a:rPr>
              <a:t>SELECT</a:t>
            </a:r>
            <a:r>
              <a:rPr lang="en-US" sz="1316">
                <a:solidFill>
                  <a:schemeClr val="dk1"/>
                </a:solidFill>
                <a:latin typeface="Arial"/>
                <a:ea typeface="Arial"/>
                <a:cs typeface="Arial"/>
                <a:sym typeface="Arial"/>
              </a:rPr>
              <a:t> </a:t>
            </a:r>
            <a:r>
              <a:rPr b="1" lang="en-US" sz="1316">
                <a:solidFill>
                  <a:schemeClr val="dk1"/>
                </a:solidFill>
                <a:latin typeface="Arial"/>
                <a:ea typeface="Arial"/>
                <a:cs typeface="Arial"/>
                <a:sym typeface="Arial"/>
              </a:rPr>
              <a:t>CASE</a:t>
            </a:r>
            <a:r>
              <a:rPr lang="en-US" sz="1316">
                <a:solidFill>
                  <a:schemeClr val="dk1"/>
                </a:solidFill>
                <a:latin typeface="Arial"/>
                <a:ea typeface="Arial"/>
                <a:cs typeface="Arial"/>
                <a:sym typeface="Arial"/>
              </a:rPr>
              <a:t> </a:t>
            </a:r>
            <a:endParaRPr sz="1316">
              <a:solidFill>
                <a:schemeClr val="dk1"/>
              </a:solidFill>
              <a:latin typeface="Arial"/>
              <a:ea typeface="Arial"/>
              <a:cs typeface="Arial"/>
              <a:sym typeface="Arial"/>
            </a:endParaRPr>
          </a:p>
          <a:p>
            <a:pPr indent="457200" lvl="0" marL="457200" rtl="0" algn="l">
              <a:lnSpc>
                <a:spcPct val="100000"/>
              </a:lnSpc>
              <a:spcBef>
                <a:spcPts val="1400"/>
              </a:spcBef>
              <a:spcAft>
                <a:spcPts val="0"/>
              </a:spcAft>
              <a:buNone/>
            </a:pPr>
            <a:r>
              <a:rPr b="1" lang="en-US" sz="1316">
                <a:solidFill>
                  <a:schemeClr val="dk1"/>
                </a:solidFill>
                <a:latin typeface="Arial"/>
                <a:ea typeface="Arial"/>
                <a:cs typeface="Arial"/>
                <a:sym typeface="Arial"/>
              </a:rPr>
              <a:t>WHEN</a:t>
            </a:r>
            <a:r>
              <a:rPr lang="en-US" sz="1316">
                <a:solidFill>
                  <a:schemeClr val="dk1"/>
                </a:solidFill>
                <a:latin typeface="Arial"/>
                <a:ea typeface="Arial"/>
                <a:cs typeface="Arial"/>
                <a:sym typeface="Arial"/>
              </a:rPr>
              <a:t> Mission_Outcome </a:t>
            </a:r>
            <a:r>
              <a:rPr b="1" lang="en-US" sz="1316">
                <a:solidFill>
                  <a:schemeClr val="dk1"/>
                </a:solidFill>
                <a:latin typeface="Arial"/>
                <a:ea typeface="Arial"/>
                <a:cs typeface="Arial"/>
                <a:sym typeface="Arial"/>
              </a:rPr>
              <a:t>LIKE</a:t>
            </a:r>
            <a:r>
              <a:rPr lang="en-US" sz="1316">
                <a:solidFill>
                  <a:schemeClr val="dk1"/>
                </a:solidFill>
                <a:latin typeface="Arial"/>
                <a:ea typeface="Arial"/>
                <a:cs typeface="Arial"/>
                <a:sym typeface="Arial"/>
              </a:rPr>
              <a:t> 'Success%' </a:t>
            </a:r>
            <a:r>
              <a:rPr b="1" lang="en-US" sz="1316">
                <a:solidFill>
                  <a:schemeClr val="dk1"/>
                </a:solidFill>
                <a:latin typeface="Arial"/>
                <a:ea typeface="Arial"/>
                <a:cs typeface="Arial"/>
                <a:sym typeface="Arial"/>
              </a:rPr>
              <a:t>THEN</a:t>
            </a:r>
            <a:r>
              <a:rPr lang="en-US" sz="1316">
                <a:solidFill>
                  <a:schemeClr val="dk1"/>
                </a:solidFill>
                <a:latin typeface="Arial"/>
                <a:ea typeface="Arial"/>
                <a:cs typeface="Arial"/>
                <a:sym typeface="Arial"/>
              </a:rPr>
              <a:t> 'Success'</a:t>
            </a:r>
            <a:endParaRPr sz="1316">
              <a:solidFill>
                <a:schemeClr val="dk1"/>
              </a:solidFill>
              <a:latin typeface="Arial"/>
              <a:ea typeface="Arial"/>
              <a:cs typeface="Arial"/>
              <a:sym typeface="Arial"/>
            </a:endParaRPr>
          </a:p>
          <a:p>
            <a:pPr indent="0" lvl="0" marL="0" rtl="0" algn="l">
              <a:lnSpc>
                <a:spcPct val="100000"/>
              </a:lnSpc>
              <a:spcBef>
                <a:spcPts val="1400"/>
              </a:spcBef>
              <a:spcAft>
                <a:spcPts val="0"/>
              </a:spcAft>
              <a:buNone/>
            </a:pPr>
            <a:r>
              <a:rPr lang="en-US" sz="1316">
                <a:solidFill>
                  <a:schemeClr val="dk1"/>
                </a:solidFill>
                <a:latin typeface="Arial"/>
                <a:ea typeface="Arial"/>
                <a:cs typeface="Arial"/>
                <a:sym typeface="Arial"/>
              </a:rPr>
              <a:t>  		</a:t>
            </a:r>
            <a:r>
              <a:rPr b="1" lang="en-US" sz="1316">
                <a:solidFill>
                  <a:schemeClr val="dk1"/>
                </a:solidFill>
                <a:latin typeface="Arial"/>
                <a:ea typeface="Arial"/>
                <a:cs typeface="Arial"/>
                <a:sym typeface="Arial"/>
              </a:rPr>
              <a:t>WHEN</a:t>
            </a:r>
            <a:r>
              <a:rPr lang="en-US" sz="1316">
                <a:solidFill>
                  <a:schemeClr val="dk1"/>
                </a:solidFill>
                <a:latin typeface="Arial"/>
                <a:ea typeface="Arial"/>
                <a:cs typeface="Arial"/>
                <a:sym typeface="Arial"/>
              </a:rPr>
              <a:t> Mission_Outcome </a:t>
            </a:r>
            <a:r>
              <a:rPr b="1" lang="en-US" sz="1316">
                <a:solidFill>
                  <a:schemeClr val="dk1"/>
                </a:solidFill>
                <a:latin typeface="Arial"/>
                <a:ea typeface="Arial"/>
                <a:cs typeface="Arial"/>
                <a:sym typeface="Arial"/>
              </a:rPr>
              <a:t>LIKE</a:t>
            </a:r>
            <a:r>
              <a:rPr lang="en-US" sz="1316">
                <a:solidFill>
                  <a:schemeClr val="dk1"/>
                </a:solidFill>
                <a:latin typeface="Arial"/>
                <a:ea typeface="Arial"/>
                <a:cs typeface="Arial"/>
                <a:sym typeface="Arial"/>
              </a:rPr>
              <a:t> 'Failure%' </a:t>
            </a:r>
            <a:r>
              <a:rPr b="1" lang="en-US" sz="1316">
                <a:solidFill>
                  <a:schemeClr val="dk1"/>
                </a:solidFill>
                <a:latin typeface="Arial"/>
                <a:ea typeface="Arial"/>
                <a:cs typeface="Arial"/>
                <a:sym typeface="Arial"/>
              </a:rPr>
              <a:t>THEN</a:t>
            </a:r>
            <a:r>
              <a:rPr lang="en-US" sz="1316">
                <a:solidFill>
                  <a:schemeClr val="dk1"/>
                </a:solidFill>
                <a:latin typeface="Arial"/>
                <a:ea typeface="Arial"/>
                <a:cs typeface="Arial"/>
                <a:sym typeface="Arial"/>
              </a:rPr>
              <a:t> 'Failure'</a:t>
            </a:r>
            <a:endParaRPr sz="1316">
              <a:solidFill>
                <a:schemeClr val="dk1"/>
              </a:solidFill>
              <a:latin typeface="Arial"/>
              <a:ea typeface="Arial"/>
              <a:cs typeface="Arial"/>
              <a:sym typeface="Arial"/>
            </a:endParaRPr>
          </a:p>
          <a:p>
            <a:pPr indent="457200" lvl="0" marL="0" rtl="0" algn="l">
              <a:lnSpc>
                <a:spcPct val="100000"/>
              </a:lnSpc>
              <a:spcBef>
                <a:spcPts val="1400"/>
              </a:spcBef>
              <a:spcAft>
                <a:spcPts val="0"/>
              </a:spcAft>
              <a:buNone/>
            </a:pPr>
            <a:r>
              <a:rPr b="1" lang="en-US" sz="1316">
                <a:solidFill>
                  <a:schemeClr val="dk1"/>
                </a:solidFill>
                <a:latin typeface="Arial"/>
                <a:ea typeface="Arial"/>
                <a:cs typeface="Arial"/>
                <a:sym typeface="Arial"/>
              </a:rPr>
              <a:t>END</a:t>
            </a:r>
            <a:r>
              <a:rPr lang="en-US" sz="1316">
                <a:solidFill>
                  <a:schemeClr val="dk1"/>
                </a:solidFill>
                <a:latin typeface="Arial"/>
                <a:ea typeface="Arial"/>
                <a:cs typeface="Arial"/>
                <a:sym typeface="Arial"/>
              </a:rPr>
              <a:t> </a:t>
            </a:r>
            <a:r>
              <a:rPr b="1" lang="en-US" sz="1316">
                <a:solidFill>
                  <a:schemeClr val="dk1"/>
                </a:solidFill>
                <a:latin typeface="Arial"/>
                <a:ea typeface="Arial"/>
                <a:cs typeface="Arial"/>
                <a:sym typeface="Arial"/>
              </a:rPr>
              <a:t>as</a:t>
            </a:r>
            <a:r>
              <a:rPr lang="en-US" sz="1316">
                <a:solidFill>
                  <a:schemeClr val="dk1"/>
                </a:solidFill>
                <a:latin typeface="Arial"/>
                <a:ea typeface="Arial"/>
                <a:cs typeface="Arial"/>
                <a:sym typeface="Arial"/>
              </a:rPr>
              <a:t> Mission_Status, </a:t>
            </a:r>
            <a:r>
              <a:rPr b="1" lang="en-US" sz="1316">
                <a:solidFill>
                  <a:schemeClr val="dk1"/>
                </a:solidFill>
                <a:latin typeface="Arial"/>
                <a:ea typeface="Arial"/>
                <a:cs typeface="Arial"/>
                <a:sym typeface="Arial"/>
              </a:rPr>
              <a:t>COUNT</a:t>
            </a:r>
            <a:r>
              <a:rPr lang="en-US" sz="1316">
                <a:solidFill>
                  <a:schemeClr val="dk1"/>
                </a:solidFill>
                <a:latin typeface="Arial"/>
                <a:ea typeface="Arial"/>
                <a:cs typeface="Arial"/>
                <a:sym typeface="Arial"/>
              </a:rPr>
              <a:t>(</a:t>
            </a:r>
            <a:r>
              <a:rPr b="1" lang="en-US" sz="1316">
                <a:solidFill>
                  <a:schemeClr val="dk1"/>
                </a:solidFill>
                <a:latin typeface="Arial"/>
                <a:ea typeface="Arial"/>
                <a:cs typeface="Arial"/>
                <a:sym typeface="Arial"/>
              </a:rPr>
              <a:t>*</a:t>
            </a:r>
            <a:r>
              <a:rPr lang="en-US" sz="1316">
                <a:solidFill>
                  <a:schemeClr val="dk1"/>
                </a:solidFill>
                <a:latin typeface="Arial"/>
                <a:ea typeface="Arial"/>
                <a:cs typeface="Arial"/>
                <a:sym typeface="Arial"/>
              </a:rPr>
              <a:t>)</a:t>
            </a:r>
            <a:endParaRPr sz="1316">
              <a:solidFill>
                <a:schemeClr val="dk1"/>
              </a:solidFill>
              <a:latin typeface="Arial"/>
              <a:ea typeface="Arial"/>
              <a:cs typeface="Arial"/>
              <a:sym typeface="Arial"/>
            </a:endParaRPr>
          </a:p>
          <a:p>
            <a:pPr indent="457200" lvl="0" marL="0" rtl="0" algn="l">
              <a:lnSpc>
                <a:spcPct val="100000"/>
              </a:lnSpc>
              <a:spcBef>
                <a:spcPts val="1400"/>
              </a:spcBef>
              <a:spcAft>
                <a:spcPts val="0"/>
              </a:spcAft>
              <a:buNone/>
            </a:pPr>
            <a:r>
              <a:rPr b="1" lang="en-US" sz="1316">
                <a:solidFill>
                  <a:schemeClr val="dk1"/>
                </a:solidFill>
                <a:latin typeface="Arial"/>
                <a:ea typeface="Arial"/>
                <a:cs typeface="Arial"/>
                <a:sym typeface="Arial"/>
              </a:rPr>
              <a:t>FROM</a:t>
            </a:r>
            <a:r>
              <a:rPr lang="en-US" sz="1316">
                <a:solidFill>
                  <a:schemeClr val="dk1"/>
                </a:solidFill>
                <a:latin typeface="Arial"/>
                <a:ea typeface="Arial"/>
                <a:cs typeface="Arial"/>
                <a:sym typeface="Arial"/>
              </a:rPr>
              <a:t> SPACEXTABLE</a:t>
            </a:r>
            <a:endParaRPr sz="1316">
              <a:solidFill>
                <a:schemeClr val="dk1"/>
              </a:solidFill>
              <a:latin typeface="Arial"/>
              <a:ea typeface="Arial"/>
              <a:cs typeface="Arial"/>
              <a:sym typeface="Arial"/>
            </a:endParaRPr>
          </a:p>
          <a:p>
            <a:pPr indent="457200" lvl="0" marL="0" rtl="0" algn="l">
              <a:lnSpc>
                <a:spcPct val="100000"/>
              </a:lnSpc>
              <a:spcBef>
                <a:spcPts val="1400"/>
              </a:spcBef>
              <a:spcAft>
                <a:spcPts val="0"/>
              </a:spcAft>
              <a:buNone/>
            </a:pPr>
            <a:r>
              <a:rPr b="1" lang="en-US" sz="1316">
                <a:solidFill>
                  <a:schemeClr val="dk1"/>
                </a:solidFill>
                <a:latin typeface="Arial"/>
                <a:ea typeface="Arial"/>
                <a:cs typeface="Arial"/>
                <a:sym typeface="Arial"/>
              </a:rPr>
              <a:t>GROUP</a:t>
            </a:r>
            <a:r>
              <a:rPr lang="en-US" sz="1316">
                <a:solidFill>
                  <a:schemeClr val="dk1"/>
                </a:solidFill>
                <a:latin typeface="Arial"/>
                <a:ea typeface="Arial"/>
                <a:cs typeface="Arial"/>
                <a:sym typeface="Arial"/>
              </a:rPr>
              <a:t> </a:t>
            </a:r>
            <a:r>
              <a:rPr b="1" lang="en-US" sz="1316">
                <a:solidFill>
                  <a:schemeClr val="dk1"/>
                </a:solidFill>
                <a:latin typeface="Arial"/>
                <a:ea typeface="Arial"/>
                <a:cs typeface="Arial"/>
                <a:sym typeface="Arial"/>
              </a:rPr>
              <a:t>BY</a:t>
            </a:r>
            <a:r>
              <a:rPr lang="en-US" sz="1316">
                <a:solidFill>
                  <a:schemeClr val="dk1"/>
                </a:solidFill>
                <a:latin typeface="Arial"/>
                <a:ea typeface="Arial"/>
                <a:cs typeface="Arial"/>
                <a:sym typeface="Arial"/>
              </a:rPr>
              <a:t> Mission_Status;</a:t>
            </a:r>
            <a:endParaRPr sz="1316">
              <a:solidFill>
                <a:schemeClr val="dk1"/>
              </a:solidFill>
              <a:latin typeface="Arial"/>
              <a:ea typeface="Arial"/>
              <a:cs typeface="Arial"/>
              <a:sym typeface="Arial"/>
            </a:endParaRPr>
          </a:p>
          <a:p>
            <a:pPr indent="0" lvl="0" marL="0" rtl="0" algn="l">
              <a:lnSpc>
                <a:spcPct val="100000"/>
              </a:lnSpc>
              <a:spcBef>
                <a:spcPts val="1400"/>
              </a:spcBef>
              <a:spcAft>
                <a:spcPts val="0"/>
              </a:spcAft>
              <a:buNone/>
            </a:pPr>
            <a:r>
              <a:t/>
            </a:r>
            <a:endParaRPr b="1" sz="1600">
              <a:solidFill>
                <a:srgbClr val="292929"/>
              </a:solidFill>
              <a:latin typeface="Arial"/>
              <a:ea typeface="Arial"/>
              <a:cs typeface="Arial"/>
              <a:sym typeface="Arial"/>
            </a:endParaRPr>
          </a:p>
        </p:txBody>
      </p:sp>
      <p:sp>
        <p:nvSpPr>
          <p:cNvPr id="310" name="Google Shape;310;p44"/>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8"/>
              <a:buFont typeface="Arial"/>
              <a:buNone/>
            </a:pPr>
            <a:r>
              <a:rPr b="0" i="0" lang="en-US" sz="3038" u="none" cap="none" strike="noStrike">
                <a:solidFill>
                  <a:srgbClr val="0B49CB"/>
                </a:solidFill>
                <a:latin typeface="Arial"/>
                <a:ea typeface="Arial"/>
                <a:cs typeface="Arial"/>
                <a:sym typeface="Arial"/>
              </a:rPr>
              <a:t>Total Number of Successful and Failure Mission Outcomes</a:t>
            </a:r>
            <a:endParaRPr/>
          </a:p>
        </p:txBody>
      </p:sp>
      <p:graphicFrame>
        <p:nvGraphicFramePr>
          <p:cNvPr id="311" name="Google Shape;311;p44"/>
          <p:cNvGraphicFramePr/>
          <p:nvPr/>
        </p:nvGraphicFramePr>
        <p:xfrm>
          <a:off x="1198275" y="1887175"/>
          <a:ext cx="3000000" cy="3000000"/>
        </p:xfrm>
        <a:graphic>
          <a:graphicData uri="http://schemas.openxmlformats.org/drawingml/2006/table">
            <a:tbl>
              <a:tblPr>
                <a:noFill/>
                <a:tableStyleId>{78F50091-2232-4A56-A8EF-4E2A4E5F5A4D}</a:tableStyleId>
              </a:tblPr>
              <a:tblGrid>
                <a:gridCol w="2148375"/>
                <a:gridCol w="2148375"/>
              </a:tblGrid>
              <a:tr h="328400">
                <a:tc>
                  <a:txBody>
                    <a:bodyPr/>
                    <a:lstStyle/>
                    <a:p>
                      <a:pPr indent="0" lvl="0" marL="0" rtl="0" algn="l">
                        <a:spcBef>
                          <a:spcPts val="0"/>
                        </a:spcBef>
                        <a:spcAft>
                          <a:spcPts val="0"/>
                        </a:spcAft>
                        <a:buNone/>
                      </a:pPr>
                      <a:r>
                        <a:rPr b="1" lang="en-US" sz="1200"/>
                        <a:t>Mission Status</a:t>
                      </a:r>
                      <a:endParaRPr b="1" sz="1200"/>
                    </a:p>
                  </a:txBody>
                  <a:tcPr marT="91425" marB="91425" marR="91425" marL="91425"/>
                </a:tc>
                <a:tc>
                  <a:txBody>
                    <a:bodyPr/>
                    <a:lstStyle/>
                    <a:p>
                      <a:pPr indent="0" lvl="0" marL="0" rtl="0" algn="l">
                        <a:spcBef>
                          <a:spcPts val="0"/>
                        </a:spcBef>
                        <a:spcAft>
                          <a:spcPts val="0"/>
                        </a:spcAft>
                        <a:buNone/>
                      </a:pPr>
                      <a:r>
                        <a:rPr b="1" lang="en-US" sz="1200"/>
                        <a:t>Count</a:t>
                      </a:r>
                      <a:endParaRPr b="1" sz="1200"/>
                    </a:p>
                  </a:txBody>
                  <a:tcPr marT="91425" marB="91425" marR="91425" marL="91425"/>
                </a:tc>
              </a:tr>
              <a:tr h="328400">
                <a:tc>
                  <a:txBody>
                    <a:bodyPr/>
                    <a:lstStyle/>
                    <a:p>
                      <a:pPr indent="0" lvl="0" marL="0" rtl="0" algn="l">
                        <a:spcBef>
                          <a:spcPts val="0"/>
                        </a:spcBef>
                        <a:spcAft>
                          <a:spcPts val="0"/>
                        </a:spcAft>
                        <a:buNone/>
                      </a:pPr>
                      <a:r>
                        <a:rPr lang="en-US" sz="1200"/>
                        <a:t>Failure</a:t>
                      </a:r>
                      <a:endParaRPr sz="1200"/>
                    </a:p>
                  </a:txBody>
                  <a:tcPr marT="91425" marB="91425" marR="91425" marL="91425"/>
                </a:tc>
                <a:tc>
                  <a:txBody>
                    <a:bodyPr/>
                    <a:lstStyle/>
                    <a:p>
                      <a:pPr indent="0" lvl="0" marL="0" rtl="0" algn="l">
                        <a:spcBef>
                          <a:spcPts val="0"/>
                        </a:spcBef>
                        <a:spcAft>
                          <a:spcPts val="0"/>
                        </a:spcAft>
                        <a:buNone/>
                      </a:pPr>
                      <a:r>
                        <a:rPr lang="en-US" sz="1200"/>
                        <a:t>1</a:t>
                      </a:r>
                      <a:endParaRPr sz="1200"/>
                    </a:p>
                  </a:txBody>
                  <a:tcPr marT="91425" marB="91425" marR="91425" marL="91425"/>
                </a:tc>
              </a:tr>
              <a:tr h="328400">
                <a:tc>
                  <a:txBody>
                    <a:bodyPr/>
                    <a:lstStyle/>
                    <a:p>
                      <a:pPr indent="0" lvl="0" marL="0" rtl="0" algn="l">
                        <a:spcBef>
                          <a:spcPts val="0"/>
                        </a:spcBef>
                        <a:spcAft>
                          <a:spcPts val="0"/>
                        </a:spcAft>
                        <a:buNone/>
                      </a:pPr>
                      <a:r>
                        <a:rPr lang="en-US" sz="1200"/>
                        <a:t>Success</a:t>
                      </a:r>
                      <a:endParaRPr sz="1200"/>
                    </a:p>
                  </a:txBody>
                  <a:tcPr marT="91425" marB="91425" marR="91425" marL="91425"/>
                </a:tc>
                <a:tc>
                  <a:txBody>
                    <a:bodyPr/>
                    <a:lstStyle/>
                    <a:p>
                      <a:pPr indent="0" lvl="0" marL="0" rtl="0" algn="l">
                        <a:spcBef>
                          <a:spcPts val="0"/>
                        </a:spcBef>
                        <a:spcAft>
                          <a:spcPts val="0"/>
                        </a:spcAft>
                        <a:buNone/>
                      </a:pPr>
                      <a:r>
                        <a:rPr lang="en-US" sz="1200"/>
                        <a:t>100</a:t>
                      </a:r>
                      <a:endParaRPr sz="1200"/>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5" name="Shape 315"/>
        <p:cNvGrpSpPr/>
        <p:nvPr/>
      </p:nvGrpSpPr>
      <p:grpSpPr>
        <a:xfrm>
          <a:off x="0" y="0"/>
          <a:ext cx="0" cy="0"/>
          <a:chOff x="0" y="0"/>
          <a:chExt cx="0" cy="0"/>
        </a:xfrm>
      </p:grpSpPr>
      <p:sp>
        <p:nvSpPr>
          <p:cNvPr id="316" name="Google Shape;316;p45"/>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17" name="Google Shape;317;p45"/>
          <p:cNvSpPr txBox="1"/>
          <p:nvPr>
            <p:ph idx="4294967295" type="body"/>
          </p:nvPr>
        </p:nvSpPr>
        <p:spPr>
          <a:xfrm>
            <a:off x="815700" y="1381500"/>
            <a:ext cx="10424100" cy="4795500"/>
          </a:xfrm>
          <a:prstGeom prst="rect">
            <a:avLst/>
          </a:prstGeom>
          <a:noFill/>
          <a:ln>
            <a:noFill/>
          </a:ln>
        </p:spPr>
        <p:txBody>
          <a:bodyPr anchorCtr="0" anchor="t" bIns="45700" lIns="45700" spcFirstLastPara="1" rIns="45700" wrap="square" tIns="45700">
            <a:norm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292929"/>
                </a:solidFill>
                <a:latin typeface="Arial"/>
                <a:ea typeface="Arial"/>
                <a:cs typeface="Arial"/>
                <a:sym typeface="Arial"/>
              </a:rPr>
              <a:t>• The maximum payload sent was 15,600kg.							</a:t>
            </a:r>
            <a:endParaRPr sz="1800">
              <a:solidFill>
                <a:srgbClr val="292929"/>
              </a:solidFill>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800">
                <a:solidFill>
                  <a:srgbClr val="292929"/>
                </a:solidFill>
                <a:latin typeface="Arial"/>
                <a:ea typeface="Arial"/>
                <a:cs typeface="Arial"/>
                <a:sym typeface="Arial"/>
              </a:rPr>
              <a:t>• The boosters that carried the maximum payload are:</a:t>
            </a:r>
            <a:endParaRPr sz="18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rPr b="1" lang="en-US" sz="1000">
                <a:solidFill>
                  <a:schemeClr val="dk1"/>
                </a:solidFill>
                <a:latin typeface="Arial"/>
                <a:ea typeface="Arial"/>
                <a:cs typeface="Arial"/>
                <a:sym typeface="Arial"/>
              </a:rPr>
              <a:t>SELECT</a:t>
            </a: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DISTINCT</a:t>
            </a:r>
            <a:r>
              <a:rPr lang="en-US" sz="1000">
                <a:solidFill>
                  <a:schemeClr val="dk1"/>
                </a:solidFill>
                <a:latin typeface="Arial"/>
                <a:ea typeface="Arial"/>
                <a:cs typeface="Arial"/>
                <a:sym typeface="Arial"/>
              </a:rPr>
              <a:t> Booster_Version, PAYLOAD_MASS__KG_  </a:t>
            </a:r>
            <a:endParaRPr sz="1000">
              <a:solidFill>
                <a:schemeClr val="dk1"/>
              </a:solidFill>
              <a:latin typeface="Arial"/>
              <a:ea typeface="Arial"/>
              <a:cs typeface="Arial"/>
              <a:sym typeface="Arial"/>
            </a:endParaRPr>
          </a:p>
          <a:p>
            <a:pPr indent="0" lvl="0" marL="228600" rtl="0" algn="l">
              <a:lnSpc>
                <a:spcPct val="100000"/>
              </a:lnSpc>
              <a:spcBef>
                <a:spcPts val="1400"/>
              </a:spcBef>
              <a:spcAft>
                <a:spcPts val="0"/>
              </a:spcAft>
              <a:buNone/>
            </a:pPr>
            <a:r>
              <a:rPr b="1" lang="en-US" sz="1000">
                <a:solidFill>
                  <a:schemeClr val="dk1"/>
                </a:solidFill>
                <a:latin typeface="Arial"/>
                <a:ea typeface="Arial"/>
                <a:cs typeface="Arial"/>
                <a:sym typeface="Arial"/>
              </a:rPr>
              <a:t>FROM</a:t>
            </a:r>
            <a:r>
              <a:rPr lang="en-US" sz="1000">
                <a:solidFill>
                  <a:schemeClr val="dk1"/>
                </a:solidFill>
                <a:latin typeface="Arial"/>
                <a:ea typeface="Arial"/>
                <a:cs typeface="Arial"/>
                <a:sym typeface="Arial"/>
              </a:rPr>
              <a:t> SPACEXTABLE </a:t>
            </a:r>
            <a:endParaRPr sz="1000">
              <a:solidFill>
                <a:schemeClr val="dk1"/>
              </a:solidFill>
              <a:latin typeface="Arial"/>
              <a:ea typeface="Arial"/>
              <a:cs typeface="Arial"/>
              <a:sym typeface="Arial"/>
            </a:endParaRPr>
          </a:p>
          <a:p>
            <a:pPr indent="0" lvl="0" marL="228600" rtl="0" algn="l">
              <a:lnSpc>
                <a:spcPct val="100000"/>
              </a:lnSpc>
              <a:spcBef>
                <a:spcPts val="1400"/>
              </a:spcBef>
              <a:spcAft>
                <a:spcPts val="0"/>
              </a:spcAft>
              <a:buNone/>
            </a:pPr>
            <a:r>
              <a:rPr b="1" lang="en-US" sz="1000">
                <a:solidFill>
                  <a:schemeClr val="dk1"/>
                </a:solidFill>
                <a:latin typeface="Arial"/>
                <a:ea typeface="Arial"/>
                <a:cs typeface="Arial"/>
                <a:sym typeface="Arial"/>
              </a:rPr>
              <a:t>WHERE</a:t>
            </a:r>
            <a:r>
              <a:rPr lang="en-US" sz="1000">
                <a:solidFill>
                  <a:schemeClr val="dk1"/>
                </a:solidFill>
                <a:latin typeface="Arial"/>
                <a:ea typeface="Arial"/>
                <a:cs typeface="Arial"/>
                <a:sym typeface="Arial"/>
              </a:rPr>
              <a:t> PAYLOAD_MASS__KG_ </a:t>
            </a:r>
            <a:r>
              <a:rPr b="1" lang="en-US" sz="1000">
                <a:solidFill>
                  <a:schemeClr val="dk1"/>
                </a:solidFill>
                <a:latin typeface="Arial"/>
                <a:ea typeface="Arial"/>
                <a:cs typeface="Arial"/>
                <a:sym typeface="Arial"/>
              </a:rPr>
              <a:t>=</a:t>
            </a: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SELECT</a:t>
            </a: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MAX</a:t>
            </a:r>
            <a:r>
              <a:rPr lang="en-US" sz="1000">
                <a:solidFill>
                  <a:schemeClr val="dk1"/>
                </a:solidFill>
                <a:latin typeface="Arial"/>
                <a:ea typeface="Arial"/>
                <a:cs typeface="Arial"/>
                <a:sym typeface="Arial"/>
              </a:rPr>
              <a:t>(PAYLOAD_MASS__KG_) </a:t>
            </a:r>
            <a:r>
              <a:rPr b="1" lang="en-US" sz="1000">
                <a:solidFill>
                  <a:schemeClr val="dk1"/>
                </a:solidFill>
                <a:latin typeface="Arial"/>
                <a:ea typeface="Arial"/>
                <a:cs typeface="Arial"/>
                <a:sym typeface="Arial"/>
              </a:rPr>
              <a:t>FROM</a:t>
            </a:r>
            <a:r>
              <a:rPr lang="en-US" sz="1000">
                <a:solidFill>
                  <a:schemeClr val="dk1"/>
                </a:solidFill>
                <a:latin typeface="Arial"/>
                <a:ea typeface="Arial"/>
                <a:cs typeface="Arial"/>
                <a:sym typeface="Arial"/>
              </a:rPr>
              <a:t> SPACEXTABLE)</a:t>
            </a:r>
            <a:endParaRPr sz="1000">
              <a:solidFill>
                <a:schemeClr val="dk1"/>
              </a:solidFill>
              <a:latin typeface="Arial"/>
              <a:ea typeface="Arial"/>
              <a:cs typeface="Arial"/>
              <a:sym typeface="Arial"/>
            </a:endParaRPr>
          </a:p>
          <a:p>
            <a:pPr indent="0" lvl="0" marL="50800" marR="50800" rtl="0" algn="l">
              <a:lnSpc>
                <a:spcPct val="100000"/>
              </a:lnSpc>
              <a:spcBef>
                <a:spcPts val="0"/>
              </a:spcBef>
              <a:spcAft>
                <a:spcPts val="0"/>
              </a:spcAft>
              <a:buClr>
                <a:schemeClr val="dk1"/>
              </a:buClr>
              <a:buSzPts val="1100"/>
              <a:buFont typeface="Arial"/>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ORDER</a:t>
            </a: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BY</a:t>
            </a:r>
            <a:r>
              <a:rPr lang="en-US" sz="1000">
                <a:solidFill>
                  <a:schemeClr val="dk1"/>
                </a:solidFill>
                <a:latin typeface="Arial"/>
                <a:ea typeface="Arial"/>
                <a:cs typeface="Arial"/>
                <a:sym typeface="Arial"/>
              </a:rPr>
              <a:t> Booster_Version;</a:t>
            </a:r>
            <a:endParaRPr sz="1000">
              <a:solidFill>
                <a:schemeClr val="dk1"/>
              </a:solidFill>
              <a:latin typeface="Arial"/>
              <a:ea typeface="Arial"/>
              <a:cs typeface="Arial"/>
              <a:sym typeface="Arial"/>
            </a:endParaRPr>
          </a:p>
          <a:p>
            <a:pPr indent="0" lvl="0" marL="22860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318" name="Google Shape;318;p45"/>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Boosters Carried Maximum Payload</a:t>
            </a:r>
            <a:endParaRPr/>
          </a:p>
        </p:txBody>
      </p:sp>
      <p:graphicFrame>
        <p:nvGraphicFramePr>
          <p:cNvPr id="319" name="Google Shape;319;p45"/>
          <p:cNvGraphicFramePr/>
          <p:nvPr/>
        </p:nvGraphicFramePr>
        <p:xfrm>
          <a:off x="7870075" y="1468600"/>
          <a:ext cx="3000000" cy="3000000"/>
        </p:xfrm>
        <a:graphic>
          <a:graphicData uri="http://schemas.openxmlformats.org/drawingml/2006/table">
            <a:tbl>
              <a:tblPr>
                <a:noFill/>
                <a:tableStyleId>{78F50091-2232-4A56-A8EF-4E2A4E5F5A4D}</a:tableStyleId>
              </a:tblPr>
              <a:tblGrid>
                <a:gridCol w="2813325"/>
              </a:tblGrid>
              <a:tr h="328550">
                <a:tc>
                  <a:txBody>
                    <a:bodyPr/>
                    <a:lstStyle/>
                    <a:p>
                      <a:pPr indent="0" lvl="0" marL="0" rtl="0" algn="l">
                        <a:spcBef>
                          <a:spcPts val="0"/>
                        </a:spcBef>
                        <a:spcAft>
                          <a:spcPts val="0"/>
                        </a:spcAft>
                        <a:buNone/>
                      </a:pPr>
                      <a:r>
                        <a:rPr b="1" lang="en-US" sz="1000"/>
                        <a:t>Booster</a:t>
                      </a:r>
                      <a:r>
                        <a:rPr b="1" lang="en-US" sz="1000"/>
                        <a:t> Version</a:t>
                      </a:r>
                      <a:endParaRPr b="1"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B1048.4</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B1048.5</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B1049.4</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B1049.5</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B1049.7</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B1051.3</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B1051.4</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B1051.6</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B1056.4</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B1058.3</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B1060.2</a:t>
                      </a:r>
                      <a:endParaRPr sz="1000"/>
                    </a:p>
                  </a:txBody>
                  <a:tcPr marT="91425" marB="91425" marR="91425" marL="91425"/>
                </a:tc>
              </a:tr>
              <a:tr h="328550">
                <a:tc>
                  <a:txBody>
                    <a:bodyPr/>
                    <a:lstStyle/>
                    <a:p>
                      <a:pPr indent="0" lvl="0" marL="0" rtl="0" algn="l">
                        <a:lnSpc>
                          <a:spcPct val="115000"/>
                        </a:lnSpc>
                        <a:spcBef>
                          <a:spcPts val="0"/>
                        </a:spcBef>
                        <a:spcAft>
                          <a:spcPts val="0"/>
                        </a:spcAft>
                        <a:buNone/>
                      </a:pPr>
                      <a:r>
                        <a:rPr lang="en-US" sz="1000"/>
                        <a:t>F9 B5 B1060.3</a:t>
                      </a:r>
                      <a:endParaRPr sz="1000"/>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46"/>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25" name="Google Shape;325;p46"/>
          <p:cNvSpPr txBox="1"/>
          <p:nvPr>
            <p:ph idx="4294967295" type="body"/>
          </p:nvPr>
        </p:nvSpPr>
        <p:spPr>
          <a:xfrm>
            <a:off x="869475" y="1362175"/>
            <a:ext cx="10491600" cy="4815000"/>
          </a:xfrm>
          <a:prstGeom prst="rect">
            <a:avLst/>
          </a:prstGeom>
          <a:noFill/>
          <a:ln>
            <a:noFill/>
          </a:ln>
        </p:spPr>
        <p:txBody>
          <a:bodyPr anchorCtr="0" anchor="t" bIns="45700" lIns="45700" spcFirstLastPara="1" rIns="45700" wrap="square" tIns="45700">
            <a:normAutofit lnSpcReduction="10000"/>
          </a:bodyPr>
          <a:lstStyle/>
          <a:p>
            <a:pPr indent="-190500" lvl="0" marL="228600" rtl="0" algn="l">
              <a:lnSpc>
                <a:spcPct val="100000"/>
              </a:lnSpc>
              <a:spcBef>
                <a:spcPts val="0"/>
              </a:spcBef>
              <a:spcAft>
                <a:spcPts val="0"/>
              </a:spcAft>
              <a:buClr>
                <a:srgbClr val="292929"/>
              </a:buClr>
              <a:buSzPts val="1600"/>
              <a:buChar char="•"/>
            </a:pPr>
            <a:r>
              <a:rPr lang="en-US" sz="1600">
                <a:solidFill>
                  <a:srgbClr val="292929"/>
                </a:solidFill>
                <a:latin typeface="Arial"/>
                <a:ea typeface="Arial"/>
                <a:cs typeface="Arial"/>
                <a:sym typeface="Arial"/>
              </a:rPr>
              <a:t>List the failed landing_outcomes in drone ship, their booster versions, and launch site names for in year 2015:</a:t>
            </a:r>
            <a:endParaRPr sz="1600">
              <a:solidFill>
                <a:srgbClr val="292929"/>
              </a:solidFill>
              <a:latin typeface="Arial"/>
              <a:ea typeface="Arial"/>
              <a:cs typeface="Arial"/>
              <a:sym typeface="Arial"/>
            </a:endParaRPr>
          </a:p>
          <a:p>
            <a:pPr indent="0" lvl="0" marL="228600" rtl="0" algn="l">
              <a:lnSpc>
                <a:spcPct val="100000"/>
              </a:lnSpc>
              <a:spcBef>
                <a:spcPts val="0"/>
              </a:spcBef>
              <a:spcAft>
                <a:spcPts val="0"/>
              </a:spcAft>
              <a:buNone/>
            </a:pPr>
            <a:r>
              <a:t/>
            </a:r>
            <a:endParaRPr sz="1600">
              <a:solidFill>
                <a:srgbClr val="292929"/>
              </a:solidFill>
              <a:latin typeface="Arial"/>
              <a:ea typeface="Arial"/>
              <a:cs typeface="Arial"/>
              <a:sym typeface="Arial"/>
            </a:endParaRPr>
          </a:p>
          <a:p>
            <a:pPr indent="0" lvl="0" marL="228600" rtl="0" algn="l">
              <a:lnSpc>
                <a:spcPct val="100000"/>
              </a:lnSpc>
              <a:spcBef>
                <a:spcPts val="0"/>
              </a:spcBef>
              <a:spcAft>
                <a:spcPts val="0"/>
              </a:spcAft>
              <a:buNone/>
            </a:pPr>
            <a:r>
              <a:rPr lang="en-US" sz="1600">
                <a:solidFill>
                  <a:srgbClr val="292929"/>
                </a:solidFill>
                <a:latin typeface="Arial"/>
                <a:ea typeface="Arial"/>
                <a:cs typeface="Arial"/>
                <a:sym typeface="Arial"/>
              </a:rPr>
              <a:t>	</a:t>
            </a:r>
            <a:endParaRPr sz="1600">
              <a:solidFill>
                <a:srgbClr val="292929"/>
              </a:solidFill>
              <a:latin typeface="Arial"/>
              <a:ea typeface="Arial"/>
              <a:cs typeface="Arial"/>
              <a:sym typeface="Arial"/>
            </a:endParaRPr>
          </a:p>
          <a:p>
            <a:pPr indent="0" lvl="0" marL="228600" rtl="0" algn="l">
              <a:lnSpc>
                <a:spcPct val="100000"/>
              </a:lnSpc>
              <a:spcBef>
                <a:spcPts val="0"/>
              </a:spcBef>
              <a:spcAft>
                <a:spcPts val="0"/>
              </a:spcAft>
              <a:buNone/>
            </a:pPr>
            <a:r>
              <a:t/>
            </a:r>
            <a:endParaRPr sz="1600">
              <a:solidFill>
                <a:srgbClr val="292929"/>
              </a:solidFill>
              <a:latin typeface="Arial"/>
              <a:ea typeface="Arial"/>
              <a:cs typeface="Arial"/>
              <a:sym typeface="Arial"/>
            </a:endParaRPr>
          </a:p>
          <a:p>
            <a:pPr indent="0" lvl="0" marL="228600" rtl="0" algn="l">
              <a:lnSpc>
                <a:spcPct val="100000"/>
              </a:lnSpc>
              <a:spcBef>
                <a:spcPts val="0"/>
              </a:spcBef>
              <a:spcAft>
                <a:spcPts val="0"/>
              </a:spcAft>
              <a:buNone/>
            </a:pPr>
            <a:r>
              <a:t/>
            </a:r>
            <a:endParaRPr sz="1600">
              <a:solidFill>
                <a:srgbClr val="292929"/>
              </a:solidFill>
              <a:latin typeface="Arial"/>
              <a:ea typeface="Arial"/>
              <a:cs typeface="Arial"/>
              <a:sym typeface="Arial"/>
            </a:endParaRPr>
          </a:p>
          <a:p>
            <a:pPr indent="0" lvl="0" marL="228600" rtl="0" algn="l">
              <a:lnSpc>
                <a:spcPct val="100000"/>
              </a:lnSpc>
              <a:spcBef>
                <a:spcPts val="0"/>
              </a:spcBef>
              <a:spcAft>
                <a:spcPts val="0"/>
              </a:spcAft>
              <a:buNone/>
            </a:pPr>
            <a:r>
              <a:t/>
            </a:r>
            <a:endParaRPr sz="1600">
              <a:solidFill>
                <a:srgbClr val="292929"/>
              </a:solidFill>
              <a:latin typeface="Arial"/>
              <a:ea typeface="Arial"/>
              <a:cs typeface="Arial"/>
              <a:sym typeface="Arial"/>
            </a:endParaRPr>
          </a:p>
          <a:p>
            <a:pPr indent="0" lvl="0" marL="228600" rtl="0" algn="l">
              <a:lnSpc>
                <a:spcPct val="100000"/>
              </a:lnSpc>
              <a:spcBef>
                <a:spcPts val="0"/>
              </a:spcBef>
              <a:spcAft>
                <a:spcPts val="0"/>
              </a:spcAft>
              <a:buNone/>
            </a:pPr>
            <a:r>
              <a:t/>
            </a:r>
            <a:endParaRPr sz="1600">
              <a:solidFill>
                <a:srgbClr val="292929"/>
              </a:solidFill>
              <a:latin typeface="Arial"/>
              <a:ea typeface="Arial"/>
              <a:cs typeface="Arial"/>
              <a:sym typeface="Arial"/>
            </a:endParaRPr>
          </a:p>
          <a:p>
            <a:pPr indent="0" lvl="0" marL="228600" rtl="0" algn="l">
              <a:lnSpc>
                <a:spcPct val="100000"/>
              </a:lnSpc>
              <a:spcBef>
                <a:spcPts val="0"/>
              </a:spcBef>
              <a:spcAft>
                <a:spcPts val="0"/>
              </a:spcAft>
              <a:buNone/>
            </a:pPr>
            <a:r>
              <a:t/>
            </a:r>
            <a:endParaRPr sz="1600">
              <a:solidFill>
                <a:srgbClr val="292929"/>
              </a:solidFill>
              <a:latin typeface="Arial"/>
              <a:ea typeface="Arial"/>
              <a:cs typeface="Arial"/>
              <a:sym typeface="Arial"/>
            </a:endParaRPr>
          </a:p>
          <a:p>
            <a:pPr indent="0" lvl="0" marL="0" rtl="0" algn="l">
              <a:lnSpc>
                <a:spcPct val="100000"/>
              </a:lnSpc>
              <a:spcBef>
                <a:spcPts val="0"/>
              </a:spcBef>
              <a:spcAft>
                <a:spcPts val="0"/>
              </a:spcAft>
              <a:buNone/>
            </a:pPr>
            <a:r>
              <a:t/>
            </a:r>
            <a:endParaRPr sz="1600">
              <a:solidFill>
                <a:schemeClr val="dk1"/>
              </a:solidFill>
              <a:latin typeface="Arial"/>
              <a:ea typeface="Arial"/>
              <a:cs typeface="Arial"/>
              <a:sym typeface="Arial"/>
            </a:endParaRPr>
          </a:p>
          <a:p>
            <a:pPr indent="457200" lvl="0" marL="0" rtl="0" algn="l">
              <a:lnSpc>
                <a:spcPct val="100000"/>
              </a:lnSpc>
              <a:spcBef>
                <a:spcPts val="0"/>
              </a:spcBef>
              <a:spcAft>
                <a:spcPts val="0"/>
              </a:spcAft>
              <a:buNone/>
            </a:pPr>
            <a:r>
              <a:rPr b="1" lang="en-US" sz="1000">
                <a:solidFill>
                  <a:schemeClr val="dk1"/>
                </a:solidFill>
                <a:latin typeface="Arial"/>
                <a:ea typeface="Arial"/>
                <a:cs typeface="Arial"/>
                <a:sym typeface="Arial"/>
              </a:rPr>
              <a:t>SELECT</a:t>
            </a:r>
            <a:r>
              <a:rPr lang="en-US" sz="1000">
                <a:solidFill>
                  <a:schemeClr val="dk1"/>
                </a:solidFill>
                <a:latin typeface="Arial"/>
                <a:ea typeface="Arial"/>
                <a:cs typeface="Arial"/>
                <a:sym typeface="Arial"/>
              </a:rPr>
              <a:t>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CASE</a:t>
            </a:r>
            <a:r>
              <a:rPr lang="en-US" sz="1000">
                <a:solidFill>
                  <a:schemeClr val="dk1"/>
                </a:solidFill>
                <a:latin typeface="Arial"/>
                <a:ea typeface="Arial"/>
                <a:cs typeface="Arial"/>
                <a:sym typeface="Arial"/>
              </a:rPr>
              <a:t> strftime('%m', Date)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'01'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'January'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'02'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'February'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'03'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'March'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'04'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'April'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'05'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'May'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'06'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'June'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'07'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'July'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'08'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'August'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'09'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'September'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'10'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'October'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'11'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'November'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WHEN</a:t>
            </a:r>
            <a:r>
              <a:rPr lang="en-US" sz="1000">
                <a:solidFill>
                  <a:schemeClr val="dk1"/>
                </a:solidFill>
                <a:latin typeface="Arial"/>
                <a:ea typeface="Arial"/>
                <a:cs typeface="Arial"/>
                <a:sym typeface="Arial"/>
              </a:rPr>
              <a:t> '12' </a:t>
            </a:r>
            <a:r>
              <a:rPr b="1" lang="en-US" sz="1000">
                <a:solidFill>
                  <a:schemeClr val="dk1"/>
                </a:solidFill>
                <a:latin typeface="Arial"/>
                <a:ea typeface="Arial"/>
                <a:cs typeface="Arial"/>
                <a:sym typeface="Arial"/>
              </a:rPr>
              <a:t>THEN</a:t>
            </a:r>
            <a:r>
              <a:rPr lang="en-US" sz="1000">
                <a:solidFill>
                  <a:schemeClr val="dk1"/>
                </a:solidFill>
                <a:latin typeface="Arial"/>
                <a:ea typeface="Arial"/>
                <a:cs typeface="Arial"/>
                <a:sym typeface="Arial"/>
              </a:rPr>
              <a:t> 'December'</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END</a:t>
            </a: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as</a:t>
            </a:r>
            <a:r>
              <a:rPr lang="en-US" sz="1000">
                <a:solidFill>
                  <a:schemeClr val="dk1"/>
                </a:solidFill>
                <a:latin typeface="Arial"/>
                <a:ea typeface="Arial"/>
                <a:cs typeface="Arial"/>
                <a:sym typeface="Arial"/>
              </a:rPr>
              <a:t> </a:t>
            </a:r>
            <a:r>
              <a:rPr b="1" lang="en-US" sz="1000">
                <a:solidFill>
                  <a:schemeClr val="dk1"/>
                </a:solidFill>
                <a:latin typeface="Arial"/>
                <a:ea typeface="Arial"/>
                <a:cs typeface="Arial"/>
                <a:sym typeface="Arial"/>
              </a:rPr>
              <a:t>Month</a:t>
            </a:r>
            <a:r>
              <a:rPr lang="en-US" sz="1000">
                <a:solidFill>
                  <a:schemeClr val="dk1"/>
                </a:solidFill>
                <a:latin typeface="Arial"/>
                <a:ea typeface="Arial"/>
                <a:cs typeface="Arial"/>
                <a:sym typeface="Arial"/>
              </a:rPr>
              <a:t>, </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000">
                <a:solidFill>
                  <a:schemeClr val="dk1"/>
                </a:solidFill>
                <a:latin typeface="Arial"/>
                <a:ea typeface="Arial"/>
                <a:cs typeface="Arial"/>
                <a:sym typeface="Arial"/>
              </a:rPr>
              <a:t>   	 Landing_Outcome, Booster_Version, Launch_Site, Date</a:t>
            </a:r>
            <a:endParaRPr sz="1000">
              <a:solidFill>
                <a:schemeClr val="dk1"/>
              </a:solidFill>
              <a:latin typeface="Arial"/>
              <a:ea typeface="Arial"/>
              <a:cs typeface="Arial"/>
              <a:sym typeface="Arial"/>
            </a:endParaRPr>
          </a:p>
          <a:p>
            <a:pPr indent="457200" lvl="0" marL="0" rtl="0" algn="l">
              <a:lnSpc>
                <a:spcPct val="100000"/>
              </a:lnSpc>
              <a:spcBef>
                <a:spcPts val="0"/>
              </a:spcBef>
              <a:spcAft>
                <a:spcPts val="0"/>
              </a:spcAft>
              <a:buNone/>
            </a:pPr>
            <a:r>
              <a:rPr b="1" lang="en-US" sz="1000">
                <a:solidFill>
                  <a:schemeClr val="dk1"/>
                </a:solidFill>
                <a:latin typeface="Arial"/>
                <a:ea typeface="Arial"/>
                <a:cs typeface="Arial"/>
                <a:sym typeface="Arial"/>
              </a:rPr>
              <a:t>FROM</a:t>
            </a:r>
            <a:r>
              <a:rPr lang="en-US" sz="1000">
                <a:solidFill>
                  <a:schemeClr val="dk1"/>
                </a:solidFill>
                <a:latin typeface="Arial"/>
                <a:ea typeface="Arial"/>
                <a:cs typeface="Arial"/>
                <a:sym typeface="Arial"/>
              </a:rPr>
              <a:t> SPACEXTABLE</a:t>
            </a:r>
            <a:endParaRPr sz="1000">
              <a:solidFill>
                <a:schemeClr val="dk1"/>
              </a:solidFill>
              <a:latin typeface="Arial"/>
              <a:ea typeface="Arial"/>
              <a:cs typeface="Arial"/>
              <a:sym typeface="Arial"/>
            </a:endParaRPr>
          </a:p>
          <a:p>
            <a:pPr indent="457200" lvl="0" marL="0" rtl="0" algn="l">
              <a:lnSpc>
                <a:spcPct val="100000"/>
              </a:lnSpc>
              <a:spcBef>
                <a:spcPts val="0"/>
              </a:spcBef>
              <a:spcAft>
                <a:spcPts val="0"/>
              </a:spcAft>
              <a:buClr>
                <a:schemeClr val="dk1"/>
              </a:buClr>
              <a:buSzPts val="1100"/>
              <a:buFont typeface="Arial"/>
              <a:buNone/>
            </a:pPr>
            <a:r>
              <a:rPr b="1" lang="en-US" sz="1000">
                <a:solidFill>
                  <a:schemeClr val="dk1"/>
                </a:solidFill>
                <a:latin typeface="Arial"/>
                <a:ea typeface="Arial"/>
                <a:cs typeface="Arial"/>
                <a:sym typeface="Arial"/>
              </a:rPr>
              <a:t>WHERE</a:t>
            </a:r>
            <a:r>
              <a:rPr lang="en-US" sz="1000">
                <a:solidFill>
                  <a:schemeClr val="dk1"/>
                </a:solidFill>
                <a:latin typeface="Arial"/>
                <a:ea typeface="Arial"/>
                <a:cs typeface="Arial"/>
                <a:sym typeface="Arial"/>
              </a:rPr>
              <a:t> strftime('%Y', Date) </a:t>
            </a:r>
            <a:r>
              <a:rPr b="1" lang="en-US" sz="1000">
                <a:solidFill>
                  <a:schemeClr val="dk1"/>
                </a:solidFill>
                <a:latin typeface="Arial"/>
                <a:ea typeface="Arial"/>
                <a:cs typeface="Arial"/>
                <a:sym typeface="Arial"/>
              </a:rPr>
              <a:t>=</a:t>
            </a:r>
            <a:r>
              <a:rPr lang="en-US" sz="1000">
                <a:solidFill>
                  <a:schemeClr val="dk1"/>
                </a:solidFill>
                <a:latin typeface="Arial"/>
                <a:ea typeface="Arial"/>
                <a:cs typeface="Arial"/>
                <a:sym typeface="Arial"/>
              </a:rPr>
              <a:t> '2015' </a:t>
            </a:r>
            <a:r>
              <a:rPr b="1" lang="en-US" sz="1000">
                <a:solidFill>
                  <a:schemeClr val="dk1"/>
                </a:solidFill>
                <a:latin typeface="Arial"/>
                <a:ea typeface="Arial"/>
                <a:cs typeface="Arial"/>
                <a:sym typeface="Arial"/>
              </a:rPr>
              <a:t>AND</a:t>
            </a:r>
            <a:r>
              <a:rPr lang="en-US" sz="1000">
                <a:solidFill>
                  <a:schemeClr val="dk1"/>
                </a:solidFill>
                <a:latin typeface="Arial"/>
                <a:ea typeface="Arial"/>
                <a:cs typeface="Arial"/>
                <a:sym typeface="Arial"/>
              </a:rPr>
              <a:t> Landing_Outcome </a:t>
            </a:r>
            <a:r>
              <a:rPr b="1" lang="en-US" sz="1000">
                <a:solidFill>
                  <a:schemeClr val="dk1"/>
                </a:solidFill>
                <a:latin typeface="Arial"/>
                <a:ea typeface="Arial"/>
                <a:cs typeface="Arial"/>
                <a:sym typeface="Arial"/>
              </a:rPr>
              <a:t>=</a:t>
            </a:r>
            <a:r>
              <a:rPr lang="en-US" sz="1000">
                <a:solidFill>
                  <a:schemeClr val="dk1"/>
                </a:solidFill>
                <a:latin typeface="Arial"/>
                <a:ea typeface="Arial"/>
                <a:cs typeface="Arial"/>
                <a:sym typeface="Arial"/>
              </a:rPr>
              <a:t> 'Failure (drone ship)';</a:t>
            </a:r>
            <a:endParaRPr sz="1000">
              <a:solidFill>
                <a:schemeClr val="dk1"/>
              </a:solidFill>
              <a:latin typeface="Arial"/>
              <a:ea typeface="Arial"/>
              <a:cs typeface="Arial"/>
              <a:sym typeface="Arial"/>
            </a:endParaRPr>
          </a:p>
          <a:p>
            <a:pPr indent="0" lvl="0" marL="0" rtl="0" algn="l">
              <a:lnSpc>
                <a:spcPct val="100000"/>
              </a:lnSpc>
              <a:spcBef>
                <a:spcPts val="0"/>
              </a:spcBef>
              <a:spcAft>
                <a:spcPts val="0"/>
              </a:spcAft>
              <a:buNone/>
            </a:pPr>
            <a:r>
              <a:t/>
            </a:r>
            <a:endParaRPr sz="1600">
              <a:solidFill>
                <a:srgbClr val="292929"/>
              </a:solidFill>
              <a:latin typeface="Arial"/>
              <a:ea typeface="Arial"/>
              <a:cs typeface="Arial"/>
              <a:sym typeface="Arial"/>
            </a:endParaRPr>
          </a:p>
        </p:txBody>
      </p:sp>
      <p:sp>
        <p:nvSpPr>
          <p:cNvPr id="326" name="Google Shape;326;p46"/>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2015 Launch Records</a:t>
            </a:r>
            <a:endParaRPr/>
          </a:p>
        </p:txBody>
      </p:sp>
      <p:graphicFrame>
        <p:nvGraphicFramePr>
          <p:cNvPr id="327" name="Google Shape;327;p46"/>
          <p:cNvGraphicFramePr/>
          <p:nvPr/>
        </p:nvGraphicFramePr>
        <p:xfrm>
          <a:off x="1570725" y="1881750"/>
          <a:ext cx="3000000" cy="3000000"/>
        </p:xfrm>
        <a:graphic>
          <a:graphicData uri="http://schemas.openxmlformats.org/drawingml/2006/table">
            <a:tbl>
              <a:tblPr>
                <a:noFill/>
                <a:tableStyleId>{78F50091-2232-4A56-A8EF-4E2A4E5F5A4D}</a:tableStyleId>
              </a:tblPr>
              <a:tblGrid>
                <a:gridCol w="2124950"/>
                <a:gridCol w="2124950"/>
                <a:gridCol w="2124950"/>
                <a:gridCol w="2124950"/>
              </a:tblGrid>
              <a:tr h="442175">
                <a:tc>
                  <a:txBody>
                    <a:bodyPr/>
                    <a:lstStyle/>
                    <a:p>
                      <a:pPr indent="0" lvl="0" marL="0" rtl="0" algn="l">
                        <a:spcBef>
                          <a:spcPts val="0"/>
                        </a:spcBef>
                        <a:spcAft>
                          <a:spcPts val="0"/>
                        </a:spcAft>
                        <a:buNone/>
                      </a:pPr>
                      <a:r>
                        <a:rPr b="1" lang="en-US" sz="1200"/>
                        <a:t>Month</a:t>
                      </a:r>
                      <a:endParaRPr b="1" sz="1200"/>
                    </a:p>
                  </a:txBody>
                  <a:tcPr marT="91425" marB="91425" marR="91425" marL="91425"/>
                </a:tc>
                <a:tc>
                  <a:txBody>
                    <a:bodyPr/>
                    <a:lstStyle/>
                    <a:p>
                      <a:pPr indent="0" lvl="0" marL="0" rtl="0" algn="l">
                        <a:spcBef>
                          <a:spcPts val="0"/>
                        </a:spcBef>
                        <a:spcAft>
                          <a:spcPts val="0"/>
                        </a:spcAft>
                        <a:buNone/>
                      </a:pPr>
                      <a:r>
                        <a:rPr b="1" lang="en-US" sz="1200"/>
                        <a:t>Outcome</a:t>
                      </a:r>
                      <a:endParaRPr b="1" sz="1200"/>
                    </a:p>
                  </a:txBody>
                  <a:tcPr marT="91425" marB="91425" marR="91425" marL="91425"/>
                </a:tc>
                <a:tc>
                  <a:txBody>
                    <a:bodyPr/>
                    <a:lstStyle/>
                    <a:p>
                      <a:pPr indent="0" lvl="0" marL="0" rtl="0" algn="l">
                        <a:spcBef>
                          <a:spcPts val="0"/>
                        </a:spcBef>
                        <a:spcAft>
                          <a:spcPts val="0"/>
                        </a:spcAft>
                        <a:buNone/>
                      </a:pPr>
                      <a:r>
                        <a:rPr b="1" lang="en-US" sz="1200"/>
                        <a:t>Booster</a:t>
                      </a:r>
                      <a:endParaRPr b="1" sz="1200"/>
                    </a:p>
                  </a:txBody>
                  <a:tcPr marT="91425" marB="91425" marR="91425" marL="91425"/>
                </a:tc>
                <a:tc>
                  <a:txBody>
                    <a:bodyPr/>
                    <a:lstStyle/>
                    <a:p>
                      <a:pPr indent="0" lvl="0" marL="0" rtl="0" algn="l">
                        <a:spcBef>
                          <a:spcPts val="0"/>
                        </a:spcBef>
                        <a:spcAft>
                          <a:spcPts val="0"/>
                        </a:spcAft>
                        <a:buNone/>
                      </a:pPr>
                      <a:r>
                        <a:rPr b="1" lang="en-US" sz="1200"/>
                        <a:t>Launch Site</a:t>
                      </a:r>
                      <a:endParaRPr b="1" sz="1200"/>
                    </a:p>
                  </a:txBody>
                  <a:tcPr marT="91425" marB="91425" marR="91425" marL="91425"/>
                </a:tc>
              </a:tr>
              <a:tr h="442175">
                <a:tc>
                  <a:txBody>
                    <a:bodyPr/>
                    <a:lstStyle/>
                    <a:p>
                      <a:pPr indent="0" lvl="0" marL="0" rtl="0" algn="l">
                        <a:spcBef>
                          <a:spcPts val="0"/>
                        </a:spcBef>
                        <a:spcAft>
                          <a:spcPts val="0"/>
                        </a:spcAft>
                        <a:buNone/>
                      </a:pPr>
                      <a:r>
                        <a:rPr lang="en-US" sz="1200"/>
                        <a:t>January</a:t>
                      </a:r>
                      <a:endParaRPr sz="1200"/>
                    </a:p>
                  </a:txBody>
                  <a:tcPr marT="91425" marB="91425" marR="91425" marL="91425"/>
                </a:tc>
                <a:tc>
                  <a:txBody>
                    <a:bodyPr/>
                    <a:lstStyle/>
                    <a:p>
                      <a:pPr indent="0" lvl="0" marL="0" rtl="0" algn="l">
                        <a:spcBef>
                          <a:spcPts val="0"/>
                        </a:spcBef>
                        <a:spcAft>
                          <a:spcPts val="0"/>
                        </a:spcAft>
                        <a:buNone/>
                      </a:pPr>
                      <a:r>
                        <a:rPr lang="en-US" sz="1200"/>
                        <a:t>Failure (drone ship)</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r>
              <a:tr h="442175">
                <a:tc>
                  <a:txBody>
                    <a:bodyPr/>
                    <a:lstStyle/>
                    <a:p>
                      <a:pPr indent="0" lvl="0" marL="0" rtl="0" algn="l">
                        <a:spcBef>
                          <a:spcPts val="0"/>
                        </a:spcBef>
                        <a:spcAft>
                          <a:spcPts val="0"/>
                        </a:spcAft>
                        <a:buNone/>
                      </a:pPr>
                      <a:r>
                        <a:rPr lang="en-US" sz="1200"/>
                        <a:t>April</a:t>
                      </a:r>
                      <a:endParaRPr sz="1200"/>
                    </a:p>
                  </a:txBody>
                  <a:tcPr marT="91425" marB="91425" marR="91425" marL="91425"/>
                </a:tc>
                <a:tc>
                  <a:txBody>
                    <a:bodyPr/>
                    <a:lstStyle/>
                    <a:p>
                      <a:pPr indent="0" lvl="0" marL="0" rtl="0" algn="l">
                        <a:spcBef>
                          <a:spcPts val="0"/>
                        </a:spcBef>
                        <a:spcAft>
                          <a:spcPts val="0"/>
                        </a:spcAft>
                        <a:buNone/>
                      </a:pPr>
                      <a:r>
                        <a:rPr lang="en-US" sz="1200"/>
                        <a:t>Failure (drone ship)</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t/>
                      </a:r>
                      <a:endParaRPr sz="1200"/>
                    </a:p>
                  </a:txBody>
                  <a:tcPr marT="91425" marB="91425" marR="91425" marL="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1" name="Shape 331"/>
        <p:cNvGrpSpPr/>
        <p:nvPr/>
      </p:nvGrpSpPr>
      <p:grpSpPr>
        <a:xfrm>
          <a:off x="0" y="0"/>
          <a:ext cx="0" cy="0"/>
          <a:chOff x="0" y="0"/>
          <a:chExt cx="0" cy="0"/>
        </a:xfrm>
      </p:grpSpPr>
      <p:sp>
        <p:nvSpPr>
          <p:cNvPr id="332" name="Google Shape;332;p47"/>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33" name="Google Shape;333;p47"/>
          <p:cNvSpPr txBox="1"/>
          <p:nvPr>
            <p:ph idx="4294967295" type="body"/>
          </p:nvPr>
        </p:nvSpPr>
        <p:spPr>
          <a:xfrm>
            <a:off x="924574" y="1323525"/>
            <a:ext cx="10465500" cy="4399200"/>
          </a:xfrm>
          <a:prstGeom prst="rect">
            <a:avLst/>
          </a:prstGeom>
          <a:noFill/>
          <a:ln>
            <a:noFill/>
          </a:ln>
        </p:spPr>
        <p:txBody>
          <a:bodyPr anchorCtr="0" anchor="t" bIns="45700" lIns="45700" spcFirstLastPara="1" rIns="45700" wrap="square" tIns="45700">
            <a:normAutofit/>
          </a:bodyPr>
          <a:lstStyle/>
          <a:p>
            <a:pPr indent="-190500" lvl="0" marL="228600" rtl="0" algn="l">
              <a:lnSpc>
                <a:spcPct val="100000"/>
              </a:lnSpc>
              <a:spcBef>
                <a:spcPts val="0"/>
              </a:spcBef>
              <a:spcAft>
                <a:spcPts val="0"/>
              </a:spcAft>
              <a:buClr>
                <a:srgbClr val="292929"/>
              </a:buClr>
              <a:buSzPts val="1600"/>
              <a:buChar char="•"/>
            </a:pPr>
            <a:r>
              <a:rPr lang="en-US" sz="1600">
                <a:solidFill>
                  <a:srgbClr val="292929"/>
                </a:solidFill>
                <a:latin typeface="Arial"/>
                <a:ea typeface="Arial"/>
                <a:cs typeface="Arial"/>
                <a:sym typeface="Arial"/>
              </a:rPr>
              <a:t>Rank the count of landing outcomes (such as Failure (drone ship) or Success (ground pad)) between the date 2010-06-04 and 2017-03-20, in descending order:</a:t>
            </a:r>
            <a:endParaRPr sz="1600">
              <a:solidFill>
                <a:srgbClr val="292929"/>
              </a:solidFill>
              <a:latin typeface="Arial"/>
              <a:ea typeface="Arial"/>
              <a:cs typeface="Arial"/>
              <a:sym typeface="Arial"/>
            </a:endParaRPr>
          </a:p>
          <a:p>
            <a:pPr indent="0" lvl="0" marL="0" rtl="0" algn="l">
              <a:lnSpc>
                <a:spcPct val="100000"/>
              </a:lnSpc>
              <a:spcBef>
                <a:spcPts val="0"/>
              </a:spcBef>
              <a:spcAft>
                <a:spcPts val="0"/>
              </a:spcAft>
              <a:buNone/>
            </a:pPr>
            <a:r>
              <a:t/>
            </a:r>
            <a:endParaRPr sz="1600">
              <a:solidFill>
                <a:srgbClr val="292929"/>
              </a:solidFill>
              <a:latin typeface="Arial"/>
              <a:ea typeface="Arial"/>
              <a:cs typeface="Arial"/>
              <a:sym typeface="Arial"/>
            </a:endParaRPr>
          </a:p>
          <a:p>
            <a:pPr indent="0" lvl="0" marL="0" rtl="0" algn="l">
              <a:lnSpc>
                <a:spcPct val="100000"/>
              </a:lnSpc>
              <a:spcBef>
                <a:spcPts val="0"/>
              </a:spcBef>
              <a:spcAft>
                <a:spcPts val="0"/>
              </a:spcAft>
              <a:buNone/>
            </a:pPr>
            <a:r>
              <a:rPr lang="en-US" sz="16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SELECT</a:t>
            </a:r>
            <a:r>
              <a:rPr lang="en-US" sz="1200">
                <a:solidFill>
                  <a:schemeClr val="dk1"/>
                </a:solidFill>
                <a:latin typeface="Arial"/>
                <a:ea typeface="Arial"/>
                <a:cs typeface="Arial"/>
                <a:sym typeface="Arial"/>
              </a:rPr>
              <a:t> Landing_Outcome, </a:t>
            </a:r>
            <a:r>
              <a:rPr b="1" lang="en-US" sz="1200">
                <a:solidFill>
                  <a:schemeClr val="dk1"/>
                </a:solidFill>
                <a:latin typeface="Arial"/>
                <a:ea typeface="Arial"/>
                <a:cs typeface="Arial"/>
                <a:sym typeface="Arial"/>
              </a:rPr>
              <a:t>COUNT</a:t>
            </a:r>
            <a:r>
              <a:rPr lang="en-US" sz="1200">
                <a:solidFill>
                  <a:schemeClr val="dk1"/>
                </a:solidFill>
                <a:latin typeface="Arial"/>
                <a:ea typeface="Arial"/>
                <a:cs typeface="Arial"/>
                <a:sym typeface="Arial"/>
              </a:rPr>
              <a:t>(</a:t>
            </a:r>
            <a:r>
              <a:rPr b="1" lang="en-US" sz="1200">
                <a:solidFill>
                  <a:schemeClr val="dk1"/>
                </a:solidFill>
                <a:latin typeface="Arial"/>
                <a:ea typeface="Arial"/>
                <a:cs typeface="Arial"/>
                <a:sym typeface="Arial"/>
              </a:rPr>
              <a:t>*</a:t>
            </a: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as</a:t>
            </a: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Count						</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FROM</a:t>
            </a:r>
            <a:r>
              <a:rPr lang="en-US" sz="1200">
                <a:solidFill>
                  <a:schemeClr val="dk1"/>
                </a:solidFill>
                <a:latin typeface="Arial"/>
                <a:ea typeface="Arial"/>
                <a:cs typeface="Arial"/>
                <a:sym typeface="Arial"/>
              </a:rPr>
              <a:t> SPACEXTABLE</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WHERE</a:t>
            </a:r>
            <a:r>
              <a:rPr lang="en-US" sz="1200">
                <a:solidFill>
                  <a:schemeClr val="dk1"/>
                </a:solidFill>
                <a:latin typeface="Arial"/>
                <a:ea typeface="Arial"/>
                <a:cs typeface="Arial"/>
                <a:sym typeface="Arial"/>
              </a:rPr>
              <a:t> Date </a:t>
            </a:r>
            <a:r>
              <a:rPr b="1" lang="en-US" sz="1200">
                <a:solidFill>
                  <a:schemeClr val="dk1"/>
                </a:solidFill>
                <a:latin typeface="Arial"/>
                <a:ea typeface="Arial"/>
                <a:cs typeface="Arial"/>
                <a:sym typeface="Arial"/>
              </a:rPr>
              <a:t>BETWEEN</a:t>
            </a:r>
            <a:r>
              <a:rPr lang="en-US" sz="1200">
                <a:solidFill>
                  <a:schemeClr val="dk1"/>
                </a:solidFill>
                <a:latin typeface="Arial"/>
                <a:ea typeface="Arial"/>
                <a:cs typeface="Arial"/>
                <a:sym typeface="Arial"/>
              </a:rPr>
              <a:t> '2010-06-04' </a:t>
            </a:r>
            <a:r>
              <a:rPr b="1" lang="en-US" sz="1200">
                <a:solidFill>
                  <a:schemeClr val="dk1"/>
                </a:solidFill>
                <a:latin typeface="Arial"/>
                <a:ea typeface="Arial"/>
                <a:cs typeface="Arial"/>
                <a:sym typeface="Arial"/>
              </a:rPr>
              <a:t>AND</a:t>
            </a:r>
            <a:r>
              <a:rPr lang="en-US" sz="1200">
                <a:solidFill>
                  <a:schemeClr val="dk1"/>
                </a:solidFill>
                <a:latin typeface="Arial"/>
                <a:ea typeface="Arial"/>
                <a:cs typeface="Arial"/>
                <a:sym typeface="Arial"/>
              </a:rPr>
              <a:t> '2017-03-20'</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None/>
            </a:pP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GROUP</a:t>
            </a: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BY</a:t>
            </a:r>
            <a:r>
              <a:rPr lang="en-US" sz="1200">
                <a:solidFill>
                  <a:schemeClr val="dk1"/>
                </a:solidFill>
                <a:latin typeface="Arial"/>
                <a:ea typeface="Arial"/>
                <a:cs typeface="Arial"/>
                <a:sym typeface="Arial"/>
              </a:rPr>
              <a:t> Landing_Outcome</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ORDER</a:t>
            </a: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BY</a:t>
            </a: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Count</a:t>
            </a:r>
            <a:r>
              <a:rPr lang="en-US" sz="1200">
                <a:solidFill>
                  <a:schemeClr val="dk1"/>
                </a:solidFill>
                <a:latin typeface="Arial"/>
                <a:ea typeface="Arial"/>
                <a:cs typeface="Arial"/>
                <a:sym typeface="Arial"/>
              </a:rPr>
              <a:t> </a:t>
            </a:r>
            <a:r>
              <a:rPr b="1" lang="en-US" sz="1200">
                <a:solidFill>
                  <a:schemeClr val="dk1"/>
                </a:solidFill>
                <a:latin typeface="Arial"/>
                <a:ea typeface="Arial"/>
                <a:cs typeface="Arial"/>
                <a:sym typeface="Arial"/>
              </a:rPr>
              <a:t>DESC</a:t>
            </a:r>
            <a:r>
              <a:rPr lang="en-US" sz="1200">
                <a:solidFill>
                  <a:schemeClr val="dk1"/>
                </a:solidFill>
                <a:latin typeface="Arial"/>
                <a:ea typeface="Arial"/>
                <a:cs typeface="Arial"/>
                <a:sym typeface="Arial"/>
              </a:rPr>
              <a:t>;</a:t>
            </a:r>
            <a:endParaRPr sz="1200">
              <a:solidFill>
                <a:schemeClr val="dk1"/>
              </a:solidFill>
              <a:latin typeface="Arial"/>
              <a:ea typeface="Arial"/>
              <a:cs typeface="Arial"/>
              <a:sym typeface="Arial"/>
            </a:endParaRPr>
          </a:p>
          <a:p>
            <a:pPr indent="0" lvl="0" marL="0" rtl="0" algn="l">
              <a:lnSpc>
                <a:spcPct val="100000"/>
              </a:lnSpc>
              <a:spcBef>
                <a:spcPts val="0"/>
              </a:spcBef>
              <a:spcAft>
                <a:spcPts val="0"/>
              </a:spcAft>
              <a:buNone/>
            </a:pPr>
            <a:r>
              <a:t/>
            </a:r>
            <a:endParaRPr sz="1600">
              <a:solidFill>
                <a:srgbClr val="292929"/>
              </a:solidFill>
              <a:latin typeface="Arial"/>
              <a:ea typeface="Arial"/>
              <a:cs typeface="Arial"/>
              <a:sym typeface="Arial"/>
            </a:endParaRPr>
          </a:p>
          <a:p>
            <a:pPr indent="-88900" lvl="0" marL="228600" rtl="0" algn="l">
              <a:lnSpc>
                <a:spcPct val="100000"/>
              </a:lnSpc>
              <a:spcBef>
                <a:spcPts val="1400"/>
              </a:spcBef>
              <a:spcAft>
                <a:spcPts val="0"/>
              </a:spcAft>
              <a:buClr>
                <a:srgbClr val="292929"/>
              </a:buClr>
              <a:buSzPts val="2200"/>
              <a:buNone/>
            </a:pPr>
            <a:r>
              <a:t/>
            </a:r>
            <a:endParaRPr sz="22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a:p>
        </p:txBody>
      </p:sp>
      <p:sp>
        <p:nvSpPr>
          <p:cNvPr id="334" name="Google Shape;334;p47"/>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2800"/>
              <a:buFont typeface="Arial"/>
              <a:buNone/>
            </a:pPr>
            <a:r>
              <a:rPr b="0" i="0" lang="en-US" sz="2800" u="none" cap="none" strike="noStrike">
                <a:solidFill>
                  <a:srgbClr val="0B49CB"/>
                </a:solidFill>
                <a:latin typeface="Arial"/>
                <a:ea typeface="Arial"/>
                <a:cs typeface="Arial"/>
                <a:sym typeface="Arial"/>
              </a:rPr>
              <a:t>Rank Landing Outcomes Between 2010-06-04 and 2017-03-20</a:t>
            </a:r>
            <a:endParaRPr/>
          </a:p>
        </p:txBody>
      </p:sp>
      <p:graphicFrame>
        <p:nvGraphicFramePr>
          <p:cNvPr id="335" name="Google Shape;335;p47"/>
          <p:cNvGraphicFramePr/>
          <p:nvPr/>
        </p:nvGraphicFramePr>
        <p:xfrm>
          <a:off x="5840875" y="2216550"/>
          <a:ext cx="3000000" cy="3000000"/>
        </p:xfrm>
        <a:graphic>
          <a:graphicData uri="http://schemas.openxmlformats.org/drawingml/2006/table">
            <a:tbl>
              <a:tblPr>
                <a:noFill/>
                <a:tableStyleId>{78F50091-2232-4A56-A8EF-4E2A4E5F5A4D}</a:tableStyleId>
              </a:tblPr>
              <a:tblGrid>
                <a:gridCol w="2539925"/>
                <a:gridCol w="2539925"/>
              </a:tblGrid>
              <a:tr h="393250">
                <a:tc>
                  <a:txBody>
                    <a:bodyPr/>
                    <a:lstStyle/>
                    <a:p>
                      <a:pPr indent="0" lvl="0" marL="0" rtl="0" algn="l">
                        <a:spcBef>
                          <a:spcPts val="0"/>
                        </a:spcBef>
                        <a:spcAft>
                          <a:spcPts val="0"/>
                        </a:spcAft>
                        <a:buNone/>
                      </a:pPr>
                      <a:r>
                        <a:rPr b="1" lang="en-US" sz="1000"/>
                        <a:t>Landing </a:t>
                      </a:r>
                      <a:r>
                        <a:rPr b="1" lang="en-US" sz="1000"/>
                        <a:t>Outcome</a:t>
                      </a:r>
                      <a:endParaRPr b="1" sz="1000"/>
                    </a:p>
                  </a:txBody>
                  <a:tcPr marT="91425" marB="91425" marR="91425" marL="91425"/>
                </a:tc>
                <a:tc>
                  <a:txBody>
                    <a:bodyPr/>
                    <a:lstStyle/>
                    <a:p>
                      <a:pPr indent="0" lvl="0" marL="0" rtl="0" algn="l">
                        <a:spcBef>
                          <a:spcPts val="0"/>
                        </a:spcBef>
                        <a:spcAft>
                          <a:spcPts val="0"/>
                        </a:spcAft>
                        <a:buNone/>
                      </a:pPr>
                      <a:r>
                        <a:rPr b="1" lang="en-US" sz="1000"/>
                        <a:t>Count</a:t>
                      </a:r>
                      <a:endParaRPr b="1" sz="1000"/>
                    </a:p>
                  </a:txBody>
                  <a:tcPr marT="91425" marB="91425" marR="91425" marL="91425"/>
                </a:tc>
              </a:tr>
              <a:tr h="393250">
                <a:tc>
                  <a:txBody>
                    <a:bodyPr/>
                    <a:lstStyle/>
                    <a:p>
                      <a:pPr indent="0" lvl="0" marL="0" rtl="0" algn="l">
                        <a:spcBef>
                          <a:spcPts val="0"/>
                        </a:spcBef>
                        <a:spcAft>
                          <a:spcPts val="0"/>
                        </a:spcAft>
                        <a:buNone/>
                      </a:pPr>
                      <a:r>
                        <a:rPr lang="en-US" sz="1000"/>
                        <a:t>No attempt</a:t>
                      </a:r>
                      <a:endParaRPr sz="1000"/>
                    </a:p>
                  </a:txBody>
                  <a:tcPr marT="91425" marB="91425" marR="91425" marL="91425"/>
                </a:tc>
                <a:tc>
                  <a:txBody>
                    <a:bodyPr/>
                    <a:lstStyle/>
                    <a:p>
                      <a:pPr indent="0" lvl="0" marL="0" rtl="0" algn="l">
                        <a:spcBef>
                          <a:spcPts val="0"/>
                        </a:spcBef>
                        <a:spcAft>
                          <a:spcPts val="0"/>
                        </a:spcAft>
                        <a:buNone/>
                      </a:pPr>
                      <a:r>
                        <a:rPr lang="en-US" sz="1000"/>
                        <a:t>10</a:t>
                      </a:r>
                      <a:endParaRPr sz="1000"/>
                    </a:p>
                  </a:txBody>
                  <a:tcPr marT="91425" marB="91425" marR="91425" marL="91425"/>
                </a:tc>
              </a:tr>
              <a:tr h="357975">
                <a:tc>
                  <a:txBody>
                    <a:bodyPr/>
                    <a:lstStyle/>
                    <a:p>
                      <a:pPr indent="0" lvl="0" marL="0" rtl="0" algn="l">
                        <a:spcBef>
                          <a:spcPts val="0"/>
                        </a:spcBef>
                        <a:spcAft>
                          <a:spcPts val="0"/>
                        </a:spcAft>
                        <a:buNone/>
                      </a:pPr>
                      <a:r>
                        <a:rPr lang="en-US" sz="1000"/>
                        <a:t>Success</a:t>
                      </a:r>
                      <a:r>
                        <a:rPr lang="en-US" sz="1000"/>
                        <a:t> (drone ship)</a:t>
                      </a:r>
                      <a:endParaRPr sz="1000"/>
                    </a:p>
                  </a:txBody>
                  <a:tcPr marT="91425" marB="91425" marR="91425" marL="91425"/>
                </a:tc>
                <a:tc>
                  <a:txBody>
                    <a:bodyPr/>
                    <a:lstStyle/>
                    <a:p>
                      <a:pPr indent="0" lvl="0" marL="0" rtl="0" algn="l">
                        <a:spcBef>
                          <a:spcPts val="0"/>
                        </a:spcBef>
                        <a:spcAft>
                          <a:spcPts val="0"/>
                        </a:spcAft>
                        <a:buNone/>
                      </a:pPr>
                      <a:r>
                        <a:rPr lang="en-US" sz="1000"/>
                        <a:t>5</a:t>
                      </a:r>
                      <a:endParaRPr sz="1000"/>
                    </a:p>
                  </a:txBody>
                  <a:tcPr marT="91425" marB="91425" marR="91425" marL="91425"/>
                </a:tc>
              </a:tr>
              <a:tr h="357975">
                <a:tc>
                  <a:txBody>
                    <a:bodyPr/>
                    <a:lstStyle/>
                    <a:p>
                      <a:pPr indent="0" lvl="0" marL="0" rtl="0" algn="l">
                        <a:spcBef>
                          <a:spcPts val="0"/>
                        </a:spcBef>
                        <a:spcAft>
                          <a:spcPts val="0"/>
                        </a:spcAft>
                        <a:buNone/>
                      </a:pPr>
                      <a:r>
                        <a:rPr lang="en-US" sz="1000"/>
                        <a:t>Failure (drone ship)</a:t>
                      </a:r>
                      <a:endParaRPr sz="1000"/>
                    </a:p>
                  </a:txBody>
                  <a:tcPr marT="91425" marB="91425" marR="91425" marL="91425"/>
                </a:tc>
                <a:tc>
                  <a:txBody>
                    <a:bodyPr/>
                    <a:lstStyle/>
                    <a:p>
                      <a:pPr indent="0" lvl="0" marL="0" rtl="0" algn="l">
                        <a:spcBef>
                          <a:spcPts val="0"/>
                        </a:spcBef>
                        <a:spcAft>
                          <a:spcPts val="0"/>
                        </a:spcAft>
                        <a:buNone/>
                      </a:pPr>
                      <a:r>
                        <a:rPr lang="en-US" sz="1000"/>
                        <a:t>5</a:t>
                      </a:r>
                      <a:endParaRPr sz="1000"/>
                    </a:p>
                  </a:txBody>
                  <a:tcPr marT="91425" marB="91425" marR="91425" marL="91425"/>
                </a:tc>
              </a:tr>
              <a:tr h="357975">
                <a:tc>
                  <a:txBody>
                    <a:bodyPr/>
                    <a:lstStyle/>
                    <a:p>
                      <a:pPr indent="0" lvl="0" marL="0" rtl="0" algn="l">
                        <a:spcBef>
                          <a:spcPts val="0"/>
                        </a:spcBef>
                        <a:spcAft>
                          <a:spcPts val="0"/>
                        </a:spcAft>
                        <a:buNone/>
                      </a:pPr>
                      <a:r>
                        <a:rPr lang="en-US" sz="1000"/>
                        <a:t>Success</a:t>
                      </a:r>
                      <a:r>
                        <a:rPr lang="en-US" sz="1000"/>
                        <a:t>( ground pad)</a:t>
                      </a:r>
                      <a:endParaRPr sz="1000"/>
                    </a:p>
                  </a:txBody>
                  <a:tcPr marT="91425" marB="91425" marR="91425" marL="91425"/>
                </a:tc>
                <a:tc>
                  <a:txBody>
                    <a:bodyPr/>
                    <a:lstStyle/>
                    <a:p>
                      <a:pPr indent="0" lvl="0" marL="0" rtl="0" algn="l">
                        <a:spcBef>
                          <a:spcPts val="0"/>
                        </a:spcBef>
                        <a:spcAft>
                          <a:spcPts val="0"/>
                        </a:spcAft>
                        <a:buNone/>
                      </a:pPr>
                      <a:r>
                        <a:rPr lang="en-US" sz="1000"/>
                        <a:t>3</a:t>
                      </a:r>
                      <a:endParaRPr sz="1000"/>
                    </a:p>
                  </a:txBody>
                  <a:tcPr marT="91425" marB="91425" marR="91425" marL="91425"/>
                </a:tc>
              </a:tr>
              <a:tr h="357975">
                <a:tc>
                  <a:txBody>
                    <a:bodyPr/>
                    <a:lstStyle/>
                    <a:p>
                      <a:pPr indent="0" lvl="0" marL="0" rtl="0" algn="l">
                        <a:spcBef>
                          <a:spcPts val="0"/>
                        </a:spcBef>
                        <a:spcAft>
                          <a:spcPts val="0"/>
                        </a:spcAft>
                        <a:buNone/>
                      </a:pPr>
                      <a:r>
                        <a:rPr lang="en-US" sz="1000"/>
                        <a:t>Controlled (ocean)</a:t>
                      </a:r>
                      <a:endParaRPr sz="1000"/>
                    </a:p>
                  </a:txBody>
                  <a:tcPr marT="91425" marB="91425" marR="91425" marL="91425"/>
                </a:tc>
                <a:tc>
                  <a:txBody>
                    <a:bodyPr/>
                    <a:lstStyle/>
                    <a:p>
                      <a:pPr indent="0" lvl="0" marL="0" rtl="0" algn="l">
                        <a:spcBef>
                          <a:spcPts val="0"/>
                        </a:spcBef>
                        <a:spcAft>
                          <a:spcPts val="0"/>
                        </a:spcAft>
                        <a:buNone/>
                      </a:pPr>
                      <a:r>
                        <a:rPr lang="en-US" sz="1000"/>
                        <a:t>3</a:t>
                      </a:r>
                      <a:endParaRPr sz="1000"/>
                    </a:p>
                  </a:txBody>
                  <a:tcPr marT="91425" marB="91425" marR="91425" marL="91425"/>
                </a:tc>
              </a:tr>
              <a:tr h="357975">
                <a:tc>
                  <a:txBody>
                    <a:bodyPr/>
                    <a:lstStyle/>
                    <a:p>
                      <a:pPr indent="0" lvl="0" marL="0" rtl="0" algn="l">
                        <a:spcBef>
                          <a:spcPts val="0"/>
                        </a:spcBef>
                        <a:spcAft>
                          <a:spcPts val="0"/>
                        </a:spcAft>
                        <a:buNone/>
                      </a:pPr>
                      <a:r>
                        <a:rPr lang="en-US" sz="1000"/>
                        <a:t>Uncontrolled (ocean)</a:t>
                      </a:r>
                      <a:endParaRPr sz="1000"/>
                    </a:p>
                  </a:txBody>
                  <a:tcPr marT="91425" marB="91425" marR="91425" marL="91425"/>
                </a:tc>
                <a:tc>
                  <a:txBody>
                    <a:bodyPr/>
                    <a:lstStyle/>
                    <a:p>
                      <a:pPr indent="0" lvl="0" marL="0" rtl="0" algn="l">
                        <a:spcBef>
                          <a:spcPts val="0"/>
                        </a:spcBef>
                        <a:spcAft>
                          <a:spcPts val="0"/>
                        </a:spcAft>
                        <a:buNone/>
                      </a:pPr>
                      <a:r>
                        <a:rPr lang="en-US" sz="1000"/>
                        <a:t>2</a:t>
                      </a:r>
                      <a:endParaRPr sz="1000"/>
                    </a:p>
                  </a:txBody>
                  <a:tcPr marT="91425" marB="91425" marR="91425" marL="91425"/>
                </a:tc>
              </a:tr>
              <a:tr h="357975">
                <a:tc>
                  <a:txBody>
                    <a:bodyPr/>
                    <a:lstStyle/>
                    <a:p>
                      <a:pPr indent="0" lvl="0" marL="0" rtl="0" algn="l">
                        <a:spcBef>
                          <a:spcPts val="0"/>
                        </a:spcBef>
                        <a:spcAft>
                          <a:spcPts val="0"/>
                        </a:spcAft>
                        <a:buNone/>
                      </a:pPr>
                      <a:r>
                        <a:rPr lang="en-US" sz="1000"/>
                        <a:t>Failure (</a:t>
                      </a:r>
                      <a:r>
                        <a:rPr lang="en-US" sz="1000"/>
                        <a:t>parachute</a:t>
                      </a:r>
                      <a:r>
                        <a:rPr lang="en-US" sz="1000"/>
                        <a:t>)</a:t>
                      </a:r>
                      <a:endParaRPr sz="1000"/>
                    </a:p>
                  </a:txBody>
                  <a:tcPr marT="91425" marB="91425" marR="91425" marL="91425"/>
                </a:tc>
                <a:tc>
                  <a:txBody>
                    <a:bodyPr/>
                    <a:lstStyle/>
                    <a:p>
                      <a:pPr indent="0" lvl="0" marL="0" rtl="0" algn="l">
                        <a:spcBef>
                          <a:spcPts val="0"/>
                        </a:spcBef>
                        <a:spcAft>
                          <a:spcPts val="0"/>
                        </a:spcAft>
                        <a:buNone/>
                      </a:pPr>
                      <a:r>
                        <a:rPr lang="en-US" sz="1000"/>
                        <a:t>2</a:t>
                      </a:r>
                      <a:endParaRPr sz="1000"/>
                    </a:p>
                  </a:txBody>
                  <a:tcPr marT="91425" marB="91425" marR="91425" marL="91425"/>
                </a:tc>
              </a:tr>
              <a:tr h="357975">
                <a:tc>
                  <a:txBody>
                    <a:bodyPr/>
                    <a:lstStyle/>
                    <a:p>
                      <a:pPr indent="0" lvl="0" marL="0" rtl="0" algn="l">
                        <a:spcBef>
                          <a:spcPts val="0"/>
                        </a:spcBef>
                        <a:spcAft>
                          <a:spcPts val="0"/>
                        </a:spcAft>
                        <a:buNone/>
                      </a:pPr>
                      <a:r>
                        <a:rPr lang="en-US" sz="1000"/>
                        <a:t>Preclude (drone ship)</a:t>
                      </a:r>
                      <a:endParaRPr sz="1000"/>
                    </a:p>
                  </a:txBody>
                  <a:tcPr marT="91425" marB="91425" marR="91425" marL="91425"/>
                </a:tc>
                <a:tc>
                  <a:txBody>
                    <a:bodyPr/>
                    <a:lstStyle/>
                    <a:p>
                      <a:pPr indent="0" lvl="0" marL="0" rtl="0" algn="l">
                        <a:spcBef>
                          <a:spcPts val="0"/>
                        </a:spcBef>
                        <a:spcAft>
                          <a:spcPts val="0"/>
                        </a:spcAft>
                        <a:buNone/>
                      </a:pPr>
                      <a:r>
                        <a:rPr lang="en-US" sz="1000"/>
                        <a:t>1</a:t>
                      </a:r>
                      <a:endParaRPr sz="1000"/>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9" name="Shape 339"/>
        <p:cNvGrpSpPr/>
        <p:nvPr/>
      </p:nvGrpSpPr>
      <p:grpSpPr>
        <a:xfrm>
          <a:off x="0" y="0"/>
          <a:ext cx="0" cy="0"/>
          <a:chOff x="0" y="0"/>
          <a:chExt cx="0" cy="0"/>
        </a:xfrm>
      </p:grpSpPr>
      <p:sp>
        <p:nvSpPr>
          <p:cNvPr id="340" name="Google Shape;340;p48"/>
          <p:cNvSpPr txBox="1"/>
          <p:nvPr/>
        </p:nvSpPr>
        <p:spPr>
          <a:xfrm>
            <a:off x="797969" y="2529745"/>
            <a:ext cx="956815" cy="333089"/>
          </a:xfrm>
          <a:prstGeom prst="rect">
            <a:avLst/>
          </a:prstGeom>
          <a:solidFill>
            <a:srgbClr val="0948CB"/>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Section 3</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4" name="Shape 344"/>
        <p:cNvGrpSpPr/>
        <p:nvPr/>
      </p:nvGrpSpPr>
      <p:grpSpPr>
        <a:xfrm>
          <a:off x="0" y="0"/>
          <a:ext cx="0" cy="0"/>
          <a:chOff x="0" y="0"/>
          <a:chExt cx="0" cy="0"/>
        </a:xfrm>
      </p:grpSpPr>
      <p:sp>
        <p:nvSpPr>
          <p:cNvPr id="345" name="Google Shape;345;p49"/>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46" name="Google Shape;346;p49"/>
          <p:cNvSpPr txBox="1"/>
          <p:nvPr>
            <p:ph idx="4294967295" type="body"/>
          </p:nvPr>
        </p:nvSpPr>
        <p:spPr>
          <a:xfrm>
            <a:off x="879149" y="1381500"/>
            <a:ext cx="10248600" cy="4368000"/>
          </a:xfrm>
          <a:prstGeom prst="rect">
            <a:avLst/>
          </a:prstGeom>
          <a:noFill/>
          <a:ln>
            <a:noFill/>
          </a:ln>
        </p:spPr>
        <p:txBody>
          <a:bodyPr anchorCtr="0" anchor="t" bIns="45700" lIns="45700" spcFirstLastPara="1" rIns="45700" wrap="square" tIns="45700">
            <a:normAutofit/>
          </a:bodyPr>
          <a:lstStyle/>
          <a:p>
            <a:pPr indent="-190500" lvl="0" marL="228600" rtl="0" algn="l">
              <a:lnSpc>
                <a:spcPct val="100000"/>
              </a:lnSpc>
              <a:spcBef>
                <a:spcPts val="1400"/>
              </a:spcBef>
              <a:spcAft>
                <a:spcPts val="0"/>
              </a:spcAft>
              <a:buClr>
                <a:srgbClr val="292929"/>
              </a:buClr>
              <a:buSzPts val="1600"/>
              <a:buChar char="•"/>
            </a:pPr>
            <a:r>
              <a:rPr lang="en-US" sz="1600">
                <a:solidFill>
                  <a:srgbClr val="292929"/>
                </a:solidFill>
                <a:latin typeface="Arial"/>
                <a:ea typeface="Arial"/>
                <a:cs typeface="Arial"/>
                <a:sym typeface="Arial"/>
              </a:rPr>
              <a:t>Launch sites are located near coastal region in Florida and California to reduce </a:t>
            </a:r>
            <a:r>
              <a:rPr lang="en-US" sz="1600">
                <a:solidFill>
                  <a:srgbClr val="292929"/>
                </a:solidFill>
                <a:latin typeface="Arial"/>
                <a:ea typeface="Arial"/>
                <a:cs typeface="Arial"/>
                <a:sym typeface="Arial"/>
              </a:rPr>
              <a:t>risk</a:t>
            </a:r>
            <a:r>
              <a:rPr lang="en-US" sz="1600">
                <a:solidFill>
                  <a:srgbClr val="292929"/>
                </a:solidFill>
                <a:latin typeface="Arial"/>
                <a:ea typeface="Arial"/>
                <a:cs typeface="Arial"/>
                <a:sym typeface="Arial"/>
              </a:rPr>
              <a:t> of catastrophic failures affecting human </a:t>
            </a:r>
            <a:r>
              <a:rPr lang="en-US" sz="1600">
                <a:solidFill>
                  <a:srgbClr val="292929"/>
                </a:solidFill>
                <a:latin typeface="Arial"/>
                <a:ea typeface="Arial"/>
                <a:cs typeface="Arial"/>
                <a:sym typeface="Arial"/>
              </a:rPr>
              <a:t>activities</a:t>
            </a:r>
            <a:r>
              <a:rPr lang="en-US" sz="1600">
                <a:solidFill>
                  <a:srgbClr val="292929"/>
                </a:solidFill>
                <a:latin typeface="Arial"/>
                <a:ea typeface="Arial"/>
                <a:cs typeface="Arial"/>
                <a:sym typeface="Arial"/>
              </a:rPr>
              <a:t>. </a:t>
            </a:r>
            <a:endParaRPr sz="16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sz="1600">
              <a:solidFill>
                <a:srgbClr val="292929"/>
              </a:solidFill>
              <a:latin typeface="Arial"/>
              <a:ea typeface="Arial"/>
              <a:cs typeface="Arial"/>
              <a:sym typeface="Arial"/>
            </a:endParaRPr>
          </a:p>
        </p:txBody>
      </p:sp>
      <p:sp>
        <p:nvSpPr>
          <p:cNvPr id="347" name="Google Shape;347;p49"/>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lang="en-US" sz="3034">
                <a:solidFill>
                  <a:srgbClr val="0B49CB"/>
                </a:solidFill>
              </a:rPr>
              <a:t>Launch Site Location</a:t>
            </a:r>
            <a:endParaRPr/>
          </a:p>
        </p:txBody>
      </p:sp>
      <p:pic>
        <p:nvPicPr>
          <p:cNvPr id="348" name="Google Shape;348;p49"/>
          <p:cNvPicPr preferRelativeResize="0"/>
          <p:nvPr/>
        </p:nvPicPr>
        <p:blipFill>
          <a:blip r:embed="rId4">
            <a:alphaModFix/>
          </a:blip>
          <a:stretch>
            <a:fillRect/>
          </a:stretch>
        </p:blipFill>
        <p:spPr>
          <a:xfrm>
            <a:off x="1169725" y="1970825"/>
            <a:ext cx="7641000" cy="39153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2" name="Shape 352"/>
        <p:cNvGrpSpPr/>
        <p:nvPr/>
      </p:nvGrpSpPr>
      <p:grpSpPr>
        <a:xfrm>
          <a:off x="0" y="0"/>
          <a:ext cx="0" cy="0"/>
          <a:chOff x="0" y="0"/>
          <a:chExt cx="0" cy="0"/>
        </a:xfrm>
      </p:grpSpPr>
      <p:sp>
        <p:nvSpPr>
          <p:cNvPr id="353" name="Google Shape;353;p50"/>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54" name="Google Shape;354;p50"/>
          <p:cNvSpPr txBox="1"/>
          <p:nvPr>
            <p:ph idx="4294967295" type="body"/>
          </p:nvPr>
        </p:nvSpPr>
        <p:spPr>
          <a:xfrm>
            <a:off x="877200" y="1362175"/>
            <a:ext cx="10512900" cy="4814700"/>
          </a:xfrm>
          <a:prstGeom prst="rect">
            <a:avLst/>
          </a:prstGeom>
          <a:noFill/>
          <a:ln>
            <a:noFill/>
          </a:ln>
        </p:spPr>
        <p:txBody>
          <a:bodyPr anchorCtr="0" anchor="t" bIns="45700" lIns="45700" spcFirstLastPara="1" rIns="45700" wrap="square" tIns="45700">
            <a:normAutofit/>
          </a:bodyPr>
          <a:lstStyle/>
          <a:p>
            <a:pPr indent="0" lvl="0" marL="228600" rtl="0" algn="l">
              <a:lnSpc>
                <a:spcPct val="100000"/>
              </a:lnSpc>
              <a:spcBef>
                <a:spcPts val="1400"/>
              </a:spcBef>
              <a:spcAft>
                <a:spcPts val="0"/>
              </a:spcAft>
              <a:buNone/>
            </a:pPr>
            <a:r>
              <a:t/>
            </a:r>
            <a:endParaRPr/>
          </a:p>
          <a:p>
            <a:pPr indent="0" lvl="0" marL="228600" rtl="0" algn="l">
              <a:lnSpc>
                <a:spcPct val="100000"/>
              </a:lnSpc>
              <a:spcBef>
                <a:spcPts val="1400"/>
              </a:spcBef>
              <a:spcAft>
                <a:spcPts val="0"/>
              </a:spcAft>
              <a:buNone/>
            </a:pPr>
            <a:r>
              <a:t/>
            </a:r>
            <a:endParaRPr/>
          </a:p>
          <a:p>
            <a:pPr indent="0" lvl="0" marL="228600" rtl="0" algn="l">
              <a:lnSpc>
                <a:spcPct val="100000"/>
              </a:lnSpc>
              <a:spcBef>
                <a:spcPts val="1400"/>
              </a:spcBef>
              <a:spcAft>
                <a:spcPts val="0"/>
              </a:spcAft>
              <a:buNone/>
            </a:pPr>
            <a:r>
              <a:t/>
            </a:r>
            <a:endParaRPr/>
          </a:p>
          <a:p>
            <a:pPr indent="0" lvl="0" marL="228600" rtl="0" algn="l">
              <a:lnSpc>
                <a:spcPct val="100000"/>
              </a:lnSpc>
              <a:spcBef>
                <a:spcPts val="1400"/>
              </a:spcBef>
              <a:spcAft>
                <a:spcPts val="0"/>
              </a:spcAft>
              <a:buNone/>
            </a:pPr>
            <a:r>
              <a:t/>
            </a:r>
            <a:endParaRPr/>
          </a:p>
          <a:p>
            <a:pPr indent="0" lvl="0" marL="0" rtl="0" algn="l">
              <a:lnSpc>
                <a:spcPct val="100000"/>
              </a:lnSpc>
              <a:spcBef>
                <a:spcPts val="1400"/>
              </a:spcBef>
              <a:spcAft>
                <a:spcPts val="0"/>
              </a:spcAft>
              <a:buNone/>
            </a:pPr>
            <a:r>
              <a:t/>
            </a:r>
            <a:endParaRPr/>
          </a:p>
          <a:p>
            <a:pPr indent="0" lvl="0" marL="0" rtl="0" algn="l">
              <a:lnSpc>
                <a:spcPct val="100000"/>
              </a:lnSpc>
              <a:spcBef>
                <a:spcPts val="1400"/>
              </a:spcBef>
              <a:spcAft>
                <a:spcPts val="0"/>
              </a:spcAft>
              <a:buNone/>
            </a:pPr>
            <a:r>
              <a:t/>
            </a:r>
            <a:endParaRPr/>
          </a:p>
        </p:txBody>
      </p:sp>
      <p:sp>
        <p:nvSpPr>
          <p:cNvPr id="355" name="Google Shape;355;p50"/>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lang="en-US" sz="3034">
                <a:solidFill>
                  <a:srgbClr val="0B49CB"/>
                </a:solidFill>
              </a:rPr>
              <a:t>Launch</a:t>
            </a:r>
            <a:r>
              <a:rPr lang="en-US" sz="3034">
                <a:solidFill>
                  <a:srgbClr val="0B49CB"/>
                </a:solidFill>
              </a:rPr>
              <a:t> </a:t>
            </a:r>
            <a:r>
              <a:rPr lang="en-US" sz="3034">
                <a:solidFill>
                  <a:srgbClr val="0B49CB"/>
                </a:solidFill>
              </a:rPr>
              <a:t>Outcomes</a:t>
            </a:r>
            <a:endParaRPr/>
          </a:p>
        </p:txBody>
      </p:sp>
      <p:pic>
        <p:nvPicPr>
          <p:cNvPr id="356" name="Google Shape;356;p50"/>
          <p:cNvPicPr preferRelativeResize="0"/>
          <p:nvPr/>
        </p:nvPicPr>
        <p:blipFill>
          <a:blip r:embed="rId4">
            <a:alphaModFix/>
          </a:blip>
          <a:stretch>
            <a:fillRect/>
          </a:stretch>
        </p:blipFill>
        <p:spPr>
          <a:xfrm>
            <a:off x="877200" y="1503825"/>
            <a:ext cx="5605224" cy="2716175"/>
          </a:xfrm>
          <a:prstGeom prst="rect">
            <a:avLst/>
          </a:prstGeom>
          <a:noFill/>
          <a:ln>
            <a:noFill/>
          </a:ln>
        </p:spPr>
      </p:pic>
      <p:pic>
        <p:nvPicPr>
          <p:cNvPr id="357" name="Google Shape;357;p50"/>
          <p:cNvPicPr preferRelativeResize="0"/>
          <p:nvPr/>
        </p:nvPicPr>
        <p:blipFill>
          <a:blip r:embed="rId5">
            <a:alphaModFix/>
          </a:blip>
          <a:stretch>
            <a:fillRect/>
          </a:stretch>
        </p:blipFill>
        <p:spPr>
          <a:xfrm>
            <a:off x="6924625" y="3004525"/>
            <a:ext cx="2892776" cy="2875700"/>
          </a:xfrm>
          <a:prstGeom prst="rect">
            <a:avLst/>
          </a:prstGeom>
          <a:noFill/>
          <a:ln>
            <a:noFill/>
          </a:ln>
        </p:spPr>
      </p:pic>
      <p:cxnSp>
        <p:nvCxnSpPr>
          <p:cNvPr id="358" name="Google Shape;358;p50"/>
          <p:cNvCxnSpPr/>
          <p:nvPr/>
        </p:nvCxnSpPr>
        <p:spPr>
          <a:xfrm>
            <a:off x="5410075" y="3419950"/>
            <a:ext cx="1468500" cy="415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2" name="Shape 362"/>
        <p:cNvGrpSpPr/>
        <p:nvPr/>
      </p:nvGrpSpPr>
      <p:grpSpPr>
        <a:xfrm>
          <a:off x="0" y="0"/>
          <a:ext cx="0" cy="0"/>
          <a:chOff x="0" y="0"/>
          <a:chExt cx="0" cy="0"/>
        </a:xfrm>
      </p:grpSpPr>
      <p:sp>
        <p:nvSpPr>
          <p:cNvPr id="363" name="Google Shape;363;p51"/>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64" name="Google Shape;364;p51"/>
          <p:cNvSpPr txBox="1"/>
          <p:nvPr>
            <p:ph idx="4294967295" type="body"/>
          </p:nvPr>
        </p:nvSpPr>
        <p:spPr>
          <a:xfrm>
            <a:off x="879150" y="1381500"/>
            <a:ext cx="10472400" cy="4623900"/>
          </a:xfrm>
          <a:prstGeom prst="rect">
            <a:avLst/>
          </a:prstGeom>
          <a:noFill/>
          <a:ln>
            <a:noFill/>
          </a:ln>
        </p:spPr>
        <p:txBody>
          <a:bodyPr anchorCtr="0" anchor="t" bIns="45700" lIns="45700" spcFirstLastPara="1" rIns="45700" wrap="square" tIns="45700">
            <a:normAutofit/>
          </a:bodyPr>
          <a:lstStyle/>
          <a:p>
            <a:pPr indent="-203200" lvl="0" marL="228600" rtl="0" algn="l">
              <a:lnSpc>
                <a:spcPct val="100000"/>
              </a:lnSpc>
              <a:spcBef>
                <a:spcPts val="1400"/>
              </a:spcBef>
              <a:spcAft>
                <a:spcPts val="0"/>
              </a:spcAft>
              <a:buClr>
                <a:srgbClr val="292929"/>
              </a:buClr>
              <a:buSzPts val="1800"/>
              <a:buChar char="●"/>
            </a:pPr>
            <a:r>
              <a:rPr lang="en-US" sz="1800">
                <a:solidFill>
                  <a:srgbClr val="292929"/>
                </a:solidFill>
                <a:latin typeface="Arial"/>
                <a:ea typeface="Arial"/>
                <a:cs typeface="Arial"/>
                <a:sym typeface="Arial"/>
              </a:rPr>
              <a:t>Notable locations shows</a:t>
            </a:r>
            <a:endParaRPr sz="1800">
              <a:solidFill>
                <a:srgbClr val="292929"/>
              </a:solidFill>
              <a:latin typeface="Arial"/>
              <a:ea typeface="Arial"/>
              <a:cs typeface="Arial"/>
              <a:sym typeface="Arial"/>
            </a:endParaRPr>
          </a:p>
          <a:p>
            <a:pPr indent="-177800" lvl="1" marL="723900" rtl="0" algn="l">
              <a:lnSpc>
                <a:spcPct val="100000"/>
              </a:lnSpc>
              <a:spcBef>
                <a:spcPts val="1400"/>
              </a:spcBef>
              <a:spcAft>
                <a:spcPts val="0"/>
              </a:spcAft>
              <a:buClr>
                <a:srgbClr val="292929"/>
              </a:buClr>
              <a:buSzPts val="1400"/>
              <a:buFont typeface="Arial"/>
              <a:buChar char="○"/>
            </a:pPr>
            <a:r>
              <a:rPr lang="en-US" sz="1400">
                <a:solidFill>
                  <a:srgbClr val="292929"/>
                </a:solidFill>
                <a:latin typeface="Arial"/>
                <a:ea typeface="Arial"/>
                <a:cs typeface="Arial"/>
                <a:sym typeface="Arial"/>
              </a:rPr>
              <a:t>Railway (1.02KM)</a:t>
            </a:r>
            <a:endParaRPr sz="1400">
              <a:solidFill>
                <a:srgbClr val="292929"/>
              </a:solidFill>
              <a:latin typeface="Arial"/>
              <a:ea typeface="Arial"/>
              <a:cs typeface="Arial"/>
              <a:sym typeface="Arial"/>
            </a:endParaRPr>
          </a:p>
          <a:p>
            <a:pPr indent="-177800" lvl="1" marL="723900" rtl="0" algn="l">
              <a:lnSpc>
                <a:spcPct val="100000"/>
              </a:lnSpc>
              <a:spcBef>
                <a:spcPts val="1400"/>
              </a:spcBef>
              <a:spcAft>
                <a:spcPts val="0"/>
              </a:spcAft>
              <a:buClr>
                <a:srgbClr val="292929"/>
              </a:buClr>
              <a:buSzPts val="1400"/>
              <a:buFont typeface="Arial"/>
              <a:buChar char="○"/>
            </a:pPr>
            <a:r>
              <a:rPr lang="en-US" sz="1400">
                <a:solidFill>
                  <a:srgbClr val="292929"/>
                </a:solidFill>
                <a:latin typeface="Arial"/>
                <a:ea typeface="Arial"/>
                <a:cs typeface="Arial"/>
                <a:sym typeface="Arial"/>
              </a:rPr>
              <a:t>Roadway (0.59KM)</a:t>
            </a:r>
            <a:endParaRPr sz="1400">
              <a:solidFill>
                <a:srgbClr val="292929"/>
              </a:solidFill>
              <a:latin typeface="Arial"/>
              <a:ea typeface="Arial"/>
              <a:cs typeface="Arial"/>
              <a:sym typeface="Arial"/>
            </a:endParaRPr>
          </a:p>
          <a:p>
            <a:pPr indent="-177800" lvl="1" marL="723900" rtl="0" algn="l">
              <a:lnSpc>
                <a:spcPct val="100000"/>
              </a:lnSpc>
              <a:spcBef>
                <a:spcPts val="1400"/>
              </a:spcBef>
              <a:spcAft>
                <a:spcPts val="0"/>
              </a:spcAft>
              <a:buClr>
                <a:srgbClr val="292929"/>
              </a:buClr>
              <a:buSzPts val="1400"/>
              <a:buFont typeface="Arial"/>
              <a:buChar char="○"/>
            </a:pPr>
            <a:r>
              <a:rPr lang="en-US" sz="1400">
                <a:solidFill>
                  <a:srgbClr val="292929"/>
                </a:solidFill>
                <a:latin typeface="Arial"/>
                <a:ea typeface="Arial"/>
                <a:cs typeface="Arial"/>
                <a:sym typeface="Arial"/>
              </a:rPr>
              <a:t>Coast (0.86KM)</a:t>
            </a:r>
            <a:endParaRPr sz="1400">
              <a:solidFill>
                <a:srgbClr val="292929"/>
              </a:solidFill>
              <a:latin typeface="Arial"/>
              <a:ea typeface="Arial"/>
              <a:cs typeface="Arial"/>
              <a:sym typeface="Arial"/>
            </a:endParaRPr>
          </a:p>
          <a:p>
            <a:pPr indent="0" lvl="0" marL="0" rtl="0" algn="l">
              <a:lnSpc>
                <a:spcPct val="100000"/>
              </a:lnSpc>
              <a:spcBef>
                <a:spcPts val="1400"/>
              </a:spcBef>
              <a:spcAft>
                <a:spcPts val="0"/>
              </a:spcAft>
              <a:buNone/>
            </a:pPr>
            <a:r>
              <a:t/>
            </a:r>
            <a:endParaRPr sz="1400">
              <a:solidFill>
                <a:srgbClr val="292929"/>
              </a:solidFill>
              <a:latin typeface="Arial"/>
              <a:ea typeface="Arial"/>
              <a:cs typeface="Arial"/>
              <a:sym typeface="Arial"/>
            </a:endParaRPr>
          </a:p>
        </p:txBody>
      </p:sp>
      <p:sp>
        <p:nvSpPr>
          <p:cNvPr id="365" name="Google Shape;365;p51"/>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lang="en-US" sz="3034">
                <a:solidFill>
                  <a:srgbClr val="0B49CB"/>
                </a:solidFill>
              </a:rPr>
              <a:t>Notable Proximate Locations</a:t>
            </a:r>
            <a:endParaRPr/>
          </a:p>
        </p:txBody>
      </p:sp>
      <p:pic>
        <p:nvPicPr>
          <p:cNvPr id="366" name="Google Shape;366;p51"/>
          <p:cNvPicPr preferRelativeResize="0"/>
          <p:nvPr/>
        </p:nvPicPr>
        <p:blipFill>
          <a:blip r:embed="rId4">
            <a:alphaModFix/>
          </a:blip>
          <a:stretch>
            <a:fillRect/>
          </a:stretch>
        </p:blipFill>
        <p:spPr>
          <a:xfrm>
            <a:off x="929825" y="3145850"/>
            <a:ext cx="6141900" cy="29141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0" name="Shape 370"/>
        <p:cNvGrpSpPr/>
        <p:nvPr/>
      </p:nvGrpSpPr>
      <p:grpSpPr>
        <a:xfrm>
          <a:off x="0" y="0"/>
          <a:ext cx="0" cy="0"/>
          <a:chOff x="0" y="0"/>
          <a:chExt cx="0" cy="0"/>
        </a:xfrm>
      </p:grpSpPr>
      <p:sp>
        <p:nvSpPr>
          <p:cNvPr id="371" name="Google Shape;371;p52"/>
          <p:cNvSpPr txBox="1"/>
          <p:nvPr/>
        </p:nvSpPr>
        <p:spPr>
          <a:xfrm>
            <a:off x="797969" y="2529745"/>
            <a:ext cx="956815" cy="333089"/>
          </a:xfrm>
          <a:prstGeom prst="rect">
            <a:avLst/>
          </a:prstGeom>
          <a:solidFill>
            <a:srgbClr val="0948CB"/>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Section 4</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5" name="Shape 375"/>
        <p:cNvGrpSpPr/>
        <p:nvPr/>
      </p:nvGrpSpPr>
      <p:grpSpPr>
        <a:xfrm>
          <a:off x="0" y="0"/>
          <a:ext cx="0" cy="0"/>
          <a:chOff x="0" y="0"/>
          <a:chExt cx="0" cy="0"/>
        </a:xfrm>
      </p:grpSpPr>
      <p:sp>
        <p:nvSpPr>
          <p:cNvPr id="376" name="Google Shape;376;p53"/>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77" name="Google Shape;377;p53"/>
          <p:cNvSpPr txBox="1"/>
          <p:nvPr>
            <p:ph idx="4294967295" type="body"/>
          </p:nvPr>
        </p:nvSpPr>
        <p:spPr>
          <a:xfrm>
            <a:off x="770000" y="1420150"/>
            <a:ext cx="10424100" cy="4579200"/>
          </a:xfrm>
          <a:prstGeom prst="rect">
            <a:avLst/>
          </a:prstGeom>
          <a:noFill/>
          <a:ln>
            <a:noFill/>
          </a:ln>
        </p:spPr>
        <p:txBody>
          <a:bodyPr anchorCtr="0" anchor="t" bIns="45700" lIns="45700" spcFirstLastPara="1" rIns="45700" wrap="square" tIns="45700">
            <a:normAutofit/>
          </a:bodyPr>
          <a:lstStyle/>
          <a:p>
            <a:pPr indent="-190500" lvl="0" marL="228600" rtl="0" algn="l">
              <a:lnSpc>
                <a:spcPct val="100000"/>
              </a:lnSpc>
              <a:spcBef>
                <a:spcPts val="1400"/>
              </a:spcBef>
              <a:spcAft>
                <a:spcPts val="0"/>
              </a:spcAft>
              <a:buClr>
                <a:srgbClr val="292929"/>
              </a:buClr>
              <a:buSzPts val="1600"/>
              <a:buChar char="•"/>
            </a:pPr>
            <a:r>
              <a:rPr lang="en-US" sz="1600">
                <a:solidFill>
                  <a:srgbClr val="292929"/>
                </a:solidFill>
                <a:latin typeface="Arial"/>
                <a:ea typeface="Arial"/>
                <a:cs typeface="Arial"/>
                <a:sym typeface="Arial"/>
              </a:rPr>
              <a:t>KSC LC-39A </a:t>
            </a:r>
            <a:r>
              <a:rPr lang="en-US" sz="1600">
                <a:solidFill>
                  <a:srgbClr val="292929"/>
                </a:solidFill>
                <a:latin typeface="Arial"/>
                <a:ea typeface="Arial"/>
                <a:cs typeface="Arial"/>
                <a:sym typeface="Arial"/>
              </a:rPr>
              <a:t>experienced</a:t>
            </a:r>
            <a:r>
              <a:rPr lang="en-US" sz="1600">
                <a:solidFill>
                  <a:srgbClr val="292929"/>
                </a:solidFill>
                <a:latin typeface="Arial"/>
                <a:ea typeface="Arial"/>
                <a:cs typeface="Arial"/>
                <a:sym typeface="Arial"/>
              </a:rPr>
              <a:t> the highest proportion of successful landings, followed by CCAFS LC-40. </a:t>
            </a:r>
            <a:endParaRPr sz="1600">
              <a:solidFill>
                <a:srgbClr val="292929"/>
              </a:solidFill>
              <a:latin typeface="Arial"/>
              <a:ea typeface="Arial"/>
              <a:cs typeface="Arial"/>
              <a:sym typeface="Arial"/>
            </a:endParaRPr>
          </a:p>
          <a:p>
            <a:pPr indent="-190500" lvl="0" marL="228600" rtl="0" algn="l">
              <a:lnSpc>
                <a:spcPct val="100000"/>
              </a:lnSpc>
              <a:spcBef>
                <a:spcPts val="1400"/>
              </a:spcBef>
              <a:spcAft>
                <a:spcPts val="0"/>
              </a:spcAft>
              <a:buClr>
                <a:srgbClr val="292929"/>
              </a:buClr>
              <a:buSzPts val="1600"/>
              <a:buFont typeface="Arial"/>
              <a:buChar char="•"/>
            </a:pPr>
            <a:r>
              <a:rPr lang="en-US" sz="1600">
                <a:solidFill>
                  <a:srgbClr val="292929"/>
                </a:solidFill>
                <a:latin typeface="Arial"/>
                <a:ea typeface="Arial"/>
                <a:cs typeface="Arial"/>
                <a:sym typeface="Arial"/>
              </a:rPr>
              <a:t>VAFB SLC-4E and CCAFS SLC-40 the lowest. </a:t>
            </a:r>
            <a:endParaRPr sz="16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sz="1600">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sz="1600">
              <a:solidFill>
                <a:srgbClr val="292929"/>
              </a:solidFill>
              <a:latin typeface="Arial"/>
              <a:ea typeface="Arial"/>
              <a:cs typeface="Arial"/>
              <a:sym typeface="Arial"/>
            </a:endParaRPr>
          </a:p>
        </p:txBody>
      </p:sp>
      <p:sp>
        <p:nvSpPr>
          <p:cNvPr id="378" name="Google Shape;378;p53"/>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lang="en-US" sz="3034">
                <a:solidFill>
                  <a:srgbClr val="0B49CB"/>
                </a:solidFill>
              </a:rPr>
              <a:t>All Launch Sites: </a:t>
            </a:r>
            <a:r>
              <a:rPr lang="en-US" sz="3034">
                <a:solidFill>
                  <a:srgbClr val="0B49CB"/>
                </a:solidFill>
              </a:rPr>
              <a:t>Successful Landings</a:t>
            </a:r>
            <a:r>
              <a:rPr lang="en-US" sz="3034">
                <a:solidFill>
                  <a:srgbClr val="0B49CB"/>
                </a:solidFill>
              </a:rPr>
              <a:t> </a:t>
            </a:r>
            <a:endParaRPr/>
          </a:p>
        </p:txBody>
      </p:sp>
      <p:pic>
        <p:nvPicPr>
          <p:cNvPr id="379" name="Google Shape;379;p53"/>
          <p:cNvPicPr preferRelativeResize="0"/>
          <p:nvPr/>
        </p:nvPicPr>
        <p:blipFill>
          <a:blip r:embed="rId4">
            <a:alphaModFix/>
          </a:blip>
          <a:stretch>
            <a:fillRect/>
          </a:stretch>
        </p:blipFill>
        <p:spPr>
          <a:xfrm>
            <a:off x="1109575" y="2300825"/>
            <a:ext cx="8650274" cy="37592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3" name="Shape 383"/>
        <p:cNvGrpSpPr/>
        <p:nvPr/>
      </p:nvGrpSpPr>
      <p:grpSpPr>
        <a:xfrm>
          <a:off x="0" y="0"/>
          <a:ext cx="0" cy="0"/>
          <a:chOff x="0" y="0"/>
          <a:chExt cx="0" cy="0"/>
        </a:xfrm>
      </p:grpSpPr>
      <p:sp>
        <p:nvSpPr>
          <p:cNvPr id="384" name="Google Shape;384;p54"/>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85" name="Google Shape;385;p54"/>
          <p:cNvSpPr txBox="1"/>
          <p:nvPr>
            <p:ph idx="4294967295" type="body"/>
          </p:nvPr>
        </p:nvSpPr>
        <p:spPr>
          <a:xfrm>
            <a:off x="734025" y="1400826"/>
            <a:ext cx="10607700" cy="4776000"/>
          </a:xfrm>
          <a:prstGeom prst="rect">
            <a:avLst/>
          </a:prstGeom>
          <a:noFill/>
          <a:ln>
            <a:noFill/>
          </a:ln>
        </p:spPr>
        <p:txBody>
          <a:bodyPr anchorCtr="0" anchor="t" bIns="45700" lIns="45700" spcFirstLastPara="1" rIns="45700" wrap="square" tIns="45700">
            <a:normAutofit/>
          </a:bodyPr>
          <a:lstStyle/>
          <a:p>
            <a:pPr indent="-355600" lvl="0" marL="457200" rtl="0" algn="l">
              <a:lnSpc>
                <a:spcPct val="115000"/>
              </a:lnSpc>
              <a:spcBef>
                <a:spcPts val="0"/>
              </a:spcBef>
              <a:spcAft>
                <a:spcPts val="0"/>
              </a:spcAft>
              <a:buClr>
                <a:srgbClr val="292929"/>
              </a:buClr>
              <a:buSzPts val="2000"/>
              <a:buFont typeface="Arial"/>
              <a:buChar char="•"/>
            </a:pPr>
            <a:r>
              <a:rPr lang="en-US" sz="2000">
                <a:solidFill>
                  <a:srgbClr val="292929"/>
                </a:solidFill>
                <a:latin typeface="Arial"/>
                <a:ea typeface="Arial"/>
                <a:cs typeface="Arial"/>
                <a:sym typeface="Arial"/>
              </a:rPr>
              <a:t>KSC LC-39A had the highest ratio of successful landings</a:t>
            </a:r>
            <a:endParaRPr sz="2000">
              <a:solidFill>
                <a:srgbClr val="292929"/>
              </a:solidFill>
              <a:latin typeface="Arial"/>
              <a:ea typeface="Arial"/>
              <a:cs typeface="Arial"/>
              <a:sym typeface="Arial"/>
            </a:endParaRPr>
          </a:p>
          <a:p>
            <a:pPr indent="0" lvl="0" marL="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386" name="Google Shape;386;p54"/>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fontScale="25000" lnSpcReduction="10000"/>
          </a:bodyPr>
          <a:lstStyle/>
          <a:p>
            <a:pPr indent="0" lvl="0" marL="0" rtl="0" algn="l">
              <a:lnSpc>
                <a:spcPct val="115000"/>
              </a:lnSpc>
              <a:spcBef>
                <a:spcPts val="0"/>
              </a:spcBef>
              <a:spcAft>
                <a:spcPts val="0"/>
              </a:spcAft>
              <a:buClr>
                <a:schemeClr val="dk1"/>
              </a:buClr>
              <a:buSzPts val="275"/>
              <a:buFont typeface="Arial"/>
              <a:buNone/>
            </a:pPr>
            <a:r>
              <a:rPr lang="en-US" sz="9200">
                <a:solidFill>
                  <a:srgbClr val="0B49CB"/>
                </a:solidFill>
              </a:rPr>
              <a:t>Per-Site Launch Success Ratio: High</a:t>
            </a:r>
            <a:endParaRPr sz="9200">
              <a:solidFill>
                <a:srgbClr val="0B49CB"/>
              </a:solidFill>
            </a:endParaRPr>
          </a:p>
          <a:p>
            <a:pPr indent="0" lvl="0" marL="0" marR="0" rtl="0" algn="l">
              <a:lnSpc>
                <a:spcPct val="72000"/>
              </a:lnSpc>
              <a:spcBef>
                <a:spcPts val="0"/>
              </a:spcBef>
              <a:spcAft>
                <a:spcPts val="0"/>
              </a:spcAft>
              <a:buClr>
                <a:srgbClr val="0B49CB"/>
              </a:buClr>
              <a:buSzPct val="100000"/>
              <a:buFont typeface="Arial"/>
              <a:buNone/>
            </a:pPr>
            <a:r>
              <a:t/>
            </a:r>
            <a:endParaRPr sz="3034">
              <a:solidFill>
                <a:srgbClr val="0B49CB"/>
              </a:solidFill>
            </a:endParaRPr>
          </a:p>
        </p:txBody>
      </p:sp>
      <p:pic>
        <p:nvPicPr>
          <p:cNvPr id="387" name="Google Shape;387;p54"/>
          <p:cNvPicPr preferRelativeResize="0"/>
          <p:nvPr/>
        </p:nvPicPr>
        <p:blipFill>
          <a:blip r:embed="rId4">
            <a:alphaModFix/>
          </a:blip>
          <a:stretch>
            <a:fillRect/>
          </a:stretch>
        </p:blipFill>
        <p:spPr>
          <a:xfrm>
            <a:off x="1315600" y="1895975"/>
            <a:ext cx="8854751" cy="40519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1" name="Shape 391"/>
        <p:cNvGrpSpPr/>
        <p:nvPr/>
      </p:nvGrpSpPr>
      <p:grpSpPr>
        <a:xfrm>
          <a:off x="0" y="0"/>
          <a:ext cx="0" cy="0"/>
          <a:chOff x="0" y="0"/>
          <a:chExt cx="0" cy="0"/>
        </a:xfrm>
      </p:grpSpPr>
      <p:sp>
        <p:nvSpPr>
          <p:cNvPr id="392" name="Google Shape;392;p55"/>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393" name="Google Shape;393;p55"/>
          <p:cNvSpPr txBox="1"/>
          <p:nvPr>
            <p:ph idx="4294967295" type="body"/>
          </p:nvPr>
        </p:nvSpPr>
        <p:spPr>
          <a:xfrm>
            <a:off x="770010" y="1825625"/>
            <a:ext cx="10414663" cy="4351338"/>
          </a:xfrm>
          <a:prstGeom prst="rect">
            <a:avLst/>
          </a:prstGeom>
          <a:noFill/>
          <a:ln>
            <a:noFill/>
          </a:ln>
        </p:spPr>
        <p:txBody>
          <a:bodyPr anchorCtr="0" anchor="t" bIns="45700" lIns="45700" spcFirstLastPara="1" rIns="45700" wrap="square" tIns="45700">
            <a:normAutofit/>
          </a:bodyPr>
          <a:lstStyle/>
          <a:p>
            <a:pPr indent="-228600" lvl="0" marL="228600" rtl="0" algn="l">
              <a:lnSpc>
                <a:spcPct val="100000"/>
              </a:lnSpc>
              <a:spcBef>
                <a:spcPts val="0"/>
              </a:spcBef>
              <a:spcAft>
                <a:spcPts val="0"/>
              </a:spcAft>
              <a:buClr>
                <a:srgbClr val="292929"/>
              </a:buClr>
              <a:buSzPts val="2200"/>
              <a:buChar char="•"/>
            </a:pPr>
            <a:r>
              <a:rPr lang="en-US" sz="2200">
                <a:solidFill>
                  <a:srgbClr val="292929"/>
                </a:solidFill>
                <a:latin typeface="Arial"/>
                <a:ea typeface="Arial"/>
                <a:cs typeface="Arial"/>
                <a:sym typeface="Arial"/>
              </a:rPr>
              <a:t>Replace &lt;Dashboard screenshot 3&gt; title with an appropriate title</a:t>
            </a:r>
            <a:endParaRPr/>
          </a:p>
          <a:p>
            <a:pPr indent="-88900" lvl="0" marL="228600" rtl="0" algn="l">
              <a:lnSpc>
                <a:spcPct val="100000"/>
              </a:lnSpc>
              <a:spcBef>
                <a:spcPts val="1400"/>
              </a:spcBef>
              <a:spcAft>
                <a:spcPts val="0"/>
              </a:spcAft>
              <a:buClr>
                <a:srgbClr val="292929"/>
              </a:buClr>
              <a:buSzPts val="2200"/>
              <a:buNone/>
            </a:pPr>
            <a:r>
              <a:t/>
            </a:r>
            <a:endParaRPr sz="2200">
              <a:solidFill>
                <a:srgbClr val="292929"/>
              </a:solidFill>
              <a:latin typeface="Arial"/>
              <a:ea typeface="Arial"/>
              <a:cs typeface="Arial"/>
              <a:sym typeface="Arial"/>
            </a:endParaRPr>
          </a:p>
          <a:p>
            <a:pPr indent="-228600" lvl="0" marL="228600" rtl="0" algn="l">
              <a:lnSpc>
                <a:spcPct val="100000"/>
              </a:lnSpc>
              <a:spcBef>
                <a:spcPts val="1400"/>
              </a:spcBef>
              <a:spcAft>
                <a:spcPts val="0"/>
              </a:spcAft>
              <a:buClr>
                <a:srgbClr val="292929"/>
              </a:buClr>
              <a:buSzPts val="2200"/>
              <a:buChar char="•"/>
            </a:pPr>
            <a:r>
              <a:rPr lang="en-US" sz="2200">
                <a:solidFill>
                  <a:srgbClr val="292929"/>
                </a:solidFill>
                <a:latin typeface="Arial"/>
                <a:ea typeface="Arial"/>
                <a:cs typeface="Arial"/>
                <a:sym typeface="Arial"/>
              </a:rPr>
              <a:t>Show screenshots of Payload vs. Launch Outcome scatter plot for all sites, with different payload selected in the range slider</a:t>
            </a:r>
            <a:endParaRPr/>
          </a:p>
          <a:p>
            <a:pPr indent="-88900" lvl="0" marL="228600" rtl="0" algn="l">
              <a:lnSpc>
                <a:spcPct val="100000"/>
              </a:lnSpc>
              <a:spcBef>
                <a:spcPts val="1400"/>
              </a:spcBef>
              <a:spcAft>
                <a:spcPts val="0"/>
              </a:spcAft>
              <a:buClr>
                <a:srgbClr val="292929"/>
              </a:buClr>
              <a:buSzPts val="2200"/>
              <a:buNone/>
            </a:pPr>
            <a:r>
              <a:t/>
            </a:r>
            <a:endParaRPr sz="2200">
              <a:solidFill>
                <a:srgbClr val="292929"/>
              </a:solidFill>
              <a:latin typeface="Arial"/>
              <a:ea typeface="Arial"/>
              <a:cs typeface="Arial"/>
              <a:sym typeface="Arial"/>
            </a:endParaRPr>
          </a:p>
          <a:p>
            <a:pPr indent="-228600" lvl="0" marL="228600" rtl="0" algn="l">
              <a:lnSpc>
                <a:spcPct val="100000"/>
              </a:lnSpc>
              <a:spcBef>
                <a:spcPts val="1400"/>
              </a:spcBef>
              <a:spcAft>
                <a:spcPts val="0"/>
              </a:spcAft>
              <a:buClr>
                <a:srgbClr val="292929"/>
              </a:buClr>
              <a:buSzPts val="2200"/>
              <a:buChar char="•"/>
            </a:pPr>
            <a:r>
              <a:rPr lang="en-US" sz="2200">
                <a:solidFill>
                  <a:srgbClr val="292929"/>
                </a:solidFill>
                <a:latin typeface="Arial"/>
                <a:ea typeface="Arial"/>
                <a:cs typeface="Arial"/>
                <a:sym typeface="Arial"/>
              </a:rPr>
              <a:t>Explain the important elements and findings on the screenshot, such as which payload range or booster version have the largest success rate, etc.</a:t>
            </a:r>
            <a:endParaRPr/>
          </a:p>
        </p:txBody>
      </p:sp>
      <p:sp>
        <p:nvSpPr>
          <p:cNvPr id="394" name="Google Shape;394;p55"/>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&lt;Dashboard Screenshot 3&gt;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8" name="Shape 398"/>
        <p:cNvGrpSpPr/>
        <p:nvPr/>
      </p:nvGrpSpPr>
      <p:grpSpPr>
        <a:xfrm>
          <a:off x="0" y="0"/>
          <a:ext cx="0" cy="0"/>
          <a:chOff x="0" y="0"/>
          <a:chExt cx="0" cy="0"/>
        </a:xfrm>
      </p:grpSpPr>
      <p:sp>
        <p:nvSpPr>
          <p:cNvPr id="399" name="Google Shape;399;p56"/>
          <p:cNvSpPr txBox="1"/>
          <p:nvPr/>
        </p:nvSpPr>
        <p:spPr>
          <a:xfrm>
            <a:off x="797969" y="2529745"/>
            <a:ext cx="956815" cy="333089"/>
          </a:xfrm>
          <a:prstGeom prst="rect">
            <a:avLst/>
          </a:prstGeom>
          <a:solidFill>
            <a:srgbClr val="0948CB"/>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Section 5</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3" name="Shape 403"/>
        <p:cNvGrpSpPr/>
        <p:nvPr/>
      </p:nvGrpSpPr>
      <p:grpSpPr>
        <a:xfrm>
          <a:off x="0" y="0"/>
          <a:ext cx="0" cy="0"/>
          <a:chOff x="0" y="0"/>
          <a:chExt cx="0" cy="0"/>
        </a:xfrm>
      </p:grpSpPr>
      <p:sp>
        <p:nvSpPr>
          <p:cNvPr id="404" name="Google Shape;404;p57"/>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405" name="Google Shape;405;p57"/>
          <p:cNvSpPr txBox="1"/>
          <p:nvPr>
            <p:ph idx="4294967295" type="body"/>
          </p:nvPr>
        </p:nvSpPr>
        <p:spPr>
          <a:xfrm>
            <a:off x="769991" y="1468450"/>
            <a:ext cx="10562100" cy="4425300"/>
          </a:xfrm>
          <a:prstGeom prst="rect">
            <a:avLst/>
          </a:prstGeom>
          <a:noFill/>
          <a:ln>
            <a:noFill/>
          </a:ln>
        </p:spPr>
        <p:txBody>
          <a:bodyPr anchorCtr="0" anchor="t" bIns="45700" lIns="45700" spcFirstLastPara="1" rIns="45700" wrap="square" tIns="45700">
            <a:normAutofit/>
          </a:bodyPr>
          <a:lstStyle/>
          <a:p>
            <a:pPr indent="-203200" lvl="0" marL="228600" rtl="0" algn="l">
              <a:lnSpc>
                <a:spcPct val="100000"/>
              </a:lnSpc>
              <a:spcBef>
                <a:spcPts val="0"/>
              </a:spcBef>
              <a:spcAft>
                <a:spcPts val="0"/>
              </a:spcAft>
              <a:buClr>
                <a:srgbClr val="292929"/>
              </a:buClr>
              <a:buSzPts val="1800"/>
              <a:buChar char="•"/>
            </a:pPr>
            <a:r>
              <a:rPr lang="en-US" sz="1800">
                <a:solidFill>
                  <a:srgbClr val="292929"/>
                </a:solidFill>
                <a:latin typeface="Arial"/>
                <a:ea typeface="Arial"/>
                <a:cs typeface="Arial"/>
                <a:sym typeface="Arial"/>
              </a:rPr>
              <a:t>The most </a:t>
            </a:r>
            <a:r>
              <a:rPr lang="en-US" sz="1800">
                <a:solidFill>
                  <a:srgbClr val="292929"/>
                </a:solidFill>
                <a:latin typeface="Arial"/>
                <a:ea typeface="Arial"/>
                <a:cs typeface="Arial"/>
                <a:sym typeface="Arial"/>
              </a:rPr>
              <a:t>accurate algorithms tested Decision Tree Classifier was the most accurate:</a:t>
            </a:r>
            <a:endParaRPr sz="1800">
              <a:solidFill>
                <a:srgbClr val="292929"/>
              </a:solidFill>
              <a:latin typeface="Arial"/>
              <a:ea typeface="Arial"/>
              <a:cs typeface="Arial"/>
              <a:sym typeface="Arial"/>
            </a:endParaRPr>
          </a:p>
          <a:p>
            <a:pPr indent="0" lvl="0" marL="0" rtl="0" algn="l">
              <a:lnSpc>
                <a:spcPct val="100000"/>
              </a:lnSpc>
              <a:spcBef>
                <a:spcPts val="0"/>
              </a:spcBef>
              <a:spcAft>
                <a:spcPts val="0"/>
              </a:spcAft>
              <a:buNone/>
            </a:pPr>
            <a:r>
              <a:t/>
            </a:r>
            <a:endParaRPr sz="1800">
              <a:solidFill>
                <a:srgbClr val="292929"/>
              </a:solidFill>
              <a:latin typeface="Arial"/>
              <a:ea typeface="Arial"/>
              <a:cs typeface="Arial"/>
              <a:sym typeface="Arial"/>
            </a:endParaRPr>
          </a:p>
          <a:p>
            <a:pPr indent="0" lvl="0" marL="0" rtl="0" algn="l">
              <a:lnSpc>
                <a:spcPct val="100000"/>
              </a:lnSpc>
              <a:spcBef>
                <a:spcPts val="0"/>
              </a:spcBef>
              <a:spcAft>
                <a:spcPts val="0"/>
              </a:spcAft>
              <a:buNone/>
            </a:pPr>
            <a:r>
              <a:rPr lang="en-US" sz="1800">
                <a:solidFill>
                  <a:srgbClr val="292929"/>
                </a:solidFill>
                <a:latin typeface="Arial"/>
                <a:ea typeface="Arial"/>
                <a:cs typeface="Arial"/>
                <a:sym typeface="Arial"/>
              </a:rPr>
              <a:t>	</a:t>
            </a:r>
            <a:endParaRPr sz="1800">
              <a:solidFill>
                <a:srgbClr val="292929"/>
              </a:solidFill>
              <a:latin typeface="Arial"/>
              <a:ea typeface="Arial"/>
              <a:cs typeface="Arial"/>
              <a:sym typeface="Arial"/>
            </a:endParaRPr>
          </a:p>
          <a:p>
            <a:pPr indent="0" lvl="0" marL="228600" rtl="0" algn="l">
              <a:lnSpc>
                <a:spcPct val="100000"/>
              </a:lnSpc>
              <a:spcBef>
                <a:spcPts val="0"/>
              </a:spcBef>
              <a:spcAft>
                <a:spcPts val="0"/>
              </a:spcAft>
              <a:buNone/>
            </a:pPr>
            <a:r>
              <a:t/>
            </a:r>
            <a:endParaRPr/>
          </a:p>
        </p:txBody>
      </p:sp>
      <p:sp>
        <p:nvSpPr>
          <p:cNvPr id="406" name="Google Shape;406;p57"/>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Classification Accuracy</a:t>
            </a:r>
            <a:endParaRPr/>
          </a:p>
        </p:txBody>
      </p:sp>
      <p:pic>
        <p:nvPicPr>
          <p:cNvPr id="407" name="Google Shape;407;p57"/>
          <p:cNvPicPr preferRelativeResize="0"/>
          <p:nvPr/>
        </p:nvPicPr>
        <p:blipFill>
          <a:blip r:embed="rId4">
            <a:alphaModFix/>
          </a:blip>
          <a:stretch>
            <a:fillRect/>
          </a:stretch>
        </p:blipFill>
        <p:spPr>
          <a:xfrm>
            <a:off x="1124875" y="2125448"/>
            <a:ext cx="9728476" cy="33100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1" name="Shape 411"/>
        <p:cNvGrpSpPr/>
        <p:nvPr/>
      </p:nvGrpSpPr>
      <p:grpSpPr>
        <a:xfrm>
          <a:off x="0" y="0"/>
          <a:ext cx="0" cy="0"/>
          <a:chOff x="0" y="0"/>
          <a:chExt cx="0" cy="0"/>
        </a:xfrm>
      </p:grpSpPr>
      <p:sp>
        <p:nvSpPr>
          <p:cNvPr id="412" name="Google Shape;412;p58"/>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413" name="Google Shape;413;p58"/>
          <p:cNvSpPr txBox="1"/>
          <p:nvPr>
            <p:ph idx="4294967295" type="body"/>
          </p:nvPr>
        </p:nvSpPr>
        <p:spPr>
          <a:xfrm>
            <a:off x="815725" y="1313988"/>
            <a:ext cx="10748400" cy="4539000"/>
          </a:xfrm>
          <a:prstGeom prst="rect">
            <a:avLst/>
          </a:prstGeom>
          <a:noFill/>
          <a:ln>
            <a:noFill/>
          </a:ln>
        </p:spPr>
        <p:txBody>
          <a:bodyPr anchorCtr="0" anchor="t" bIns="45700" lIns="45700" spcFirstLastPara="1" rIns="45700" wrap="square" tIns="45700">
            <a:normAutofit/>
          </a:bodyPr>
          <a:lstStyle/>
          <a:p>
            <a:pPr indent="-330200" lvl="0" marL="457200" rtl="0" algn="l">
              <a:lnSpc>
                <a:spcPct val="115000"/>
              </a:lnSpc>
              <a:spcBef>
                <a:spcPts val="0"/>
              </a:spcBef>
              <a:spcAft>
                <a:spcPts val="0"/>
              </a:spcAft>
              <a:buSzPts val="1600"/>
              <a:buChar char="•"/>
            </a:pPr>
            <a:r>
              <a:rPr lang="en-US" sz="1600"/>
              <a:t>14 observations were correctly predicted as successful landings (true positive)</a:t>
            </a:r>
            <a:endParaRPr sz="1600"/>
          </a:p>
          <a:p>
            <a:pPr indent="-330200" lvl="0" marL="457200" rtl="0" algn="l">
              <a:lnSpc>
                <a:spcPct val="115000"/>
              </a:lnSpc>
              <a:spcBef>
                <a:spcPts val="0"/>
              </a:spcBef>
              <a:spcAft>
                <a:spcPts val="0"/>
              </a:spcAft>
              <a:buSzPts val="1600"/>
              <a:buChar char="•"/>
            </a:pPr>
            <a:r>
              <a:rPr lang="en-US" sz="1600"/>
              <a:t>3 observations were correctly predicted as failed landings (true negative)</a:t>
            </a:r>
            <a:endParaRPr sz="1600"/>
          </a:p>
          <a:p>
            <a:pPr indent="-330200" lvl="0" marL="457200" rtl="0" algn="l">
              <a:lnSpc>
                <a:spcPct val="115000"/>
              </a:lnSpc>
              <a:spcBef>
                <a:spcPts val="0"/>
              </a:spcBef>
              <a:spcAft>
                <a:spcPts val="0"/>
              </a:spcAft>
              <a:buSzPts val="1600"/>
              <a:buChar char="•"/>
            </a:pPr>
            <a:r>
              <a:rPr lang="en-US" sz="1600"/>
              <a:t>1 observation was incorrectly predicted as a successful landing (false positive)</a:t>
            </a:r>
            <a:endParaRPr sz="1600"/>
          </a:p>
          <a:p>
            <a:pPr indent="-330200" lvl="0" marL="457200" rtl="0" algn="l">
              <a:lnSpc>
                <a:spcPct val="115000"/>
              </a:lnSpc>
              <a:spcBef>
                <a:spcPts val="0"/>
              </a:spcBef>
              <a:spcAft>
                <a:spcPts val="0"/>
              </a:spcAft>
              <a:buSzPts val="1600"/>
              <a:buChar char="•"/>
            </a:pPr>
            <a:r>
              <a:rPr lang="en-US" sz="1600"/>
              <a:t>No observations were incorrectly predicted as a failed landing (false negative)</a:t>
            </a:r>
            <a:endParaRPr sz="1600"/>
          </a:p>
          <a:p>
            <a:pPr indent="0" lvl="0" marL="457200" rtl="0" algn="l">
              <a:lnSpc>
                <a:spcPct val="115000"/>
              </a:lnSpc>
              <a:spcBef>
                <a:spcPts val="0"/>
              </a:spcBef>
              <a:spcAft>
                <a:spcPts val="0"/>
              </a:spcAft>
              <a:buNone/>
            </a:pPr>
            <a:r>
              <a:t/>
            </a:r>
            <a:endParaRPr sz="1600"/>
          </a:p>
          <a:p>
            <a:pPr indent="0" lvl="0" marL="457200" marR="0" rtl="0" algn="l">
              <a:lnSpc>
                <a:spcPct val="100000"/>
              </a:lnSpc>
              <a:spcBef>
                <a:spcPts val="0"/>
              </a:spcBef>
              <a:spcAft>
                <a:spcPts val="0"/>
              </a:spcAft>
              <a:buNone/>
            </a:pPr>
            <a:r>
              <a:t/>
            </a:r>
            <a:endParaRPr sz="1600"/>
          </a:p>
        </p:txBody>
      </p:sp>
      <p:sp>
        <p:nvSpPr>
          <p:cNvPr id="414" name="Google Shape;414;p58"/>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Confusion Matrix</a:t>
            </a:r>
            <a:endParaRPr/>
          </a:p>
        </p:txBody>
      </p:sp>
      <p:pic>
        <p:nvPicPr>
          <p:cNvPr id="415" name="Google Shape;415;p58"/>
          <p:cNvPicPr preferRelativeResize="0"/>
          <p:nvPr/>
        </p:nvPicPr>
        <p:blipFill>
          <a:blip r:embed="rId4">
            <a:alphaModFix/>
          </a:blip>
          <a:stretch>
            <a:fillRect/>
          </a:stretch>
        </p:blipFill>
        <p:spPr>
          <a:xfrm>
            <a:off x="1326600" y="2550475"/>
            <a:ext cx="4498900" cy="33185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p59"/>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421" name="Google Shape;421;p59"/>
          <p:cNvSpPr txBox="1"/>
          <p:nvPr>
            <p:ph idx="4294967295" type="body"/>
          </p:nvPr>
        </p:nvSpPr>
        <p:spPr>
          <a:xfrm>
            <a:off x="770000" y="1429800"/>
            <a:ext cx="10629900" cy="4550400"/>
          </a:xfrm>
          <a:prstGeom prst="rect">
            <a:avLst/>
          </a:prstGeom>
          <a:noFill/>
          <a:ln>
            <a:noFill/>
          </a:ln>
        </p:spPr>
        <p:txBody>
          <a:bodyPr anchorCtr="0" anchor="t" bIns="45700" lIns="45700" spcFirstLastPara="1" rIns="45700" wrap="square" tIns="45700">
            <a:normAutofit/>
          </a:bodyPr>
          <a:lstStyle/>
          <a:p>
            <a:pPr indent="-342385" lvl="0" marL="457200" rtl="0" algn="l">
              <a:lnSpc>
                <a:spcPct val="115000"/>
              </a:lnSpc>
              <a:spcBef>
                <a:spcPts val="0"/>
              </a:spcBef>
              <a:spcAft>
                <a:spcPts val="0"/>
              </a:spcAft>
              <a:buClr>
                <a:srgbClr val="292929"/>
              </a:buClr>
              <a:buSzPts val="1792"/>
              <a:buFont typeface="Arial"/>
              <a:buChar char="•"/>
            </a:pPr>
            <a:r>
              <a:rPr lang="en-US" sz="1792">
                <a:solidFill>
                  <a:srgbClr val="292929"/>
                </a:solidFill>
                <a:latin typeface="Arial"/>
                <a:ea typeface="Arial"/>
                <a:cs typeface="Arial"/>
                <a:sym typeface="Arial"/>
              </a:rPr>
              <a:t>Success rates increase over time, across all factors, which indicates continuous and incremental operational improvements and technological advancements.</a:t>
            </a:r>
            <a:endParaRPr sz="1792">
              <a:solidFill>
                <a:srgbClr val="292929"/>
              </a:solidFill>
              <a:latin typeface="Arial"/>
              <a:ea typeface="Arial"/>
              <a:cs typeface="Arial"/>
              <a:sym typeface="Arial"/>
            </a:endParaRPr>
          </a:p>
          <a:p>
            <a:pPr indent="-342385" lvl="0" marL="457200" rtl="0" algn="l">
              <a:lnSpc>
                <a:spcPct val="115000"/>
              </a:lnSpc>
              <a:spcBef>
                <a:spcPts val="0"/>
              </a:spcBef>
              <a:spcAft>
                <a:spcPts val="0"/>
              </a:spcAft>
              <a:buClr>
                <a:srgbClr val="292929"/>
              </a:buClr>
              <a:buSzPts val="1792"/>
              <a:buFont typeface="Arial"/>
              <a:buChar char="•"/>
            </a:pPr>
            <a:r>
              <a:rPr lang="en-US" sz="1792">
                <a:solidFill>
                  <a:srgbClr val="292929"/>
                </a:solidFill>
                <a:latin typeface="Arial"/>
                <a:ea typeface="Arial"/>
                <a:cs typeface="Arial"/>
                <a:sym typeface="Arial"/>
              </a:rPr>
              <a:t>Different orbits have varying success rates, with ES-L1, SSO, HEO, and GEO showing</a:t>
            </a:r>
            <a:endParaRPr sz="1792">
              <a:solidFill>
                <a:srgbClr val="292929"/>
              </a:solidFill>
              <a:latin typeface="Arial"/>
              <a:ea typeface="Arial"/>
              <a:cs typeface="Arial"/>
              <a:sym typeface="Arial"/>
            </a:endParaRPr>
          </a:p>
          <a:p>
            <a:pPr indent="0" lvl="0" marL="457200" rtl="0" algn="l">
              <a:lnSpc>
                <a:spcPct val="115000"/>
              </a:lnSpc>
              <a:spcBef>
                <a:spcPts val="0"/>
              </a:spcBef>
              <a:spcAft>
                <a:spcPts val="0"/>
              </a:spcAft>
              <a:buNone/>
            </a:pPr>
            <a:r>
              <a:rPr lang="en-US" sz="1792">
                <a:solidFill>
                  <a:srgbClr val="292929"/>
                </a:solidFill>
                <a:latin typeface="Arial"/>
                <a:ea typeface="Arial"/>
                <a:cs typeface="Arial"/>
                <a:sym typeface="Arial"/>
              </a:rPr>
              <a:t>consistently successful outcomes.</a:t>
            </a:r>
            <a:endParaRPr sz="1792">
              <a:solidFill>
                <a:srgbClr val="292929"/>
              </a:solidFill>
              <a:latin typeface="Arial"/>
              <a:ea typeface="Arial"/>
              <a:cs typeface="Arial"/>
              <a:sym typeface="Arial"/>
            </a:endParaRPr>
          </a:p>
          <a:p>
            <a:pPr indent="-342385" lvl="0" marL="457200" rtl="0" algn="l">
              <a:lnSpc>
                <a:spcPct val="115000"/>
              </a:lnSpc>
              <a:spcBef>
                <a:spcPts val="0"/>
              </a:spcBef>
              <a:spcAft>
                <a:spcPts val="0"/>
              </a:spcAft>
              <a:buClr>
                <a:srgbClr val="292929"/>
              </a:buClr>
              <a:buSzPts val="1792"/>
              <a:buFont typeface="Arial"/>
              <a:buChar char="•"/>
            </a:pPr>
            <a:r>
              <a:rPr lang="en-US" sz="1792">
                <a:solidFill>
                  <a:srgbClr val="292929"/>
                </a:solidFill>
                <a:latin typeface="Arial"/>
                <a:ea typeface="Arial"/>
                <a:cs typeface="Arial"/>
                <a:sym typeface="Arial"/>
              </a:rPr>
              <a:t>Launch site was a highly predictive factor, with KSC LC-39A being a top performer, closely</a:t>
            </a:r>
            <a:endParaRPr sz="1792">
              <a:solidFill>
                <a:srgbClr val="292929"/>
              </a:solidFill>
              <a:latin typeface="Arial"/>
              <a:ea typeface="Arial"/>
              <a:cs typeface="Arial"/>
              <a:sym typeface="Arial"/>
            </a:endParaRPr>
          </a:p>
          <a:p>
            <a:pPr indent="0" lvl="0" marL="457200" rtl="0" algn="l">
              <a:lnSpc>
                <a:spcPct val="115000"/>
              </a:lnSpc>
              <a:spcBef>
                <a:spcPts val="0"/>
              </a:spcBef>
              <a:spcAft>
                <a:spcPts val="0"/>
              </a:spcAft>
              <a:buNone/>
            </a:pPr>
            <a:r>
              <a:rPr lang="en-US" sz="1792">
                <a:solidFill>
                  <a:srgbClr val="292929"/>
                </a:solidFill>
                <a:latin typeface="Arial"/>
                <a:ea typeface="Arial"/>
                <a:cs typeface="Arial"/>
                <a:sym typeface="Arial"/>
              </a:rPr>
              <a:t>followed by CCAFS LC-40.</a:t>
            </a:r>
            <a:endParaRPr sz="1792">
              <a:solidFill>
                <a:srgbClr val="292929"/>
              </a:solidFill>
              <a:latin typeface="Arial"/>
              <a:ea typeface="Arial"/>
              <a:cs typeface="Arial"/>
              <a:sym typeface="Arial"/>
            </a:endParaRPr>
          </a:p>
          <a:p>
            <a:pPr indent="-342385" lvl="0" marL="457200" rtl="0" algn="l">
              <a:lnSpc>
                <a:spcPct val="115000"/>
              </a:lnSpc>
              <a:spcBef>
                <a:spcPts val="0"/>
              </a:spcBef>
              <a:spcAft>
                <a:spcPts val="0"/>
              </a:spcAft>
              <a:buClr>
                <a:srgbClr val="292929"/>
              </a:buClr>
              <a:buSzPts val="1792"/>
              <a:buFont typeface="Arial"/>
              <a:buChar char="•"/>
            </a:pPr>
            <a:r>
              <a:rPr lang="en-US" sz="1792">
                <a:solidFill>
                  <a:srgbClr val="292929"/>
                </a:solidFill>
                <a:latin typeface="Arial"/>
                <a:ea typeface="Arial"/>
                <a:cs typeface="Arial"/>
                <a:sym typeface="Arial"/>
              </a:rPr>
              <a:t>Many of the predictive models evaluated were able to predict landing outcome with an acceptable level of accuracy. In the testing performed, DecisionTreeClassifier produced best results with high accuracy, precision, and recall.</a:t>
            </a:r>
            <a:endParaRPr sz="1792">
              <a:solidFill>
                <a:srgbClr val="292929"/>
              </a:solidFill>
              <a:latin typeface="Arial"/>
              <a:ea typeface="Arial"/>
              <a:cs typeface="Arial"/>
              <a:sym typeface="Arial"/>
            </a:endParaRPr>
          </a:p>
          <a:p>
            <a:pPr indent="0" lvl="0" marL="228600" rtl="0" algn="l">
              <a:lnSpc>
                <a:spcPct val="100000"/>
              </a:lnSpc>
              <a:spcBef>
                <a:spcPts val="1400"/>
              </a:spcBef>
              <a:spcAft>
                <a:spcPts val="0"/>
              </a:spcAft>
              <a:buNone/>
            </a:pPr>
            <a:r>
              <a:t/>
            </a:r>
            <a:endParaRPr sz="2200">
              <a:solidFill>
                <a:srgbClr val="292929"/>
              </a:solidFill>
              <a:latin typeface="Arial"/>
              <a:ea typeface="Arial"/>
              <a:cs typeface="Arial"/>
              <a:sym typeface="Arial"/>
            </a:endParaRPr>
          </a:p>
        </p:txBody>
      </p:sp>
      <p:sp>
        <p:nvSpPr>
          <p:cNvPr id="422" name="Google Shape;422;p59"/>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Conclusions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6" name="Shape 426"/>
        <p:cNvGrpSpPr/>
        <p:nvPr/>
      </p:nvGrpSpPr>
      <p:grpSpPr>
        <a:xfrm>
          <a:off x="0" y="0"/>
          <a:ext cx="0" cy="0"/>
          <a:chOff x="0" y="0"/>
          <a:chExt cx="0" cy="0"/>
        </a:xfrm>
      </p:grpSpPr>
      <p:sp>
        <p:nvSpPr>
          <p:cNvPr id="427" name="Google Shape;427;p60"/>
          <p:cNvSpPr txBox="1"/>
          <p:nvPr>
            <p:ph idx="4294967295" type="sldNum"/>
          </p:nvPr>
        </p:nvSpPr>
        <p:spPr>
          <a:xfrm>
            <a:off x="11127811" y="6060022"/>
            <a:ext cx="330161" cy="332741"/>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1C7DDB"/>
              </a:buClr>
              <a:buSzPts val="1600"/>
              <a:buFont typeface="Arial"/>
              <a:buNone/>
            </a:pPr>
            <a:fld id="{00000000-1234-1234-1234-123412341234}" type="slidenum">
              <a:rPr lang="en-US" sz="1600">
                <a:solidFill>
                  <a:srgbClr val="1C7DDB"/>
                </a:solidFill>
                <a:latin typeface="Arial"/>
                <a:ea typeface="Arial"/>
                <a:cs typeface="Arial"/>
                <a:sym typeface="Arial"/>
              </a:rPr>
              <a:t>‹#›</a:t>
            </a:fld>
            <a:endParaRPr/>
          </a:p>
        </p:txBody>
      </p:sp>
      <p:sp>
        <p:nvSpPr>
          <p:cNvPr id="428" name="Google Shape;428;p60"/>
          <p:cNvSpPr txBox="1"/>
          <p:nvPr>
            <p:ph idx="4294967295" type="body"/>
          </p:nvPr>
        </p:nvSpPr>
        <p:spPr>
          <a:xfrm>
            <a:off x="770000" y="1458799"/>
            <a:ext cx="10562100" cy="4752000"/>
          </a:xfrm>
          <a:prstGeom prst="rect">
            <a:avLst/>
          </a:prstGeom>
          <a:noFill/>
          <a:ln>
            <a:noFill/>
          </a:ln>
        </p:spPr>
        <p:txBody>
          <a:bodyPr anchorCtr="0" anchor="t" bIns="45700" lIns="45700" spcFirstLastPara="1" rIns="45700" wrap="square" tIns="45700">
            <a:normAutofit/>
          </a:bodyPr>
          <a:lstStyle/>
          <a:p>
            <a:pPr indent="-330200" lvl="0" marL="457200" marR="0" rtl="0" algn="l">
              <a:lnSpc>
                <a:spcPct val="100000"/>
              </a:lnSpc>
              <a:spcBef>
                <a:spcPts val="0"/>
              </a:spcBef>
              <a:spcAft>
                <a:spcPts val="0"/>
              </a:spcAft>
              <a:buClr>
                <a:srgbClr val="292929"/>
              </a:buClr>
              <a:buSzPts val="1600"/>
              <a:buFont typeface="Arial"/>
              <a:buChar char="●"/>
            </a:pPr>
            <a:r>
              <a:rPr lang="en-US" sz="1600">
                <a:solidFill>
                  <a:srgbClr val="292929"/>
                </a:solidFill>
                <a:latin typeface="Arial"/>
                <a:ea typeface="Arial"/>
                <a:cs typeface="Arial"/>
                <a:sym typeface="Arial"/>
              </a:rPr>
              <a:t>Data Sources</a:t>
            </a:r>
            <a:endParaRPr sz="1600">
              <a:solidFill>
                <a:srgbClr val="292929"/>
              </a:solidFill>
              <a:latin typeface="Arial"/>
              <a:ea typeface="Arial"/>
              <a:cs typeface="Arial"/>
              <a:sym typeface="Arial"/>
            </a:endParaRPr>
          </a:p>
          <a:p>
            <a:pPr indent="-317500" lvl="1" marL="914400" marR="0" rtl="0" algn="l">
              <a:lnSpc>
                <a:spcPct val="100000"/>
              </a:lnSpc>
              <a:spcBef>
                <a:spcPts val="0"/>
              </a:spcBef>
              <a:spcAft>
                <a:spcPts val="0"/>
              </a:spcAft>
              <a:buClr>
                <a:srgbClr val="292929"/>
              </a:buClr>
              <a:buSzPts val="1400"/>
              <a:buFont typeface="Arial"/>
              <a:buChar char="○"/>
            </a:pPr>
            <a:r>
              <a:rPr lang="en-US" sz="1400" u="sng">
                <a:solidFill>
                  <a:schemeClr val="hlink"/>
                </a:solidFill>
                <a:latin typeface="Arial"/>
                <a:ea typeface="Arial"/>
                <a:cs typeface="Arial"/>
                <a:sym typeface="Arial"/>
                <a:hlinkClick r:id="rId4"/>
              </a:rPr>
              <a:t>SpaceX API </a:t>
            </a:r>
            <a:r>
              <a:rPr lang="en-US" sz="1400">
                <a:solidFill>
                  <a:srgbClr val="292929"/>
                </a:solidFill>
                <a:latin typeface="Arial"/>
                <a:ea typeface="Arial"/>
                <a:cs typeface="Arial"/>
                <a:sym typeface="Arial"/>
              </a:rPr>
              <a:t>: </a:t>
            </a:r>
            <a:r>
              <a:rPr lang="en-US" sz="1400" u="sng">
                <a:solidFill>
                  <a:schemeClr val="hlink"/>
                </a:solidFill>
                <a:latin typeface="Arial"/>
                <a:ea typeface="Arial"/>
                <a:cs typeface="Arial"/>
                <a:sym typeface="Arial"/>
                <a:hlinkClick r:id="rId5"/>
              </a:rPr>
              <a:t>dataset_part_1.csv</a:t>
            </a:r>
            <a:endParaRPr sz="1400">
              <a:solidFill>
                <a:srgbClr val="292929"/>
              </a:solidFill>
              <a:latin typeface="Arial"/>
              <a:ea typeface="Arial"/>
              <a:cs typeface="Arial"/>
              <a:sym typeface="Arial"/>
            </a:endParaRPr>
          </a:p>
          <a:p>
            <a:pPr indent="-317500" lvl="1" marL="914400" marR="0" rtl="0" algn="l">
              <a:lnSpc>
                <a:spcPct val="100000"/>
              </a:lnSpc>
              <a:spcBef>
                <a:spcPts val="0"/>
              </a:spcBef>
              <a:spcAft>
                <a:spcPts val="0"/>
              </a:spcAft>
              <a:buClr>
                <a:srgbClr val="292929"/>
              </a:buClr>
              <a:buSzPts val="1400"/>
              <a:buFont typeface="Arial"/>
              <a:buChar char="○"/>
            </a:pPr>
            <a:r>
              <a:rPr lang="en-US" sz="1400" u="sng">
                <a:solidFill>
                  <a:schemeClr val="hlink"/>
                </a:solidFill>
                <a:latin typeface="Arial"/>
                <a:ea typeface="Arial"/>
                <a:cs typeface="Arial"/>
                <a:sym typeface="Arial"/>
                <a:hlinkClick r:id="rId6"/>
              </a:rPr>
              <a:t>Wikipedia: List of Falcon 9 and Falcon Heavy launches (June 2021)</a:t>
            </a:r>
            <a:endParaRPr sz="1400">
              <a:solidFill>
                <a:srgbClr val="292929"/>
              </a:solidFill>
              <a:latin typeface="Arial"/>
              <a:ea typeface="Arial"/>
              <a:cs typeface="Arial"/>
              <a:sym typeface="Arial"/>
            </a:endParaRPr>
          </a:p>
          <a:p>
            <a:pPr indent="-317500" lvl="1" marL="914400" marR="0" rtl="0" algn="l">
              <a:lnSpc>
                <a:spcPct val="100000"/>
              </a:lnSpc>
              <a:spcBef>
                <a:spcPts val="0"/>
              </a:spcBef>
              <a:spcAft>
                <a:spcPts val="0"/>
              </a:spcAft>
              <a:buClr>
                <a:srgbClr val="292929"/>
              </a:buClr>
              <a:buSzPts val="1400"/>
              <a:buFont typeface="Arial"/>
              <a:buChar char="○"/>
            </a:pPr>
            <a:r>
              <a:rPr lang="en-US" sz="1400">
                <a:solidFill>
                  <a:srgbClr val="292929"/>
                </a:solidFill>
                <a:latin typeface="Arial"/>
                <a:ea typeface="Arial"/>
                <a:cs typeface="Arial"/>
                <a:sym typeface="Arial"/>
              </a:rPr>
              <a:t>Data after wrangling: </a:t>
            </a:r>
            <a:r>
              <a:rPr lang="en-US" sz="1400" u="sng">
                <a:solidFill>
                  <a:schemeClr val="hlink"/>
                </a:solidFill>
                <a:latin typeface="Arial"/>
                <a:ea typeface="Arial"/>
                <a:cs typeface="Arial"/>
                <a:sym typeface="Arial"/>
                <a:hlinkClick r:id="rId7"/>
              </a:rPr>
              <a:t>dataset_part_2.csv</a:t>
            </a:r>
            <a:endParaRPr sz="1400">
              <a:solidFill>
                <a:srgbClr val="292929"/>
              </a:solidFill>
              <a:latin typeface="Arial"/>
              <a:ea typeface="Arial"/>
              <a:cs typeface="Arial"/>
              <a:sym typeface="Arial"/>
            </a:endParaRPr>
          </a:p>
          <a:p>
            <a:pPr indent="-317500" lvl="1" marL="914400" marR="0" rtl="0" algn="l">
              <a:lnSpc>
                <a:spcPct val="100000"/>
              </a:lnSpc>
              <a:spcBef>
                <a:spcPts val="0"/>
              </a:spcBef>
              <a:spcAft>
                <a:spcPts val="0"/>
              </a:spcAft>
              <a:buClr>
                <a:srgbClr val="292929"/>
              </a:buClr>
              <a:buSzPts val="1400"/>
              <a:buFont typeface="Arial"/>
              <a:buChar char="○"/>
            </a:pPr>
            <a:r>
              <a:rPr lang="en-US" sz="1400">
                <a:solidFill>
                  <a:srgbClr val="292929"/>
                </a:solidFill>
                <a:latin typeface="Arial"/>
                <a:ea typeface="Arial"/>
                <a:cs typeface="Arial"/>
                <a:sym typeface="Arial"/>
              </a:rPr>
              <a:t>Geographical data: </a:t>
            </a:r>
            <a:r>
              <a:rPr lang="en-US" sz="1400" u="sng">
                <a:solidFill>
                  <a:schemeClr val="hlink"/>
                </a:solidFill>
                <a:latin typeface="Arial"/>
                <a:ea typeface="Arial"/>
                <a:cs typeface="Arial"/>
                <a:sym typeface="Arial"/>
                <a:hlinkClick r:id="rId8"/>
              </a:rPr>
              <a:t>spacex_launch_geo.csv</a:t>
            </a:r>
            <a:endParaRPr sz="1400">
              <a:solidFill>
                <a:srgbClr val="292929"/>
              </a:solidFill>
              <a:latin typeface="Arial"/>
              <a:ea typeface="Arial"/>
              <a:cs typeface="Arial"/>
              <a:sym typeface="Arial"/>
            </a:endParaRPr>
          </a:p>
          <a:p>
            <a:pPr indent="-317500" lvl="1" marL="914400" marR="0" rtl="0" algn="l">
              <a:lnSpc>
                <a:spcPct val="100000"/>
              </a:lnSpc>
              <a:spcBef>
                <a:spcPts val="0"/>
              </a:spcBef>
              <a:spcAft>
                <a:spcPts val="0"/>
              </a:spcAft>
              <a:buClr>
                <a:srgbClr val="292929"/>
              </a:buClr>
              <a:buSzPts val="1400"/>
              <a:buFont typeface="Arial"/>
              <a:buChar char="○"/>
            </a:pPr>
            <a:r>
              <a:rPr lang="en-US" sz="1400">
                <a:solidFill>
                  <a:srgbClr val="292929"/>
                </a:solidFill>
                <a:latin typeface="Arial"/>
                <a:ea typeface="Arial"/>
                <a:cs typeface="Arial"/>
                <a:sym typeface="Arial"/>
              </a:rPr>
              <a:t>Interactive data source: </a:t>
            </a:r>
            <a:r>
              <a:rPr lang="en-US" sz="1400" u="sng">
                <a:solidFill>
                  <a:schemeClr val="hlink"/>
                </a:solidFill>
                <a:latin typeface="Arial"/>
                <a:ea typeface="Arial"/>
                <a:cs typeface="Arial"/>
                <a:sym typeface="Arial"/>
                <a:hlinkClick r:id="rId9"/>
              </a:rPr>
              <a:t>space_launch_dash.csv</a:t>
            </a:r>
            <a:endParaRPr sz="1400">
              <a:solidFill>
                <a:srgbClr val="292929"/>
              </a:solidFill>
              <a:latin typeface="Arial"/>
              <a:ea typeface="Arial"/>
              <a:cs typeface="Arial"/>
              <a:sym typeface="Arial"/>
            </a:endParaRPr>
          </a:p>
          <a:p>
            <a:pPr indent="0" lvl="0" marL="0" marR="0" rtl="0" algn="l">
              <a:lnSpc>
                <a:spcPct val="100000"/>
              </a:lnSpc>
              <a:spcBef>
                <a:spcPts val="0"/>
              </a:spcBef>
              <a:spcAft>
                <a:spcPts val="0"/>
              </a:spcAft>
              <a:buNone/>
            </a:pPr>
            <a:r>
              <a:t/>
            </a:r>
            <a:endParaRPr sz="1400">
              <a:solidFill>
                <a:srgbClr val="292929"/>
              </a:solidFill>
              <a:latin typeface="Arial"/>
              <a:ea typeface="Arial"/>
              <a:cs typeface="Arial"/>
              <a:sym typeface="Arial"/>
            </a:endParaRPr>
          </a:p>
        </p:txBody>
      </p:sp>
      <p:sp>
        <p:nvSpPr>
          <p:cNvPr id="429" name="Google Shape;429;p60"/>
          <p:cNvSpPr txBox="1"/>
          <p:nvPr/>
        </p:nvSpPr>
        <p:spPr>
          <a:xfrm>
            <a:off x="815731" y="538650"/>
            <a:ext cx="10424160" cy="549050"/>
          </a:xfrm>
          <a:prstGeom prst="rect">
            <a:avLst/>
          </a:prstGeom>
          <a:noFill/>
          <a:ln>
            <a:noFill/>
          </a:ln>
        </p:spPr>
        <p:txBody>
          <a:bodyPr anchorCtr="0" anchor="ctr" bIns="45700" lIns="45700" spcFirstLastPara="1" rIns="45700" wrap="square" tIns="45700">
            <a:normAutofit/>
          </a:bodyPr>
          <a:lstStyle/>
          <a:p>
            <a:pPr indent="0" lvl="0" marL="0" marR="0" rtl="0" algn="l">
              <a:lnSpc>
                <a:spcPct val="72000"/>
              </a:lnSpc>
              <a:spcBef>
                <a:spcPts val="0"/>
              </a:spcBef>
              <a:spcAft>
                <a:spcPts val="0"/>
              </a:spcAft>
              <a:buClr>
                <a:srgbClr val="0B49CB"/>
              </a:buClr>
              <a:buSzPts val="3034"/>
              <a:buFont typeface="Arial"/>
              <a:buNone/>
            </a:pPr>
            <a:r>
              <a:rPr b="0" i="0" lang="en-US" sz="3034" u="none" cap="none" strike="noStrike">
                <a:solidFill>
                  <a:srgbClr val="0B49CB"/>
                </a:solidFill>
                <a:latin typeface="Arial"/>
                <a:ea typeface="Arial"/>
                <a:cs typeface="Arial"/>
                <a:sym typeface="Arial"/>
              </a:rPr>
              <a:t>Appendix</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3" name="Shape 433"/>
        <p:cNvGrpSpPr/>
        <p:nvPr/>
      </p:nvGrpSpPr>
      <p:grpSpPr>
        <a:xfrm>
          <a:off x="0" y="0"/>
          <a:ext cx="0" cy="0"/>
          <a:chOff x="0" y="0"/>
          <a:chExt cx="0" cy="0"/>
        </a:xfrm>
      </p:grpSpPr>
    </p:spTree>
  </p:cSld>
  <p:clrMapOvr>
    <a:masterClrMapping/>
  </p:clrMapOvr>
  <mc:AlternateContent>
    <mc:Choice Requires="p14">
      <p:transition spd="slow" p14:dur="1200">
        <p:push/>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Custom Design">
  <a:themeElements>
    <a:clrScheme name="Custom Design">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Custom Design">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